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8" roundtripDataSignature="AMtx7mhGJGVv5SWkbIUj//SNZAvddP7/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schemas.openxmlformats.org/officeDocument/2006/relationships/slide" Target="slides/slide33.xml"/><Relationship Id="rId14" Type="http://schemas.openxmlformats.org/officeDocument/2006/relationships/slide" Target="slides/slide10.xml"/><Relationship Id="rId36" Type="http://schemas.openxmlformats.org/officeDocument/2006/relationships/slide" Target="slides/slide32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38" Type="http://customschemas.google.com/relationships/presentationmetadata" Target="meta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ba7baafcd5_0_3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g3ba7baafcd5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ba7baafcd5_0_1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g3ba7baafcd5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a7baafcd5_0_15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g3ba7baafcd5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a7baafcd5_0_15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g3ba7baafcd5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Have students introduce themselves, then TAs, and then instructor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a7baafcd5_0_18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g3ba7baafcd5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a7baafcd5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ba7baafcd5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a7baafcd5_0_9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ba7baafcd5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a7baafcd5_0_10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ba7baafcd5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ba7baafcd5_0_10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g3ba7baafcd5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a7baafcd5_0_13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a7baafcd5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a7baafcd5_0_18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a7baafcd5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a7baafcd5_0_16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ba7baafcd5_0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a7baafcd5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g3ba7baafcd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a79990f52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ba79990f52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a7baafcd5_0_21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a7baafcd5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a7baafcd5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a7baafcd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a7baafcd5_0_23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a7baafcd5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a7baafcd5_0_25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a7baafcd5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a7baafcd5_0_2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a7baafcd5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a7baafcd5_0_22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ba7baafcd5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a7baafcd5_0_22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ba7baafcd5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a7baafcd5_0_1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a7baafcd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a7baafcd5_0_1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a7baafcd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a7baafcd5_0_29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ba7baafcd5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a7baafcd5_0_20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ba7baafcd5_0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ba7baafcd5_0_28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ba7baafcd5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ba79990f52_0_2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g3ba79990f52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ba79990f52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g3ba79990f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ba79990f52_0_3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g3ba79990f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ba7baafcd5_0_26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ba7baafcd5_0_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ba7baafcd5_0_27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ba7baafcd5_0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18.png"/><Relationship Id="rId7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Relationship Id="rId4" Type="http://schemas.openxmlformats.org/officeDocument/2006/relationships/image" Target="../media/image2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olab.research.google.com/drive/1VMJkbttGNFSkiicSbkQIubKsAlOx_r5A?usp=sharing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Text as Data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ba7baafcd5_0_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Survey Results</a:t>
            </a:r>
            <a:endParaRPr/>
          </a:p>
        </p:txBody>
      </p:sp>
      <p:sp>
        <p:nvSpPr>
          <p:cNvPr id="40" name="Google Shape;40;g3ba7baafcd5_0_34"/>
          <p:cNvSpPr txBox="1"/>
          <p:nvPr>
            <p:ph idx="1" type="body"/>
          </p:nvPr>
        </p:nvSpPr>
        <p:spPr>
          <a:xfrm>
            <a:off x="457200" y="5030075"/>
            <a:ext cx="8229600" cy="16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600"/>
              </a:spcBef>
              <a:spcAft>
                <a:spcPts val="0"/>
              </a:spcAft>
              <a:buClr>
                <a:srgbClr val="465510"/>
              </a:buClr>
              <a:buSzPts val="2400"/>
              <a:buChar char="●"/>
            </a:pPr>
            <a:r>
              <a:rPr b="1" lang="en" sz="2400">
                <a:solidFill>
                  <a:srgbClr val="465510"/>
                </a:solidFill>
              </a:rPr>
              <a:t>For those of you new to programming, be humble enough to ask questions!</a:t>
            </a:r>
            <a:endParaRPr b="1" sz="2400">
              <a:solidFill>
                <a:srgbClr val="465510"/>
              </a:solidFill>
            </a:endParaRPr>
          </a:p>
          <a:p>
            <a:pPr indent="-381000" lvl="0" marL="457200" rtl="0" algn="l">
              <a:spcBef>
                <a:spcPts val="1000"/>
              </a:spcBef>
              <a:spcAft>
                <a:spcPts val="1000"/>
              </a:spcAft>
              <a:buSzPts val="2400"/>
              <a:buChar char="●"/>
            </a:pPr>
            <a:r>
              <a:rPr lang="en" sz="2400"/>
              <a:t>For those of you that are coding prodigies, think and ask about the algorithms! </a:t>
            </a:r>
            <a:endParaRPr sz="2400"/>
          </a:p>
        </p:txBody>
      </p:sp>
      <p:pic>
        <p:nvPicPr>
          <p:cNvPr id="41" name="Google Shape;41;g3ba7baafcd5_0_34" title="Screenshot 2026-01-15 at 8.13.0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508913"/>
            <a:ext cx="8229601" cy="34298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</a:t>
            </a:r>
            <a:endParaRPr/>
          </a:p>
        </p:txBody>
      </p:sp>
      <p:pic>
        <p:nvPicPr>
          <p:cNvPr id="47" name="Google Shape;47;g3ba79990f52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113" y="2286000"/>
            <a:ext cx="8105775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g3ba79990f52_0_5"/>
          <p:cNvSpPr txBox="1"/>
          <p:nvPr/>
        </p:nvSpPr>
        <p:spPr>
          <a:xfrm>
            <a:off x="793750" y="5254625"/>
            <a:ext cx="7746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002B5B"/>
                </a:solidFill>
              </a:rPr>
              <a:t>Markov Babbler</a:t>
            </a:r>
            <a:endParaRPr b="1" sz="3600">
              <a:solidFill>
                <a:srgbClr val="002B5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ba7baafcd5_0_1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002B5B"/>
                </a:solidFill>
              </a:rPr>
              <a:t>Introduction to Markov Processes</a:t>
            </a:r>
            <a:endParaRPr>
              <a:solidFill>
                <a:srgbClr val="002B5B"/>
              </a:solidFill>
            </a:endParaRPr>
          </a:p>
        </p:txBody>
      </p:sp>
      <p:sp>
        <p:nvSpPr>
          <p:cNvPr id="54" name="Google Shape;54;g3ba7baafcd5_0_14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systematic method for </a:t>
            </a:r>
            <a:r>
              <a:rPr b="1" lang="en">
                <a:solidFill>
                  <a:srgbClr val="002B5B"/>
                </a:solidFill>
              </a:rPr>
              <a:t>generating a sequence of random variables</a:t>
            </a:r>
            <a:r>
              <a:rPr lang="en"/>
              <a:t> where the current value is probabilistically dependent on the value of the prior variable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Specifically, </a:t>
            </a:r>
            <a:r>
              <a:rPr b="1" lang="en">
                <a:solidFill>
                  <a:srgbClr val="DCB439"/>
                </a:solidFill>
              </a:rPr>
              <a:t>selecting the next variable is dependent upon</a:t>
            </a:r>
            <a:r>
              <a:rPr lang="en"/>
              <a:t> _______________________</a:t>
            </a:r>
            <a:endParaRPr/>
          </a:p>
        </p:txBody>
      </p:sp>
      <p:pic>
        <p:nvPicPr>
          <p:cNvPr id="55" name="Google Shape;55;g3ba7baafcd5_0_144"/>
          <p:cNvPicPr preferRelativeResize="0"/>
          <p:nvPr/>
        </p:nvPicPr>
        <p:blipFill rotWithShape="1">
          <a:blip r:embed="rId3">
            <a:alphaModFix/>
          </a:blip>
          <a:srcRect b="38978" l="0" r="0" t="39794"/>
          <a:stretch/>
        </p:blipFill>
        <p:spPr>
          <a:xfrm>
            <a:off x="1143000" y="4320050"/>
            <a:ext cx="6858000" cy="7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a7baafcd5_0_15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002B5B"/>
                </a:solidFill>
              </a:rPr>
              <a:t>Markovian Terms</a:t>
            </a:r>
            <a:endParaRPr>
              <a:solidFill>
                <a:srgbClr val="002B5B"/>
              </a:solidFill>
            </a:endParaRPr>
          </a:p>
        </p:txBody>
      </p:sp>
      <p:sp>
        <p:nvSpPr>
          <p:cNvPr id="61" name="Google Shape;61;g3ba7baafcd5_0_15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The </a:t>
            </a:r>
            <a:r>
              <a:rPr b="1" lang="en">
                <a:solidFill>
                  <a:srgbClr val="002B5B"/>
                </a:solidFill>
              </a:rPr>
              <a:t>changes of state</a:t>
            </a:r>
            <a:r>
              <a:rPr lang="en"/>
              <a:t> of the system are called ____________ and the probabilities associated are called _______________________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The </a:t>
            </a:r>
            <a:r>
              <a:rPr b="1" lang="en">
                <a:solidFill>
                  <a:srgbClr val="002B5B"/>
                </a:solidFill>
              </a:rPr>
              <a:t>process is characterized by</a:t>
            </a:r>
            <a:r>
              <a:rPr lang="en"/>
              <a:t>:</a:t>
            </a:r>
            <a:endParaRPr/>
          </a:p>
          <a:p>
            <a:pPr indent="-4191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AutoNum type="arabicPeriod"/>
            </a:pPr>
            <a:r>
              <a:rPr lang="en"/>
              <a:t>_____________________</a:t>
            </a:r>
            <a:r>
              <a:rPr lang="en" u="sng"/>
              <a:t> </a:t>
            </a:r>
            <a:endParaRPr u="sng"/>
          </a:p>
          <a:p>
            <a:pPr indent="-4191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000"/>
              <a:buAutoNum type="arabicPeriod"/>
            </a:pPr>
            <a:r>
              <a:rPr lang="en"/>
              <a:t>_____________________</a:t>
            </a:r>
            <a:endParaRPr u="sng"/>
          </a:p>
          <a:p>
            <a:pPr indent="-4191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3000"/>
              <a:buAutoNum type="arabicPeriod"/>
            </a:pPr>
            <a:r>
              <a:rPr lang="en"/>
              <a:t>_____________________</a:t>
            </a:r>
            <a:endParaRPr u="sng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a7baafcd5_0_15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Markov Chains</a:t>
            </a:r>
            <a:endParaRPr i="1">
              <a:solidFill>
                <a:srgbClr val="DCB439"/>
              </a:solidFill>
            </a:endParaRPr>
          </a:p>
        </p:txBody>
      </p:sp>
      <p:sp>
        <p:nvSpPr>
          <p:cNvPr id="67" name="Google Shape;67;g3ba7baafcd5_0_15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a7baafcd5_0_18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Markov Babbler</a:t>
            </a:r>
            <a:endParaRPr/>
          </a:p>
        </p:txBody>
      </p:sp>
      <p:sp>
        <p:nvSpPr>
          <p:cNvPr id="73" name="Google Shape;73;g3ba7baafcd5_0_189"/>
          <p:cNvSpPr txBox="1"/>
          <p:nvPr>
            <p:ph idx="1" type="body"/>
          </p:nvPr>
        </p:nvSpPr>
        <p:spPr>
          <a:xfrm>
            <a:off x="457200" y="1600200"/>
            <a:ext cx="8229600" cy="5634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2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“&lt;SOS&gt; And yet I got ganked while questing. &lt;EOS&gt;”</a:t>
            </a:r>
            <a:endParaRPr b="1" sz="2200">
              <a:solidFill>
                <a:srgbClr val="98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4" name="Google Shape;74;g3ba7baafcd5_0_1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100" y="2346150"/>
            <a:ext cx="8105775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ba7baafcd5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our Graph</a:t>
            </a:r>
            <a:endParaRPr/>
          </a:p>
        </p:txBody>
      </p:sp>
      <p:sp>
        <p:nvSpPr>
          <p:cNvPr id="80" name="Google Shape;80;g3ba7baafcd5_0_84"/>
          <p:cNvSpPr txBox="1"/>
          <p:nvPr>
            <p:ph idx="1" type="body"/>
          </p:nvPr>
        </p:nvSpPr>
        <p:spPr>
          <a:xfrm>
            <a:off x="457200" y="1789900"/>
            <a:ext cx="3297600" cy="4778100"/>
          </a:xfrm>
          <a:prstGeom prst="rect">
            <a:avLst/>
          </a:prstGeom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" name="Google Shape;81;g3ba7baafcd5_0_84"/>
          <p:cNvSpPr txBox="1"/>
          <p:nvPr/>
        </p:nvSpPr>
        <p:spPr>
          <a:xfrm>
            <a:off x="1468800" y="1469225"/>
            <a:ext cx="22860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sz="18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" name="Google Shape;82;g3ba7baafcd5_0_84"/>
          <p:cNvSpPr/>
          <p:nvPr/>
        </p:nvSpPr>
        <p:spPr>
          <a:xfrm>
            <a:off x="457200" y="1417638"/>
            <a:ext cx="3297600" cy="372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3" name="Google Shape;83;g3ba7baafcd5_0_84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6475" y="1449688"/>
            <a:ext cx="259514" cy="30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a7baafcd5_0_92"/>
          <p:cNvSpPr/>
          <p:nvPr/>
        </p:nvSpPr>
        <p:spPr>
          <a:xfrm>
            <a:off x="457200" y="1417638"/>
            <a:ext cx="3297600" cy="372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ba7baafcd5_0_9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our Graph</a:t>
            </a:r>
            <a:endParaRPr/>
          </a:p>
        </p:txBody>
      </p:sp>
      <p:sp>
        <p:nvSpPr>
          <p:cNvPr id="90" name="Google Shape;90;g3ba7baafcd5_0_92"/>
          <p:cNvSpPr txBox="1"/>
          <p:nvPr>
            <p:ph idx="1" type="body"/>
          </p:nvPr>
        </p:nvSpPr>
        <p:spPr>
          <a:xfrm>
            <a:off x="457200" y="1789900"/>
            <a:ext cx="3297600" cy="4778100"/>
          </a:xfrm>
          <a:prstGeom prst="rect">
            <a:avLst/>
          </a:prstGeom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From fairest creatures we desire increase,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That thereby beauty's rose might never die,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But as the riper should by time decease,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His tender heir might bear his memory: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But thou contracted to thine own bright eyes,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Feed'st thy light's flame with self-substantial fuel,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Making a famine where abundance lies,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Thy self thy foe, to thy sweet self too cruel: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" name="Google Shape;91;g3ba7baafcd5_0_92"/>
          <p:cNvSpPr txBox="1"/>
          <p:nvPr/>
        </p:nvSpPr>
        <p:spPr>
          <a:xfrm>
            <a:off x="1468800" y="1469225"/>
            <a:ext cx="22860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shakespeare</a:t>
            </a: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.txt</a:t>
            </a:r>
            <a:endParaRPr b="1" sz="18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92" name="Google Shape;92;g3ba7baafcd5_0_92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6475" y="1449688"/>
            <a:ext cx="259514" cy="30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a7baafcd5_0_10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Differences</a:t>
            </a:r>
            <a:endParaRPr/>
          </a:p>
        </p:txBody>
      </p:sp>
      <p:sp>
        <p:nvSpPr>
          <p:cNvPr id="98" name="Google Shape;98;g3ba7baafcd5_0_10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a7baafcd5_0_10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002B5B"/>
                </a:solidFill>
              </a:rPr>
              <a:t>Statistical Distributions</a:t>
            </a:r>
            <a:endParaRPr>
              <a:solidFill>
                <a:srgbClr val="002B5B"/>
              </a:solidFill>
            </a:endParaRPr>
          </a:p>
        </p:txBody>
      </p:sp>
      <p:sp>
        <p:nvSpPr>
          <p:cNvPr id="104" name="Google Shape;104;g3ba7baafcd5_0_10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002B5B"/>
                </a:solidFill>
              </a:rPr>
              <a:t>statistical distribution</a:t>
            </a:r>
            <a:r>
              <a:rPr lang="en"/>
              <a:t> describes the ______________________________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One way you can think about what </a:t>
            </a:r>
            <a:r>
              <a:rPr b="1" lang="en">
                <a:solidFill>
                  <a:srgbClr val="465510"/>
                </a:solidFill>
              </a:rPr>
              <a:t>AI is</a:t>
            </a:r>
            <a:r>
              <a:rPr lang="en"/>
              <a:t> doing is it’s </a:t>
            </a:r>
            <a:r>
              <a:rPr b="1" lang="en">
                <a:solidFill>
                  <a:srgbClr val="465510"/>
                </a:solidFill>
              </a:rPr>
              <a:t>trying to</a:t>
            </a:r>
            <a:r>
              <a:rPr lang="en"/>
              <a:t> </a:t>
            </a:r>
            <a:r>
              <a:rPr b="1" lang="en">
                <a:solidFill>
                  <a:srgbClr val="465510"/>
                </a:solidFill>
              </a:rPr>
              <a:t>learn distributions</a:t>
            </a:r>
            <a:endParaRPr b="1">
              <a:solidFill>
                <a:srgbClr val="46551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a7baafcd5_0_1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r>
              <a:rPr lang="en" sz="3000"/>
              <a:t> vs.     </a:t>
            </a:r>
            <a:r>
              <a:rPr lang="en" sz="30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shakespeare.txt</a:t>
            </a:r>
            <a:endParaRPr sz="30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10" name="Google Shape;110;g3ba7baafcd5_0_136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0725" y="438628"/>
            <a:ext cx="333100" cy="39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g3ba7baafcd5_0_136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781825" y="438628"/>
            <a:ext cx="333100" cy="39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g3ba7baafcd5_0_1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5326" y="970175"/>
            <a:ext cx="7748058" cy="3055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g3ba7baafcd5_0_136"/>
          <p:cNvPicPr preferRelativeResize="0"/>
          <p:nvPr/>
        </p:nvPicPr>
        <p:blipFill rotWithShape="1">
          <a:blip r:embed="rId5">
            <a:alphaModFix/>
          </a:blip>
          <a:srcRect b="0" l="0" r="0" t="7295"/>
          <a:stretch/>
        </p:blipFill>
        <p:spPr>
          <a:xfrm>
            <a:off x="835326" y="4025548"/>
            <a:ext cx="7748061" cy="283245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g3ba7baafcd5_0_136"/>
          <p:cNvSpPr txBox="1"/>
          <p:nvPr/>
        </p:nvSpPr>
        <p:spPr>
          <a:xfrm>
            <a:off x="-2047875" y="-984250"/>
            <a:ext cx="2538600" cy="3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</p:txBody>
      </p:sp>
      <p:pic>
        <p:nvPicPr>
          <p:cNvPr id="115" name="Google Shape;115;g3ba7baafcd5_0_136" title="Screenshot 2026-01-15 at 8.43.47 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>
            <a:off x="-376786" y="2165324"/>
            <a:ext cx="2149506" cy="274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3ba7baafcd5_0_136" title="Screenshot 2026-01-15 at 8.44.37 AM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5400000">
            <a:off x="-392280" y="5110495"/>
            <a:ext cx="2180504" cy="274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a7baafcd5_0_18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Stop Words</a:t>
            </a:r>
            <a:endParaRPr/>
          </a:p>
        </p:txBody>
      </p:sp>
      <p:sp>
        <p:nvSpPr>
          <p:cNvPr id="122" name="Google Shape;122;g3ba7baafcd5_0_180"/>
          <p:cNvSpPr txBox="1"/>
          <p:nvPr>
            <p:ph idx="1" type="body"/>
          </p:nvPr>
        </p:nvSpPr>
        <p:spPr>
          <a:xfrm>
            <a:off x="457200" y="1600200"/>
            <a:ext cx="8229600" cy="21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Stop words</a:t>
            </a:r>
            <a:r>
              <a:rPr lang="en"/>
              <a:t> are </a:t>
            </a:r>
            <a:r>
              <a:rPr b="1" lang="en">
                <a:solidFill>
                  <a:srgbClr val="5F1709"/>
                </a:solidFill>
              </a:rPr>
              <a:t>common, high-frequency words that often carry little specific meaning</a:t>
            </a:r>
            <a:r>
              <a:rPr lang="en"/>
              <a:t> and are </a:t>
            </a:r>
            <a:r>
              <a:rPr b="1" lang="en">
                <a:solidFill>
                  <a:srgbClr val="DCB439"/>
                </a:solidFill>
              </a:rPr>
              <a:t>filtered out</a:t>
            </a:r>
            <a:r>
              <a:rPr lang="en"/>
              <a:t> in Natural Language Processing (NLP) systems</a:t>
            </a:r>
            <a:endParaRPr/>
          </a:p>
        </p:txBody>
      </p:sp>
      <p:pic>
        <p:nvPicPr>
          <p:cNvPr id="123" name="Google Shape;123;g3ba7baafcd5_0_180"/>
          <p:cNvPicPr preferRelativeResize="0"/>
          <p:nvPr/>
        </p:nvPicPr>
        <p:blipFill rotWithShape="1">
          <a:blip r:embed="rId3">
            <a:alphaModFix/>
          </a:blip>
          <a:srcRect b="8531" l="0" r="0" t="54553"/>
          <a:stretch/>
        </p:blipFill>
        <p:spPr>
          <a:xfrm>
            <a:off x="902275" y="4259075"/>
            <a:ext cx="7339450" cy="1524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a7baafcd5_0_1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r>
              <a:rPr lang="en" sz="3000"/>
              <a:t> vs.     </a:t>
            </a:r>
            <a:r>
              <a:rPr lang="en" sz="30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shakespeare.txt</a:t>
            </a:r>
            <a:endParaRPr sz="30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29" name="Google Shape;129;g3ba7baafcd5_0_169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0725" y="438628"/>
            <a:ext cx="333100" cy="39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ba7baafcd5_0_169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781825" y="438628"/>
            <a:ext cx="333100" cy="395549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3ba7baafcd5_0_169"/>
          <p:cNvSpPr txBox="1"/>
          <p:nvPr/>
        </p:nvSpPr>
        <p:spPr>
          <a:xfrm>
            <a:off x="-2047875" y="-984250"/>
            <a:ext cx="2538600" cy="3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</p:txBody>
      </p:sp>
      <p:pic>
        <p:nvPicPr>
          <p:cNvPr id="132" name="Google Shape;132;g3ba7baafcd5_0_169" title="Screenshot 2026-01-15 at 8.43.4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-376786" y="2165324"/>
            <a:ext cx="2149506" cy="274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g3ba7baafcd5_0_169" title="Screenshot 2026-01-15 at 8.44.37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392293" y="5083270"/>
            <a:ext cx="2180504" cy="274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3ba7baafcd5_0_1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8750" y="970211"/>
            <a:ext cx="7748051" cy="3055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a7baafcd5_0_169"/>
          <p:cNvPicPr preferRelativeResize="0"/>
          <p:nvPr/>
        </p:nvPicPr>
        <p:blipFill rotWithShape="1">
          <a:blip r:embed="rId7">
            <a:alphaModFix/>
          </a:blip>
          <a:srcRect b="0" l="0" r="0" t="7672"/>
          <a:stretch/>
        </p:blipFill>
        <p:spPr>
          <a:xfrm>
            <a:off x="938750" y="4025562"/>
            <a:ext cx="7748051" cy="282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a7baafcd5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002B5B"/>
                </a:solidFill>
              </a:rPr>
              <a:t>Sampling Distributions and Generative AI</a:t>
            </a:r>
            <a:endParaRPr>
              <a:solidFill>
                <a:srgbClr val="002B5B"/>
              </a:solidFill>
            </a:endParaRPr>
          </a:p>
        </p:txBody>
      </p:sp>
      <p:sp>
        <p:nvSpPr>
          <p:cNvPr id="141" name="Google Shape;141;g3ba7baafcd5_0_4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Generative artificial intelligence</a:t>
            </a:r>
            <a:r>
              <a:rPr lang="en"/>
              <a:t> is a subset of artificial intelligence that uses generative models to produce text, images, videos, or other forms of data. </a:t>
            </a:r>
            <a:r>
              <a:rPr b="1" lang="en">
                <a:solidFill>
                  <a:srgbClr val="DCB439"/>
                </a:solidFill>
              </a:rPr>
              <a:t>These models learn the underlying patterns and structures of their training data</a:t>
            </a:r>
            <a:r>
              <a:rPr lang="en"/>
              <a:t> and use them to produce new data” — Wikipedia</a:t>
            </a:r>
            <a:endParaRPr/>
          </a:p>
        </p:txBody>
      </p:sp>
      <p:sp>
        <p:nvSpPr>
          <p:cNvPr id="142" name="Google Shape;142;g3ba7baafcd5_0_4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a79990f52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in Python</a:t>
            </a:r>
            <a:endParaRPr/>
          </a:p>
        </p:txBody>
      </p:sp>
      <p:pic>
        <p:nvPicPr>
          <p:cNvPr id="148" name="Google Shape;148;g3ba79990f52_0_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95450" y="27465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g3ba79990f52_0_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114313"/>
            <a:ext cx="8839200" cy="415910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ba79990f52_0_16"/>
          <p:cNvSpPr/>
          <p:nvPr/>
        </p:nvSpPr>
        <p:spPr>
          <a:xfrm>
            <a:off x="1455975" y="2422075"/>
            <a:ext cx="2639700" cy="558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a7baafcd5_0_215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Programming</a:t>
            </a:r>
            <a:endParaRPr/>
          </a:p>
        </p:txBody>
      </p:sp>
      <p:sp>
        <p:nvSpPr>
          <p:cNvPr id="156" name="Google Shape;156;g3ba7baafcd5_0_215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/>
              <a:t>Crash Course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a7baafcd5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</a:t>
            </a:r>
            <a:endParaRPr/>
          </a:p>
        </p:txBody>
      </p:sp>
      <p:sp>
        <p:nvSpPr>
          <p:cNvPr id="162" name="Google Shape;162;g3ba7baafcd5_0_0"/>
          <p:cNvSpPr txBox="1"/>
          <p:nvPr>
            <p:ph idx="1" type="body"/>
          </p:nvPr>
        </p:nvSpPr>
        <p:spPr>
          <a:xfrm>
            <a:off x="457200" y="1417650"/>
            <a:ext cx="4346100" cy="158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Variables allow us to </a:t>
            </a:r>
            <a:r>
              <a:rPr b="1" lang="en">
                <a:solidFill>
                  <a:srgbClr val="002B5B"/>
                </a:solidFill>
              </a:rPr>
              <a:t>store data</a:t>
            </a:r>
            <a:r>
              <a:rPr lang="en"/>
              <a:t> using a </a:t>
            </a:r>
            <a:r>
              <a:rPr lang="en"/>
              <a:t>convenient</a:t>
            </a:r>
            <a:r>
              <a:rPr lang="en"/>
              <a:t> name.</a:t>
            </a:r>
            <a:endParaRPr/>
          </a:p>
        </p:txBody>
      </p:sp>
      <p:pic>
        <p:nvPicPr>
          <p:cNvPr id="163" name="Google Shape;163;g3ba7baafcd5_0_0" title="Screenshot 2026-01-15 at 9.12.4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1824" y="197300"/>
            <a:ext cx="3376925" cy="6463401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a7baafcd5_0_23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</a:t>
            </a:r>
            <a:endParaRPr/>
          </a:p>
        </p:txBody>
      </p:sp>
      <p:sp>
        <p:nvSpPr>
          <p:cNvPr id="169" name="Google Shape;169;g3ba7baafcd5_0_23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Variables have a </a:t>
            </a:r>
            <a:r>
              <a:rPr b="1" lang="en">
                <a:solidFill>
                  <a:srgbClr val="002B5B"/>
                </a:solidFill>
              </a:rPr>
              <a:t>type</a:t>
            </a:r>
            <a:r>
              <a:rPr lang="en"/>
              <a:t>:</a:t>
            </a:r>
            <a:endParaRPr/>
          </a:p>
          <a:p>
            <a:pPr indent="-419100" lvl="0" marL="457200" rtl="0" algn="l">
              <a:spcBef>
                <a:spcPts val="600"/>
              </a:spcBef>
              <a:spcAft>
                <a:spcPts val="0"/>
              </a:spcAft>
              <a:buSzPts val="3000"/>
              <a:buChar char="●"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(a whole number)</a:t>
            </a:r>
            <a:endParaRPr/>
          </a:p>
          <a:p>
            <a:pPr indent="-419100" lvl="0" marL="457200" rtl="0" algn="l">
              <a:spcBef>
                <a:spcPts val="1000"/>
              </a:spcBef>
              <a:spcAft>
                <a:spcPts val="0"/>
              </a:spcAft>
              <a:buSzPts val="3000"/>
              <a:buChar char="●"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(a “string”)</a:t>
            </a:r>
            <a:endParaRPr/>
          </a:p>
          <a:p>
            <a:pPr indent="-419100" lvl="0" marL="457200" rtl="0" algn="l">
              <a:spcBef>
                <a:spcPts val="1000"/>
              </a:spcBef>
              <a:spcAft>
                <a:spcPts val="0"/>
              </a:spcAft>
              <a:buSzPts val="3000"/>
              <a:buChar char="●"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/>
              <a:t> (true or false)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and many others!</a:t>
            </a:r>
            <a:endParaRPr/>
          </a:p>
        </p:txBody>
      </p:sp>
      <p:pic>
        <p:nvPicPr>
          <p:cNvPr id="170" name="Google Shape;170;g3ba7baafcd5_0_235" title="Screenshot 2026-01-15 at 9.13.5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0750" y="4502775"/>
            <a:ext cx="2743225" cy="20651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71" name="Google Shape;171;g3ba7baafcd5_0_235" title="Screenshot 2026-01-15 at 9.12.4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6424" y="197300"/>
            <a:ext cx="3376925" cy="6463401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a7baafcd5_0_25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Conditionals</a:t>
            </a:r>
            <a:endParaRPr/>
          </a:p>
        </p:txBody>
      </p:sp>
      <p:sp>
        <p:nvSpPr>
          <p:cNvPr id="177" name="Google Shape;177;g3ba7baafcd5_0_251"/>
          <p:cNvSpPr txBox="1"/>
          <p:nvPr>
            <p:ph idx="1" type="body"/>
          </p:nvPr>
        </p:nvSpPr>
        <p:spPr>
          <a:xfrm>
            <a:off x="457200" y="1600200"/>
            <a:ext cx="8229600" cy="19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Often times we want to </a:t>
            </a:r>
            <a:r>
              <a:rPr b="1" lang="en">
                <a:solidFill>
                  <a:srgbClr val="DCB439"/>
                </a:solidFill>
              </a:rPr>
              <a:t>check the value of a variable, and do different things</a:t>
            </a:r>
            <a:r>
              <a:rPr lang="en"/>
              <a:t> depending on what it is. The most common </a:t>
            </a:r>
            <a:r>
              <a:rPr b="1" lang="en">
                <a:solidFill>
                  <a:srgbClr val="002B5B"/>
                </a:solidFill>
              </a:rPr>
              <a:t>conditional</a:t>
            </a:r>
            <a:r>
              <a:rPr lang="en"/>
              <a:t> is the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if statement</a:t>
            </a:r>
            <a:endParaRPr b="1">
              <a:solidFill>
                <a:srgbClr val="5F170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78" name="Google Shape;178;g3ba7baafcd5_0_251" title="Screenshot 2026-01-15 at 9.28.2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7025" y="3690175"/>
            <a:ext cx="2149944" cy="296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ba7baafcd5_0_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  <p:sp>
        <p:nvSpPr>
          <p:cNvPr id="184" name="Google Shape;184;g3ba7baafcd5_0_20"/>
          <p:cNvSpPr txBox="1"/>
          <p:nvPr>
            <p:ph idx="1" type="body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addition to basic things like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</a:t>
            </a:r>
            <a:r>
              <a:rPr lang="en"/>
              <a:t>and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, we can store more complex things called </a:t>
            </a:r>
            <a:r>
              <a:rPr b="1" lang="en">
                <a:solidFill>
                  <a:srgbClr val="002B5B"/>
                </a:solidFill>
              </a:rPr>
              <a:t>data structures</a:t>
            </a:r>
            <a:r>
              <a:rPr lang="en"/>
              <a:t> that may allow us to store multiple values in a </a:t>
            </a:r>
            <a:r>
              <a:rPr b="1" lang="en">
                <a:solidFill>
                  <a:srgbClr val="002B5B"/>
                </a:solidFill>
              </a:rPr>
              <a:t>variable</a:t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simplest data structures is called a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b="1">
              <a:solidFill>
                <a:srgbClr val="5F170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85" name="Google Shape;185;g3ba7baafcd5_0_20" title="Screenshot 2026-01-15 at 9.15.0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5475" y="3683450"/>
            <a:ext cx="5353050" cy="22669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a7baafcd5_0_2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Lists</a:t>
            </a:r>
            <a:endParaRPr/>
          </a:p>
        </p:txBody>
      </p:sp>
      <p:sp>
        <p:nvSpPr>
          <p:cNvPr id="191" name="Google Shape;191;g3ba7baafcd5_0_224"/>
          <p:cNvSpPr txBox="1"/>
          <p:nvPr>
            <p:ph idx="1" type="body"/>
          </p:nvPr>
        </p:nvSpPr>
        <p:spPr>
          <a:xfrm>
            <a:off x="457200" y="1600200"/>
            <a:ext cx="8229600" cy="512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ists</a:t>
            </a:r>
            <a:r>
              <a:rPr lang="en"/>
              <a:t> can hold just about anything you would want, even other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lists</a:t>
            </a:r>
            <a:r>
              <a:rPr lang="en"/>
              <a:t>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access specific items using </a:t>
            </a:r>
            <a:r>
              <a:rPr b="1" lang="en">
                <a:solidFill>
                  <a:srgbClr val="DCB439"/>
                </a:solidFill>
              </a:rPr>
              <a:t>square brackets</a:t>
            </a:r>
            <a:r>
              <a:rPr lang="en"/>
              <a:t> and an “</a:t>
            </a:r>
            <a:r>
              <a:rPr b="1" lang="en">
                <a:solidFill>
                  <a:srgbClr val="DCB439"/>
                </a:solidFill>
              </a:rPr>
              <a:t>index</a:t>
            </a:r>
            <a:r>
              <a:rPr lang="en"/>
              <a:t>”</a:t>
            </a:r>
            <a:endParaRPr/>
          </a:p>
        </p:txBody>
      </p:sp>
      <p:pic>
        <p:nvPicPr>
          <p:cNvPr id="192" name="Google Shape;192;g3ba7baafcd5_0_224" title="Screenshot 2026-01-15 at 9.17.02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5475" y="2722800"/>
            <a:ext cx="5353050" cy="2990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3" name="Google Shape;193;g3ba7baafcd5_0_224"/>
          <p:cNvSpPr txBox="1"/>
          <p:nvPr/>
        </p:nvSpPr>
        <p:spPr>
          <a:xfrm>
            <a:off x="2238300" y="4231825"/>
            <a:ext cx="4667400" cy="38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NOTE:</a:t>
            </a:r>
            <a:r>
              <a:rPr lang="en">
                <a:solidFill>
                  <a:schemeClr val="dk1"/>
                </a:solidFill>
              </a:rPr>
              <a:t> the first item in a </a:t>
            </a:r>
            <a:r>
              <a:rPr b="1"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>
                <a:solidFill>
                  <a:schemeClr val="dk1"/>
                </a:solidFill>
              </a:rPr>
              <a:t> is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index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solidFill>
                  <a:schemeClr val="dk1"/>
                </a:solidFill>
              </a:rPr>
              <a:t>, NOT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solidFill>
                  <a:schemeClr val="dk1"/>
                </a:solidFill>
              </a:rPr>
              <a:t>!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a7baafcd5_0_2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sp>
        <p:nvSpPr>
          <p:cNvPr id="199" name="Google Shape;199;g3ba7baafcd5_0_229"/>
          <p:cNvSpPr txBox="1"/>
          <p:nvPr>
            <p:ph idx="1" type="body"/>
          </p:nvPr>
        </p:nvSpPr>
        <p:spPr>
          <a:xfrm>
            <a:off x="457200" y="4449525"/>
            <a:ext cx="8229600" cy="21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Dictionaries store groups of two things, called: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“key - value pairs”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 </a:t>
            </a:r>
            <a:r>
              <a:rPr lang="en"/>
              <a:t>To access items in a dictionary we use </a:t>
            </a:r>
            <a:r>
              <a:rPr b="1" lang="en">
                <a:solidFill>
                  <a:srgbClr val="DCB439"/>
                </a:solidFill>
              </a:rPr>
              <a:t>square brackets</a:t>
            </a:r>
            <a:r>
              <a:rPr lang="en"/>
              <a:t> again, but with a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en"/>
              <a:t> in the brackets instead of an index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0" name="Google Shape;200;g3ba7baafcd5_0_229" title="Screenshot 2026-01-15 at 9.20.52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4550" y="274650"/>
            <a:ext cx="4648200" cy="39814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01" name="Google Shape;201;g3ba7baafcd5_0_229" title="Screenshot 2026-01-15 at 9.23.42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1570038"/>
            <a:ext cx="3183777" cy="2727087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a7baafcd5_0_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Loops</a:t>
            </a:r>
            <a:endParaRPr/>
          </a:p>
        </p:txBody>
      </p:sp>
      <p:sp>
        <p:nvSpPr>
          <p:cNvPr id="207" name="Google Shape;207;g3ba7baafcd5_0_1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have a data structure, we often want to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loop</a:t>
            </a:r>
            <a:r>
              <a:rPr lang="en"/>
              <a:t> over it. The most common loop is the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for loop</a:t>
            </a:r>
            <a:endParaRPr b="1">
              <a:solidFill>
                <a:srgbClr val="5F170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8" name="Google Shape;208;g3ba7baafcd5_0_10" title="Screenshot 2026-01-15 at 9.31.2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4213" y="3119075"/>
            <a:ext cx="5915026" cy="3507576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ba7baafcd5_0_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</a:t>
            </a:r>
            <a:endParaRPr/>
          </a:p>
        </p:txBody>
      </p:sp>
      <p:sp>
        <p:nvSpPr>
          <p:cNvPr id="214" name="Google Shape;214;g3ba7baafcd5_0_1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Often times we will want to </a:t>
            </a:r>
            <a:r>
              <a:rPr b="1" lang="en">
                <a:solidFill>
                  <a:srgbClr val="DCB439"/>
                </a:solidFill>
              </a:rPr>
              <a:t>run the same set of instructions on different variables</a:t>
            </a:r>
            <a:r>
              <a:rPr lang="en"/>
              <a:t>, we can define a </a:t>
            </a:r>
            <a:r>
              <a:rPr b="1" lang="en">
                <a:solidFill>
                  <a:srgbClr val="5F1709"/>
                </a:solidFill>
              </a:rPr>
              <a:t>function</a:t>
            </a:r>
            <a:r>
              <a:rPr lang="en"/>
              <a:t> to achieve this</a:t>
            </a:r>
            <a:endParaRPr/>
          </a:p>
        </p:txBody>
      </p:sp>
      <p:pic>
        <p:nvPicPr>
          <p:cNvPr id="215" name="Google Shape;215;g3ba7baafcd5_0_15" title="Screenshot 2026-01-15 at 8.54.1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50" y="3511988"/>
            <a:ext cx="7505700" cy="260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a7baafcd5_0_296"/>
          <p:cNvSpPr txBox="1"/>
          <p:nvPr>
            <p:ph type="title"/>
          </p:nvPr>
        </p:nvSpPr>
        <p:spPr>
          <a:xfrm>
            <a:off x="1192000" y="1366613"/>
            <a:ext cx="2822100" cy="80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Comments</a:t>
            </a:r>
            <a:endParaRPr/>
          </a:p>
        </p:txBody>
      </p:sp>
      <p:sp>
        <p:nvSpPr>
          <p:cNvPr id="221" name="Google Shape;221;g3ba7baafcd5_0_296"/>
          <p:cNvSpPr txBox="1"/>
          <p:nvPr>
            <p:ph idx="1" type="body"/>
          </p:nvPr>
        </p:nvSpPr>
        <p:spPr>
          <a:xfrm>
            <a:off x="457200" y="3469825"/>
            <a:ext cx="8229600" cy="309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Oftentimes while programming you will want to leave </a:t>
            </a:r>
            <a:r>
              <a:rPr b="1" lang="en">
                <a:solidFill>
                  <a:srgbClr val="DCB439"/>
                </a:solidFill>
              </a:rPr>
              <a:t>explanatory text in the code</a:t>
            </a:r>
            <a:r>
              <a:rPr lang="en"/>
              <a:t>, these are called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comments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 </a:t>
            </a:r>
            <a:r>
              <a:rPr lang="en"/>
              <a:t>In python we do this with either a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pound symbol: #</a:t>
            </a:r>
            <a:r>
              <a:rPr lang="en"/>
              <a:t> if the comment is a single line, or </a:t>
            </a: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triple quotes: “””</a:t>
            </a:r>
            <a:r>
              <a:rPr lang="en"/>
              <a:t> if the comment is multiline</a:t>
            </a:r>
            <a:endParaRPr/>
          </a:p>
        </p:txBody>
      </p:sp>
      <p:pic>
        <p:nvPicPr>
          <p:cNvPr id="222" name="Google Shape;222;g3ba7baafcd5_0_296" title="Screenshot 2026-01-15 at 10.46.22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93825" y="183700"/>
            <a:ext cx="3903875" cy="31710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ba7baafcd5_0_20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our Graph: Code</a:t>
            </a:r>
            <a:endParaRPr/>
          </a:p>
        </p:txBody>
      </p:sp>
      <p:pic>
        <p:nvPicPr>
          <p:cNvPr id="228" name="Google Shape;228;g3ba7baafcd5_0_201" title="Screenshot 2026-01-15 at 8.55.23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250" y="1403185"/>
            <a:ext cx="4699901" cy="4051626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ba7baafcd5_0_28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&lt;SOS&gt; and &lt;EOS&gt;</a:t>
            </a:r>
            <a:endParaRPr/>
          </a:p>
        </p:txBody>
      </p:sp>
      <p:sp>
        <p:nvSpPr>
          <p:cNvPr id="234" name="Google Shape;234;g3ba7baafcd5_0_286"/>
          <p:cNvSpPr txBox="1"/>
          <p:nvPr>
            <p:ph idx="1" type="body"/>
          </p:nvPr>
        </p:nvSpPr>
        <p:spPr>
          <a:xfrm>
            <a:off x="457200" y="141765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&lt;SOS&gt;</a:t>
            </a:r>
            <a:r>
              <a:rPr lang="en"/>
              <a:t> — </a:t>
            </a:r>
            <a:r>
              <a:rPr b="1" lang="en" u="sng">
                <a:solidFill>
                  <a:srgbClr val="5F1709"/>
                </a:solidFill>
              </a:rPr>
              <a:t>S</a:t>
            </a:r>
            <a:r>
              <a:rPr lang="en"/>
              <a:t>tart </a:t>
            </a:r>
            <a:r>
              <a:rPr b="1" lang="en" u="sng">
                <a:solidFill>
                  <a:srgbClr val="5F1709"/>
                </a:solidFill>
              </a:rPr>
              <a:t>o</a:t>
            </a:r>
            <a:r>
              <a:rPr lang="en"/>
              <a:t>f </a:t>
            </a:r>
            <a:r>
              <a:rPr b="1" lang="en" u="sng">
                <a:solidFill>
                  <a:srgbClr val="5F1709"/>
                </a:solidFill>
              </a:rPr>
              <a:t>S</a:t>
            </a:r>
            <a:r>
              <a:rPr lang="en"/>
              <a:t>equence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&lt;EOS&gt;</a:t>
            </a:r>
            <a:r>
              <a:rPr lang="en"/>
              <a:t> — </a:t>
            </a:r>
            <a:r>
              <a:rPr b="1" lang="en" u="sng">
                <a:solidFill>
                  <a:srgbClr val="5F1709"/>
                </a:solidFill>
              </a:rPr>
              <a:t>E</a:t>
            </a:r>
            <a:r>
              <a:rPr lang="en"/>
              <a:t>nd </a:t>
            </a:r>
            <a:r>
              <a:rPr b="1" lang="en" u="sng">
                <a:solidFill>
                  <a:srgbClr val="5F1709"/>
                </a:solidFill>
              </a:rPr>
              <a:t>o</a:t>
            </a:r>
            <a:r>
              <a:rPr lang="en"/>
              <a:t>f </a:t>
            </a:r>
            <a:r>
              <a:rPr b="1" lang="en" u="sng">
                <a:solidFill>
                  <a:srgbClr val="5F1709"/>
                </a:solidFill>
              </a:rPr>
              <a:t>S</a:t>
            </a:r>
            <a:r>
              <a:rPr lang="en"/>
              <a:t>equence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These are special tokens often seen when working with text, another one is: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&lt;UNK&gt;</a:t>
            </a:r>
            <a:r>
              <a:rPr lang="en"/>
              <a:t> — </a:t>
            </a:r>
            <a:r>
              <a:rPr b="1" lang="en" u="sng">
                <a:solidFill>
                  <a:srgbClr val="5F1709"/>
                </a:solidFill>
              </a:rPr>
              <a:t>Unk</a:t>
            </a:r>
            <a:r>
              <a:rPr lang="en"/>
              <a:t>nown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F1709"/>
                </a:solidFill>
                <a:latin typeface="Consolas"/>
                <a:ea typeface="Consolas"/>
                <a:cs typeface="Consolas"/>
                <a:sym typeface="Consolas"/>
              </a:rPr>
              <a:t>&lt;UNK&gt;</a:t>
            </a:r>
            <a:r>
              <a:rPr lang="en"/>
              <a:t> is used to represent words that we haven’t seen in our vocab before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ba79990f52_0_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Google Colab</a:t>
            </a:r>
            <a:endParaRPr/>
          </a:p>
        </p:txBody>
      </p:sp>
      <p:sp>
        <p:nvSpPr>
          <p:cNvPr id="240" name="Google Shape;240;g3ba79990f52_0_21"/>
          <p:cNvSpPr txBox="1"/>
          <p:nvPr>
            <p:ph idx="1" type="body"/>
          </p:nvPr>
        </p:nvSpPr>
        <p:spPr>
          <a:xfrm>
            <a:off x="457200" y="4299850"/>
            <a:ext cx="8229600" cy="22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Google Colab</a:t>
            </a:r>
            <a:r>
              <a:rPr lang="en"/>
              <a:t> lets you run </a:t>
            </a:r>
            <a:r>
              <a:rPr b="1" lang="en">
                <a:solidFill>
                  <a:srgbClr val="002B5B"/>
                </a:solidFill>
              </a:rPr>
              <a:t>python</a:t>
            </a:r>
            <a:r>
              <a:rPr lang="en"/>
              <a:t> code in your online and integrates with your </a:t>
            </a:r>
            <a:r>
              <a:rPr b="1" lang="en">
                <a:solidFill>
                  <a:srgbClr val="002B5B"/>
                </a:solidFill>
              </a:rPr>
              <a:t>Google Drive</a:t>
            </a:r>
            <a:r>
              <a:rPr lang="en"/>
              <a:t>! This is primarily what we’ll be using in this class.</a:t>
            </a:r>
            <a:endParaRPr/>
          </a:p>
        </p:txBody>
      </p:sp>
      <p:pic>
        <p:nvPicPr>
          <p:cNvPr id="241" name="Google Shape;241;g3ba79990f52_0_21" title="Screenshot 2026-01-15 at 9.33.5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7651"/>
            <a:ext cx="8229601" cy="2684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ba79990f52_0_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.ipynb Files</a:t>
            </a:r>
            <a:endParaRPr/>
          </a:p>
        </p:txBody>
      </p:sp>
      <p:sp>
        <p:nvSpPr>
          <p:cNvPr id="247" name="Google Shape;247;g3ba79990f52_0_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We’re going to use a type of file called a </a:t>
            </a:r>
            <a:r>
              <a:rPr b="1" lang="en">
                <a:solidFill>
                  <a:srgbClr val="002B5B"/>
                </a:solidFill>
              </a:rPr>
              <a:t>notebook</a:t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These let you put text and code alongside each other and can display graphs from your code right away. Most data scientists and AI researchers use notebooks every day.</a:t>
            </a:r>
            <a:endParaRPr/>
          </a:p>
        </p:txBody>
      </p:sp>
      <p:pic>
        <p:nvPicPr>
          <p:cNvPr id="248" name="Google Shape;248;g3ba79990f52_0_26" title="Screenshot 2026-01-15 at 9.37.0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6650" y="2462900"/>
            <a:ext cx="3624775" cy="222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ba79990f52_0_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Our First Notebook</a:t>
            </a:r>
            <a:endParaRPr/>
          </a:p>
        </p:txBody>
      </p:sp>
      <p:sp>
        <p:nvSpPr>
          <p:cNvPr id="254" name="Google Shape;254;g3ba79990f52_0_3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Let's</a:t>
            </a:r>
            <a:r>
              <a:rPr lang="en"/>
              <a:t> open our notebook for today’s lecture and get started!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3600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Notebook</a:t>
            </a:r>
            <a:endParaRPr b="1" sz="3600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ba7baafcd5_0_26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Generating Text from our Graph</a:t>
            </a:r>
            <a:endParaRPr/>
          </a:p>
        </p:txBody>
      </p:sp>
      <p:pic>
        <p:nvPicPr>
          <p:cNvPr id="260" name="Google Shape;260;g3ba7baafcd5_0_2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100" y="1417650"/>
            <a:ext cx="8105775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ba7baafcd5_0_27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Character-Level Graph</a:t>
            </a:r>
            <a:endParaRPr/>
          </a:p>
        </p:txBody>
      </p:sp>
      <p:sp>
        <p:nvSpPr>
          <p:cNvPr id="266" name="Google Shape;266;g3ba7baafcd5_0_278"/>
          <p:cNvSpPr txBox="1"/>
          <p:nvPr>
            <p:ph idx="1" type="body"/>
          </p:nvPr>
        </p:nvSpPr>
        <p:spPr>
          <a:xfrm>
            <a:off x="457200" y="1789900"/>
            <a:ext cx="3297600" cy="4778100"/>
          </a:xfrm>
          <a:prstGeom prst="rect">
            <a:avLst/>
          </a:prstGeom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g3ba7baafcd5_0_278"/>
          <p:cNvSpPr txBox="1"/>
          <p:nvPr/>
        </p:nvSpPr>
        <p:spPr>
          <a:xfrm>
            <a:off x="1468800" y="1469225"/>
            <a:ext cx="22860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sz="18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g3ba7baafcd5_0_278"/>
          <p:cNvSpPr/>
          <p:nvPr/>
        </p:nvSpPr>
        <p:spPr>
          <a:xfrm>
            <a:off x="457200" y="1417638"/>
            <a:ext cx="3297600" cy="372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9" name="Google Shape;269;g3ba7baafcd5_0_278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6475" y="1449688"/>
            <a:ext cx="259514" cy="30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