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IGfWeGNaij6N1bRhtuTPJ4+V8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8409de4d6_0_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b8409de4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8409de4d6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b8409de4d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8409de4d6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3b8409de4d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8409de4d6_0_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b8409de4d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8409de4d6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8409de4d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a79990f52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ba79990f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8409de4d6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8409de4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8409de4d6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8409de4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409de4d6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8409de4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8409de4d6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8409de4d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8409de4d6_0_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8409de4d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8409de4d6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8409de4d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8409de4d6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8409de4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8409de4d6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8409de4d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8409de4d6_0_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Practice 01</a:t>
            </a:r>
            <a:endParaRPr/>
          </a:p>
        </p:txBody>
      </p:sp>
      <p:sp>
        <p:nvSpPr>
          <p:cNvPr id="35" name="Google Shape;35;g3b8409de4d6_0_5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Colab Cell, write code to do the following: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/>
              <a:t> each of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egers 0-9,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/>
              <a:t> out the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/>
              <a:t> 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 </a:t>
            </a:r>
            <a:r>
              <a:rPr lang="en"/>
              <a:t>plus</a:t>
            </a:r>
            <a:r>
              <a:rPr lang="en"/>
              <a:t> 5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</a:rPr>
              <a:t>Challenge:</a:t>
            </a:r>
            <a:endParaRPr b="1">
              <a:solidFill>
                <a:srgbClr val="DCB439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 def</a:t>
            </a:r>
            <a:r>
              <a:rPr lang="en"/>
              <a:t>ine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that would accept any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"/>
              <a:t>highest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eger, instead of only going to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8409de4d6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Practice Solution</a:t>
            </a:r>
            <a:endParaRPr/>
          </a:p>
        </p:txBody>
      </p:sp>
      <p:sp>
        <p:nvSpPr>
          <p:cNvPr id="41" name="Google Shape;41;g3b8409de4d6_0_6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8409de4d6_0_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Errors</a:t>
            </a:r>
            <a:endParaRPr/>
          </a:p>
        </p:txBody>
      </p:sp>
      <p:sp>
        <p:nvSpPr>
          <p:cNvPr id="47" name="Google Shape;47;g3b8409de4d6_0_65"/>
          <p:cNvSpPr txBox="1"/>
          <p:nvPr>
            <p:ph idx="1" type="body"/>
          </p:nvPr>
        </p:nvSpPr>
        <p:spPr>
          <a:xfrm>
            <a:off x="457200" y="141765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Last class we saw an error when we tried to add an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 and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/>
              <a:t> together.</a:t>
            </a:r>
            <a:endParaRPr/>
          </a:p>
        </p:txBody>
      </p:sp>
      <p:pic>
        <p:nvPicPr>
          <p:cNvPr id="48" name="Google Shape;48;g3b8409de4d6_0_65" title="Screenshot 2026-01-16 at 8.22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777400"/>
            <a:ext cx="8229599" cy="19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g3b8409de4d6_0_65"/>
          <p:cNvSpPr/>
          <p:nvPr/>
        </p:nvSpPr>
        <p:spPr>
          <a:xfrm>
            <a:off x="5097875" y="4372875"/>
            <a:ext cx="295200" cy="334200"/>
          </a:xfrm>
          <a:prstGeom prst="rect">
            <a:avLst/>
          </a:prstGeom>
          <a:noFill/>
          <a:ln cap="flat" cmpd="sng" w="38100">
            <a:solidFill>
              <a:srgbClr val="A314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b8409de4d6_0_65"/>
          <p:cNvSpPr/>
          <p:nvPr/>
        </p:nvSpPr>
        <p:spPr>
          <a:xfrm>
            <a:off x="5461275" y="4372875"/>
            <a:ext cx="555300" cy="334200"/>
          </a:xfrm>
          <a:prstGeom prst="rect">
            <a:avLst/>
          </a:prstGeom>
          <a:noFill/>
          <a:ln cap="flat" cmpd="sng" w="38100">
            <a:solidFill>
              <a:srgbClr val="A314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b8409de4d6_0_65"/>
          <p:cNvSpPr/>
          <p:nvPr/>
        </p:nvSpPr>
        <p:spPr>
          <a:xfrm>
            <a:off x="6536025" y="4372875"/>
            <a:ext cx="555300" cy="334200"/>
          </a:xfrm>
          <a:prstGeom prst="rect">
            <a:avLst/>
          </a:prstGeom>
          <a:noFill/>
          <a:ln cap="flat" cmpd="sng" w="38100">
            <a:solidFill>
              <a:srgbClr val="A314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8409de4d6_0_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Typecasting</a:t>
            </a:r>
            <a:endParaRPr/>
          </a:p>
        </p:txBody>
      </p:sp>
      <p:sp>
        <p:nvSpPr>
          <p:cNvPr id="57" name="Google Shape;57;g3b8409de4d6_0_74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2B5B"/>
                </a:solidFill>
              </a:rPr>
              <a:t>Typecasting</a:t>
            </a:r>
            <a:r>
              <a:rPr lang="en"/>
              <a:t> allows us to </a:t>
            </a:r>
            <a:r>
              <a:rPr b="1" lang="en">
                <a:solidFill>
                  <a:srgbClr val="465510"/>
                </a:solidFill>
              </a:rPr>
              <a:t>change a variable or value to a different </a:t>
            </a:r>
            <a:r>
              <a:rPr b="1" lang="en" sz="1400">
                <a:solidFill>
                  <a:srgbClr val="465510"/>
                </a:solidFill>
              </a:rPr>
              <a:t>(supported)</a:t>
            </a:r>
            <a:r>
              <a:rPr b="1" lang="en">
                <a:solidFill>
                  <a:srgbClr val="465510"/>
                </a:solidFill>
              </a:rPr>
              <a:t> type!</a:t>
            </a:r>
            <a:endParaRPr b="1">
              <a:solidFill>
                <a:srgbClr val="465510"/>
              </a:solidFill>
            </a:endParaRPr>
          </a:p>
        </p:txBody>
      </p:sp>
      <p:pic>
        <p:nvPicPr>
          <p:cNvPr id="58" name="Google Shape;58;g3b8409de4d6_0_74" title="Screenshot 2026-01-16 at 8.26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175" y="2822813"/>
            <a:ext cx="3678575" cy="190617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" name="Google Shape;59;g3b8409de4d6_0_74" title="Screenshot 2026-01-16 at 8.27.0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225" y="2822825"/>
            <a:ext cx="3377609" cy="190617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" name="Google Shape;60;g3b8409de4d6_0_74"/>
          <p:cNvSpPr txBox="1"/>
          <p:nvPr/>
        </p:nvSpPr>
        <p:spPr>
          <a:xfrm>
            <a:off x="1218150" y="4949150"/>
            <a:ext cx="670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It is especially useful to </a:t>
            </a:r>
            <a:r>
              <a:rPr b="1" lang="en" sz="1800">
                <a:solidFill>
                  <a:srgbClr val="002B5B"/>
                </a:solidFill>
              </a:rPr>
              <a:t>typecast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 sz="1800">
                <a:solidFill>
                  <a:schemeClr val="dk1"/>
                </a:solidFill>
              </a:rPr>
              <a:t> into an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</a:rPr>
              <a:t> because usually when we read in data from a file, it all comes in as </a:t>
            </a:r>
            <a:r>
              <a:rPr b="1" lang="en" sz="18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endParaRPr b="1" sz="18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8409de4d6_0_8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/>
              <a:t>ine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/>
              <a:t> that can, g</a:t>
            </a:r>
            <a:r>
              <a:rPr lang="en"/>
              <a:t>iven a list of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ints</a:t>
            </a:r>
            <a:r>
              <a:rPr lang="en"/>
              <a:t>,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/>
              <a:t> a </a:t>
            </a: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r>
              <a:rPr lang="en"/>
              <a:t> of counts of consecutive pairs.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example: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pairs</a:t>
            </a: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 = count_consecutive_pairs([1, 2, 3, 1, 2])</a:t>
            </a:r>
            <a:endParaRPr b="1" sz="24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print(pairs)</a:t>
            </a:r>
            <a:endParaRPr b="1" sz="2400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" sz="2400">
                <a:latin typeface="Consolas"/>
                <a:ea typeface="Consolas"/>
                <a:cs typeface="Consolas"/>
                <a:sym typeface="Consolas"/>
              </a:rPr>
              <a:t>{(1, 2): 2, (2, 3): 1, (3, 1): 1}</a:t>
            </a:r>
            <a:endParaRPr b="1"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" name="Google Shape;66;g3b8409de4d6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Practice 02</a:t>
            </a:r>
            <a:endParaRPr/>
          </a:p>
        </p:txBody>
      </p:sp>
      <p:sp>
        <p:nvSpPr>
          <p:cNvPr id="67" name="Google Shape;67;g3b8409de4d6_0_84"/>
          <p:cNvSpPr/>
          <p:nvPr/>
        </p:nvSpPr>
        <p:spPr>
          <a:xfrm>
            <a:off x="420225" y="4720475"/>
            <a:ext cx="8266500" cy="14847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Tokenization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a79990f52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 - Text as Data</a:t>
            </a:r>
            <a:endParaRPr/>
          </a:p>
        </p:txBody>
      </p:sp>
      <p:sp>
        <p:nvSpPr>
          <p:cNvPr id="78" name="Google Shape;78;g3ba79990f52_0_5"/>
          <p:cNvSpPr txBox="1"/>
          <p:nvPr>
            <p:ph idx="1" type="body"/>
          </p:nvPr>
        </p:nvSpPr>
        <p:spPr>
          <a:xfrm>
            <a:off x="457200" y="1765116"/>
            <a:ext cx="3078000" cy="4459800"/>
          </a:xfrm>
          <a:prstGeom prst="rect">
            <a:avLst/>
          </a:prstGeom>
          <a:noFill/>
          <a:ln cap="flat" cmpd="sng" w="355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5325" lIns="85325" spcFirstLastPara="1" rIns="85325" wrap="square" tIns="85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"Jabberwocky"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by Lewis Carroll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'Twas brillig, and the slithy toves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Did gyre and gimble in the wabe;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All mimsy were the borogoves,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And the mome raths outgrabe.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"Beware the Jabberwock, my son!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The jaws that bite, the claws that catch!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Beware the Jubjub bird, and shun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The frumious Bandersnatch!"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He took his vorpal sword in hand: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Long time the manxome foe he sought—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So rested he by the Tumtum tree,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" sz="1120">
                <a:latin typeface="Consolas"/>
                <a:ea typeface="Consolas"/>
                <a:cs typeface="Consolas"/>
                <a:sym typeface="Consolas"/>
              </a:rPr>
              <a:t>And stood awhile in thought.</a:t>
            </a:r>
            <a:endParaRPr sz="112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g3ba79990f52_0_5"/>
          <p:cNvSpPr txBox="1"/>
          <p:nvPr/>
        </p:nvSpPr>
        <p:spPr>
          <a:xfrm>
            <a:off x="1401418" y="1465801"/>
            <a:ext cx="21336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</a:pPr>
            <a:r>
              <a:rPr b="1" i="0" lang="en" sz="1680" u="none" cap="none" strike="noStrike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endParaRPr b="1" i="0" sz="1680" u="none" cap="none" strike="noStrike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" name="Google Shape;80;g3ba79990f52_0_5"/>
          <p:cNvSpPr/>
          <p:nvPr/>
        </p:nvSpPr>
        <p:spPr>
          <a:xfrm>
            <a:off x="457200" y="1417650"/>
            <a:ext cx="3078000" cy="347400"/>
          </a:xfrm>
          <a:prstGeom prst="rect">
            <a:avLst/>
          </a:prstGeom>
          <a:noFill/>
          <a:ln cap="flat" cmpd="sng" w="3555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325" lIns="85325" spcFirstLastPara="1" rIns="85325" wrap="square" tIns="85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7"/>
              <a:buFont typeface="Arial"/>
              <a:buNone/>
            </a:pPr>
            <a:r>
              <a:t/>
            </a:r>
            <a:endParaRPr b="0" i="0" sz="130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g3ba79990f52_0_5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3859" y="1447565"/>
            <a:ext cx="242227" cy="287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8409de4d6_0_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Token</a:t>
            </a:r>
            <a:endParaRPr/>
          </a:p>
        </p:txBody>
      </p:sp>
      <p:sp>
        <p:nvSpPr>
          <p:cNvPr id="87" name="Google Shape;87;g3b8409de4d6_0_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409de4d6_0_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Today — OpenAI API</a:t>
            </a:r>
            <a:endParaRPr/>
          </a:p>
        </p:txBody>
      </p:sp>
      <p:pic>
        <p:nvPicPr>
          <p:cNvPr id="93" name="Google Shape;93;g3b8409de4d6_0_14" title="Screenshot 2026-01-15 at 3.42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338" y="1809062"/>
            <a:ext cx="7811302" cy="277667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b8409de4d6_0_14"/>
          <p:cNvSpPr txBox="1"/>
          <p:nvPr/>
        </p:nvSpPr>
        <p:spPr>
          <a:xfrm>
            <a:off x="1218150" y="4977150"/>
            <a:ext cx="6707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</a:rPr>
              <a:t>NOTE:</a:t>
            </a:r>
            <a:r>
              <a:rPr lang="en" sz="1800">
                <a:solidFill>
                  <a:schemeClr val="dk1"/>
                </a:solidFill>
              </a:rPr>
              <a:t> An </a:t>
            </a:r>
            <a:r>
              <a:rPr b="1" lang="en" sz="18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API </a:t>
            </a:r>
            <a:r>
              <a:rPr lang="en" sz="1800">
                <a:solidFill>
                  <a:schemeClr val="dk1"/>
                </a:solidFill>
              </a:rPr>
              <a:t>is a set of URLs that allow code to access things automatically (like AI models)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8409de4d6_0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Today — Anthropic API</a:t>
            </a:r>
            <a:endParaRPr/>
          </a:p>
        </p:txBody>
      </p:sp>
      <p:pic>
        <p:nvPicPr>
          <p:cNvPr id="100" name="Google Shape;100;g3b8409de4d6_0_21" title="Screenshot 2026-01-15 at 3.43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650" y="1551799"/>
            <a:ext cx="8062699" cy="51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8409de4d6_0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 Today — Claude Code</a:t>
            </a:r>
            <a:endParaRPr/>
          </a:p>
        </p:txBody>
      </p:sp>
      <p:pic>
        <p:nvPicPr>
          <p:cNvPr id="106" name="Google Shape;106;g3b8409de4d6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977" y="2226975"/>
            <a:ext cx="7632051" cy="27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8409de4d6_0_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</a:t>
            </a:r>
            <a:endParaRPr/>
          </a:p>
        </p:txBody>
      </p:sp>
      <p:sp>
        <p:nvSpPr>
          <p:cNvPr id="112" name="Google Shape;112;g3b8409de4d6_0_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409de4d6_0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we Tokenize?</a:t>
            </a:r>
            <a:endParaRPr/>
          </a:p>
        </p:txBody>
      </p:sp>
      <p:sp>
        <p:nvSpPr>
          <p:cNvPr id="118" name="Google Shape;118;g3b8409de4d6_0_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8409de4d6_0_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Byte-Pair Encoding Tokenization </a:t>
            </a:r>
            <a:r>
              <a:rPr lang="en" sz="1800"/>
              <a:t>(1994)</a:t>
            </a:r>
            <a:endParaRPr sz="1800"/>
          </a:p>
        </p:txBody>
      </p:sp>
      <p:sp>
        <p:nvSpPr>
          <p:cNvPr id="124" name="Google Shape;124;g3b8409de4d6_0_4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8409de4d6_0_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Programming: Classes</a:t>
            </a:r>
            <a:endParaRPr/>
          </a:p>
        </p:txBody>
      </p:sp>
      <p:sp>
        <p:nvSpPr>
          <p:cNvPr id="130" name="Google Shape;130;g3b8409de4d6_0_9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