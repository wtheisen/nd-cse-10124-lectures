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8" roundtripDataSignature="AMtx7mgTAqUK2jDlIVNpNW/mkDxBuJKB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customschemas.google.com/relationships/presentationmetadata" Target="metadata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g3b8409de4d6_0_5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" name="Google Shape;32;g3b8409de4d6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b8409de4d6_0_6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" name="Google Shape;38;g3b8409de4d6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b8409de4d6_0_6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" name="Google Shape;46;g3b8409de4d6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b8409de4d6_0_7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g3b8409de4d6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b8409de4d6_0_8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b8409de4d6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b938ea6dd9_0_5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b938ea6dd9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b938ea6dd9_0_6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b938ea6dd9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b938ea6dd9_0_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b938ea6dd9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b938ea6dd9_0_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b938ea6d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b938ea6dd9_0_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b938ea6dd9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b938ea6dd9_0_1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b938ea6dd9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ba79990f52_0_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9" name="Google Shape;129;g3ba79990f5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b938ea6dd9_0_1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b938ea6dd9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b938ea6dd9_0_4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b938ea6dd9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b8409de4d6_0_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b8409de4d6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b938ea6dd9_0_7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b938ea6dd9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b8409de4d6_0_4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b8409de4d6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b938ea6dd9_0_6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b938ea6dd9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b8409de4d6_0_10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b8409de4d6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b8409de4d6_0_11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b8409de4d6_0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b938ea6dd9_0_9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b938ea6dd9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b8409de4d6_0_10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b8409de4d6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/>
          <p:nvPr>
            <p:ph type="ctrTitle"/>
          </p:nvPr>
        </p:nvSpPr>
        <p:spPr>
          <a:xfrm>
            <a:off x="685800" y="2111123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1" name="Google Shape;11;p19"/>
          <p:cNvSpPr txBox="1"/>
          <p:nvPr>
            <p:ph idx="1" type="subTitle"/>
          </p:nvPr>
        </p:nvSpPr>
        <p:spPr>
          <a:xfrm>
            <a:off x="685800" y="3786738"/>
            <a:ext cx="7772400" cy="10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CB439"/>
              </a:buClr>
              <a:buSzPts val="3000"/>
              <a:buNone/>
              <a:defRPr b="1">
                <a:solidFill>
                  <a:srgbClr val="DCB439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2" name="Google Shape;12;p19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5" name="Google Shape;15;p2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16" name="Google Shape;16;p20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9" name="Google Shape;19;p23"/>
          <p:cNvSpPr txBox="1"/>
          <p:nvPr>
            <p:ph idx="1" type="body"/>
          </p:nvPr>
        </p:nvSpPr>
        <p:spPr>
          <a:xfrm>
            <a:off x="457200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9E9E"/>
              </a:buClr>
              <a:buSzPts val="1800"/>
              <a:buChar char="■"/>
              <a:defRPr>
                <a:solidFill>
                  <a:srgbClr val="9E9E9E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1709"/>
              </a:buClr>
              <a:buSzPts val="1800"/>
              <a:buChar char="●"/>
              <a:defRPr>
                <a:solidFill>
                  <a:srgbClr val="5F1709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65510"/>
              </a:buClr>
              <a:buSzPts val="1800"/>
              <a:buChar char="○"/>
              <a:defRPr>
                <a:solidFill>
                  <a:srgbClr val="465510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ABBC"/>
              </a:buClr>
              <a:buSzPts val="1800"/>
              <a:buChar char="■"/>
              <a:defRPr>
                <a:solidFill>
                  <a:srgbClr val="5AABBC"/>
                </a:solidFill>
              </a:defRPr>
            </a:lvl9pPr>
          </a:lstStyle>
          <a:p/>
        </p:txBody>
      </p:sp>
      <p:sp>
        <p:nvSpPr>
          <p:cNvPr id="20" name="Google Shape;20;p23"/>
          <p:cNvSpPr txBox="1"/>
          <p:nvPr>
            <p:ph idx="2" type="body"/>
          </p:nvPr>
        </p:nvSpPr>
        <p:spPr>
          <a:xfrm>
            <a:off x="4692274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21" name="Google Shape;21;p23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4" name="Google Shape;24;p24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5"/>
          <p:cNvSpPr txBox="1"/>
          <p:nvPr>
            <p:ph idx="1" type="body"/>
          </p:nvPr>
        </p:nvSpPr>
        <p:spPr>
          <a:xfrm>
            <a:off x="457200" y="5875079"/>
            <a:ext cx="82296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 sz="1800"/>
            </a:lvl1pPr>
          </a:lstStyle>
          <a:p/>
        </p:txBody>
      </p:sp>
      <p:sp>
        <p:nvSpPr>
          <p:cNvPr id="27" name="Google Shape;27;p25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6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B5B"/>
              </a:buClr>
              <a:buSzPts val="3600"/>
              <a:buFont typeface="Arial"/>
              <a:buNone/>
              <a:defRPr b="1" i="0" sz="36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●"/>
              <a:defRPr b="0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○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■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1.png"/><Relationship Id="rId5" Type="http://schemas.openxmlformats.org/officeDocument/2006/relationships/hyperlink" Target="https://docs.python.org/3/library/stdtypes.html#typesseq-rang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1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huggingface.co/unsloth/llama-3-8b/raw/main/tokenizer.json" TargetMode="External"/><Relationship Id="rId4" Type="http://schemas.openxmlformats.org/officeDocument/2006/relationships/image" Target="../media/image18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github.com/karpathy/nanochat/blob/master/nanochat/tokenizer.py" TargetMode="External"/><Relationship Id="rId4" Type="http://schemas.openxmlformats.org/officeDocument/2006/relationships/hyperlink" Target="https://github.com/karpathy/nanochat/blob/master/nanochat/tokenizer.py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3b8409de4d6_0_5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Programming Practice 01</a:t>
            </a:r>
            <a:endParaRPr/>
          </a:p>
        </p:txBody>
      </p:sp>
      <p:sp>
        <p:nvSpPr>
          <p:cNvPr id="35" name="Google Shape;35;g3b8409de4d6_0_5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a Colab Cell, write code to do the following: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	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/>
              <a:t> each of the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/>
              <a:t>egers 0-9,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lang="en"/>
              <a:t> out the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/>
              <a:t> 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/>
              <a:t> </a:t>
            </a:r>
            <a:r>
              <a:rPr lang="en"/>
              <a:t>plus</a:t>
            </a:r>
            <a:r>
              <a:rPr lang="en"/>
              <a:t> 5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DCB439"/>
                </a:solidFill>
              </a:rPr>
              <a:t>Challenge:</a:t>
            </a:r>
            <a:endParaRPr b="1">
              <a:solidFill>
                <a:srgbClr val="DCB439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 def</a:t>
            </a:r>
            <a:r>
              <a:rPr lang="en"/>
              <a:t>ine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that would accept any 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en"/>
              <a:t>highest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/>
              <a:t>eger, instead of only going to 9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b8409de4d6_0_6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65510"/>
                </a:solidFill>
              </a:rPr>
              <a:t>Programming Practice Solution 01</a:t>
            </a:r>
            <a:endParaRPr>
              <a:solidFill>
                <a:srgbClr val="465510"/>
              </a:solidFill>
            </a:endParaRPr>
          </a:p>
        </p:txBody>
      </p:sp>
      <p:pic>
        <p:nvPicPr>
          <p:cNvPr id="41" name="Google Shape;41;g3b8409de4d6_0_60" title="Screenshot 2026-01-20 at 10.37.48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1417638"/>
            <a:ext cx="6400800" cy="17716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2" name="Google Shape;42;g3b8409de4d6_0_60" title="Screenshot 2026-01-20 at 10.38.27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05075" y="3649175"/>
            <a:ext cx="4133850" cy="20764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43" name="Google Shape;43;g3b8409de4d6_0_60"/>
          <p:cNvSpPr txBox="1"/>
          <p:nvPr/>
        </p:nvSpPr>
        <p:spPr>
          <a:xfrm>
            <a:off x="1218150" y="5894150"/>
            <a:ext cx="6707700" cy="7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We can read about built-in </a:t>
            </a:r>
            <a:r>
              <a:rPr lang="en" sz="1800">
                <a:solidFill>
                  <a:schemeClr val="dk1"/>
                </a:solidFill>
              </a:rPr>
              <a:t>features</a:t>
            </a:r>
            <a:r>
              <a:rPr lang="en" sz="1800">
                <a:solidFill>
                  <a:schemeClr val="dk1"/>
                </a:solidFill>
              </a:rPr>
              <a:t> like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range</a:t>
            </a:r>
            <a:r>
              <a:rPr lang="en" sz="1800">
                <a:solidFill>
                  <a:schemeClr val="dk1"/>
                </a:solidFill>
              </a:rPr>
              <a:t> using the </a:t>
            </a:r>
            <a:r>
              <a:rPr b="1" lang="en" sz="1800" u="sng">
                <a:solidFill>
                  <a:srgbClr val="5AABBC"/>
                </a:solid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python documentation</a:t>
            </a:r>
            <a:r>
              <a:rPr lang="en" sz="1800">
                <a:solidFill>
                  <a:schemeClr val="dk1"/>
                </a:solidFill>
              </a:rPr>
              <a:t>!</a:t>
            </a:r>
            <a:endParaRPr b="1" sz="18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b8409de4d6_0_6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Errors</a:t>
            </a:r>
            <a:endParaRPr/>
          </a:p>
        </p:txBody>
      </p:sp>
      <p:sp>
        <p:nvSpPr>
          <p:cNvPr id="49" name="Google Shape;49;g3b8409de4d6_0_65"/>
          <p:cNvSpPr txBox="1"/>
          <p:nvPr>
            <p:ph idx="1" type="body"/>
          </p:nvPr>
        </p:nvSpPr>
        <p:spPr>
          <a:xfrm>
            <a:off x="457200" y="1417650"/>
            <a:ext cx="8229600" cy="11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Last class we saw an error when we tried to add an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/>
              <a:t> and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r>
              <a:rPr lang="en"/>
              <a:t> together.</a:t>
            </a:r>
            <a:endParaRPr/>
          </a:p>
        </p:txBody>
      </p:sp>
      <p:pic>
        <p:nvPicPr>
          <p:cNvPr id="50" name="Google Shape;50;g3b8409de4d6_0_65" title="Screenshot 2026-01-16 at 8.22.4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777400"/>
            <a:ext cx="8229599" cy="19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g3b8409de4d6_0_65"/>
          <p:cNvSpPr/>
          <p:nvPr/>
        </p:nvSpPr>
        <p:spPr>
          <a:xfrm>
            <a:off x="5097875" y="4372875"/>
            <a:ext cx="295200" cy="334200"/>
          </a:xfrm>
          <a:prstGeom prst="rect">
            <a:avLst/>
          </a:prstGeom>
          <a:noFill/>
          <a:ln cap="flat" cmpd="sng" w="38100">
            <a:solidFill>
              <a:srgbClr val="A314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g3b8409de4d6_0_65"/>
          <p:cNvSpPr/>
          <p:nvPr/>
        </p:nvSpPr>
        <p:spPr>
          <a:xfrm>
            <a:off x="5461275" y="4372875"/>
            <a:ext cx="555300" cy="334200"/>
          </a:xfrm>
          <a:prstGeom prst="rect">
            <a:avLst/>
          </a:prstGeom>
          <a:noFill/>
          <a:ln cap="flat" cmpd="sng" w="38100">
            <a:solidFill>
              <a:srgbClr val="A314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g3b8409de4d6_0_65"/>
          <p:cNvSpPr/>
          <p:nvPr/>
        </p:nvSpPr>
        <p:spPr>
          <a:xfrm>
            <a:off x="6536025" y="4372875"/>
            <a:ext cx="555300" cy="334200"/>
          </a:xfrm>
          <a:prstGeom prst="rect">
            <a:avLst/>
          </a:prstGeom>
          <a:noFill/>
          <a:ln cap="flat" cmpd="sng" w="38100">
            <a:solidFill>
              <a:srgbClr val="A314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b8409de4d6_0_7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Typecasting</a:t>
            </a:r>
            <a:endParaRPr/>
          </a:p>
        </p:txBody>
      </p:sp>
      <p:sp>
        <p:nvSpPr>
          <p:cNvPr id="59" name="Google Shape;59;g3b8409de4d6_0_74"/>
          <p:cNvSpPr txBox="1"/>
          <p:nvPr>
            <p:ph idx="1" type="body"/>
          </p:nvPr>
        </p:nvSpPr>
        <p:spPr>
          <a:xfrm>
            <a:off x="457200" y="1600200"/>
            <a:ext cx="8229600" cy="11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2B5B"/>
                </a:solidFill>
              </a:rPr>
              <a:t>Typecasting</a:t>
            </a:r>
            <a:r>
              <a:rPr lang="en"/>
              <a:t> allows us to </a:t>
            </a:r>
            <a:r>
              <a:rPr b="1" lang="en">
                <a:solidFill>
                  <a:srgbClr val="465510"/>
                </a:solidFill>
              </a:rPr>
              <a:t>change a variable or value to a different </a:t>
            </a:r>
            <a:r>
              <a:rPr b="1" lang="en" sz="1400">
                <a:solidFill>
                  <a:srgbClr val="465510"/>
                </a:solidFill>
              </a:rPr>
              <a:t>(supported)</a:t>
            </a:r>
            <a:r>
              <a:rPr b="1" lang="en">
                <a:solidFill>
                  <a:srgbClr val="465510"/>
                </a:solidFill>
              </a:rPr>
              <a:t> type!</a:t>
            </a:r>
            <a:endParaRPr b="1">
              <a:solidFill>
                <a:srgbClr val="465510"/>
              </a:solidFill>
            </a:endParaRPr>
          </a:p>
        </p:txBody>
      </p:sp>
      <p:pic>
        <p:nvPicPr>
          <p:cNvPr id="60" name="Google Shape;60;g3b8409de4d6_0_74" title="Screenshot 2026-01-16 at 8.26.27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2175" y="2822813"/>
            <a:ext cx="3678575" cy="1906175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1" name="Google Shape;61;g3b8409de4d6_0_74" title="Screenshot 2026-01-16 at 8.27.07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44225" y="2822825"/>
            <a:ext cx="3377609" cy="1906175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2" name="Google Shape;62;g3b8409de4d6_0_74"/>
          <p:cNvSpPr txBox="1"/>
          <p:nvPr/>
        </p:nvSpPr>
        <p:spPr>
          <a:xfrm>
            <a:off x="1218150" y="4949150"/>
            <a:ext cx="67077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It is especially useful to </a:t>
            </a:r>
            <a:r>
              <a:rPr b="1" lang="en" sz="1800">
                <a:solidFill>
                  <a:srgbClr val="002B5B"/>
                </a:solidFill>
              </a:rPr>
              <a:t>typecast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r>
              <a:rPr lang="en" sz="1800">
                <a:solidFill>
                  <a:schemeClr val="dk1"/>
                </a:solidFill>
              </a:rPr>
              <a:t> into an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800">
                <a:solidFill>
                  <a:schemeClr val="dk1"/>
                </a:solidFill>
              </a:rPr>
              <a:t> because usually when we read in data from a file, it all comes in as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endParaRPr b="1" sz="18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b8409de4d6_0_84"/>
          <p:cNvSpPr txBox="1"/>
          <p:nvPr>
            <p:ph idx="1" type="body"/>
          </p:nvPr>
        </p:nvSpPr>
        <p:spPr>
          <a:xfrm>
            <a:off x="457200" y="1600200"/>
            <a:ext cx="8229600" cy="477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def</a:t>
            </a:r>
            <a:r>
              <a:rPr lang="en"/>
              <a:t>ine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that can, g</a:t>
            </a:r>
            <a:r>
              <a:rPr lang="en"/>
              <a:t>iven a list of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ints</a:t>
            </a:r>
            <a:r>
              <a:rPr lang="en"/>
              <a:t>,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/>
              <a:t>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dictionary</a:t>
            </a:r>
            <a:r>
              <a:rPr lang="en"/>
              <a:t> of counts of consecutive pairs. 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For example: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pairs</a:t>
            </a:r>
            <a:r>
              <a:rPr b="1" lang="en" sz="24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 = count_consecutive_pairs([1, 2, 3, 1, 2])</a:t>
            </a:r>
            <a:endParaRPr b="1" sz="24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print(pairs)</a:t>
            </a:r>
            <a:endParaRPr b="1" sz="24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{(1, 2): 2, (2, 3): 1, (3, 1): 1}</a:t>
            </a:r>
            <a:endParaRPr b="1"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g3b8409de4d6_0_8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Programming Practice 02</a:t>
            </a:r>
            <a:endParaRPr/>
          </a:p>
        </p:txBody>
      </p:sp>
      <p:sp>
        <p:nvSpPr>
          <p:cNvPr id="69" name="Google Shape;69;g3b8409de4d6_0_84"/>
          <p:cNvSpPr/>
          <p:nvPr/>
        </p:nvSpPr>
        <p:spPr>
          <a:xfrm>
            <a:off x="420225" y="4720475"/>
            <a:ext cx="8266500" cy="14847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b938ea6dd9_0_5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65510"/>
                </a:solidFill>
              </a:rPr>
              <a:t>Programming Practice Solution 02</a:t>
            </a:r>
            <a:endParaRPr>
              <a:solidFill>
                <a:srgbClr val="465510"/>
              </a:solidFill>
            </a:endParaRPr>
          </a:p>
        </p:txBody>
      </p:sp>
      <p:pic>
        <p:nvPicPr>
          <p:cNvPr id="75" name="Google Shape;75;g3b938ea6dd9_0_50" title="Screenshot 2026-01-20 at 10.46.28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8975" y="1989300"/>
            <a:ext cx="7086051" cy="23882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76" name="Google Shape;76;g3b938ea6dd9_0_50"/>
          <p:cNvSpPr txBox="1"/>
          <p:nvPr/>
        </p:nvSpPr>
        <p:spPr>
          <a:xfrm>
            <a:off x="1218150" y="4949150"/>
            <a:ext cx="67077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.get(key, default)</a:t>
            </a:r>
            <a:r>
              <a:rPr lang="en" sz="1800">
                <a:solidFill>
                  <a:schemeClr val="dk1"/>
                </a:solidFill>
              </a:rPr>
              <a:t> allows us to specify a backup </a:t>
            </a:r>
            <a:r>
              <a:rPr lang="en" sz="1800">
                <a:solidFill>
                  <a:schemeClr val="dk1"/>
                </a:solidFill>
              </a:rPr>
              <a:t>value</a:t>
            </a:r>
            <a:r>
              <a:rPr lang="en" sz="1800">
                <a:solidFill>
                  <a:schemeClr val="dk1"/>
                </a:solidFill>
              </a:rPr>
              <a:t> to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800">
                <a:solidFill>
                  <a:schemeClr val="dk1"/>
                </a:solidFill>
              </a:rPr>
              <a:t> if the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key</a:t>
            </a:r>
            <a:r>
              <a:rPr lang="en" sz="1800">
                <a:solidFill>
                  <a:schemeClr val="dk1"/>
                </a:solidFill>
              </a:rPr>
              <a:t> doesn’t already exist in the </a:t>
            </a:r>
            <a:r>
              <a:rPr lang="en" sz="1800">
                <a:solidFill>
                  <a:schemeClr val="dk1"/>
                </a:solidFill>
              </a:rPr>
              <a:t>dictionary</a:t>
            </a:r>
            <a:endParaRPr b="1" sz="18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b938ea6dd9_0_6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List Slices</a:t>
            </a:r>
            <a:endParaRPr/>
          </a:p>
        </p:txBody>
      </p:sp>
      <p:sp>
        <p:nvSpPr>
          <p:cNvPr id="82" name="Google Shape;82;g3b938ea6dd9_0_60"/>
          <p:cNvSpPr txBox="1"/>
          <p:nvPr>
            <p:ph idx="1" type="body"/>
          </p:nvPr>
        </p:nvSpPr>
        <p:spPr>
          <a:xfrm>
            <a:off x="457200" y="1600200"/>
            <a:ext cx="8229600" cy="11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List slices allow us to access regions of the list instead of just individual values.</a:t>
            </a:r>
            <a:endParaRPr/>
          </a:p>
        </p:txBody>
      </p:sp>
      <p:sp>
        <p:nvSpPr>
          <p:cNvPr id="83" name="Google Shape;83;g3b938ea6dd9_0_60"/>
          <p:cNvSpPr txBox="1"/>
          <p:nvPr/>
        </p:nvSpPr>
        <p:spPr>
          <a:xfrm>
            <a:off x="1068450" y="6181800"/>
            <a:ext cx="7007100" cy="4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lang="en" sz="1800">
                <a:solidFill>
                  <a:schemeClr val="dk1"/>
                </a:solidFill>
              </a:rPr>
              <a:t>In a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en" sz="1800">
                <a:solidFill>
                  <a:schemeClr val="dk1"/>
                </a:solidFill>
              </a:rPr>
              <a:t> slice, the first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index</a:t>
            </a:r>
            <a:r>
              <a:rPr lang="en" sz="1800">
                <a:solidFill>
                  <a:schemeClr val="dk1"/>
                </a:solidFill>
              </a:rPr>
              <a:t> is inclusive, the second isn’t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84" name="Google Shape;84;g3b938ea6dd9_0_60" title="Screenshot 2026-01-20 at 10.53.11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8963" y="2895600"/>
            <a:ext cx="7286085" cy="31338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 txBox="1"/>
          <p:nvPr>
            <p:ph type="ctrTitle"/>
          </p:nvPr>
        </p:nvSpPr>
        <p:spPr>
          <a:xfrm>
            <a:off x="685800" y="2655750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>
                <a:solidFill>
                  <a:srgbClr val="002B5B"/>
                </a:solidFill>
              </a:rPr>
              <a:t>CSE </a:t>
            </a:r>
            <a:r>
              <a:rPr lang="en"/>
              <a:t>1</a:t>
            </a:r>
            <a:r>
              <a:rPr lang="en">
                <a:solidFill>
                  <a:srgbClr val="002B5B"/>
                </a:solidFill>
              </a:rPr>
              <a:t>0124</a:t>
            </a:r>
            <a:br>
              <a:rPr lang="en">
                <a:solidFill>
                  <a:srgbClr val="002B5B"/>
                </a:solidFill>
              </a:rPr>
            </a:br>
            <a:r>
              <a:rPr lang="en">
                <a:solidFill>
                  <a:srgbClr val="DCB439"/>
                </a:solidFill>
              </a:rPr>
              <a:t>Tokenization</a:t>
            </a:r>
            <a:endParaRPr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g3b938ea6dd9_0_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4325" y="207088"/>
            <a:ext cx="6767796" cy="5135563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g3b938ea6dd9_0_26"/>
          <p:cNvSpPr/>
          <p:nvPr/>
        </p:nvSpPr>
        <p:spPr>
          <a:xfrm>
            <a:off x="447725" y="4650825"/>
            <a:ext cx="2602200" cy="1620300"/>
          </a:xfrm>
          <a:prstGeom prst="roundRect">
            <a:avLst>
              <a:gd fmla="val 16667" name="adj"/>
            </a:avLst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96" name="Google Shape;96;g3b938ea6dd9_0_26"/>
          <p:cNvSpPr/>
          <p:nvPr/>
        </p:nvSpPr>
        <p:spPr>
          <a:xfrm>
            <a:off x="1524125" y="4462125"/>
            <a:ext cx="449400" cy="1887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g3b938ea6dd9_0_26"/>
          <p:cNvSpPr/>
          <p:nvPr/>
        </p:nvSpPr>
        <p:spPr>
          <a:xfrm>
            <a:off x="1255775" y="4769588"/>
            <a:ext cx="988500" cy="3054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Embeddings</a:t>
            </a:r>
            <a:endParaRPr sz="1000"/>
          </a:p>
        </p:txBody>
      </p:sp>
      <p:cxnSp>
        <p:nvCxnSpPr>
          <p:cNvPr id="98" name="Google Shape;98;g3b938ea6dd9_0_26"/>
          <p:cNvCxnSpPr>
            <a:stCxn id="97" idx="0"/>
          </p:cNvCxnSpPr>
          <p:nvPr/>
        </p:nvCxnSpPr>
        <p:spPr>
          <a:xfrm flipH="1" rot="10800000">
            <a:off x="1750025" y="4259588"/>
            <a:ext cx="2700" cy="5100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9" name="Google Shape;99;g3b938ea6dd9_0_26"/>
          <p:cNvSpPr/>
          <p:nvPr/>
        </p:nvSpPr>
        <p:spPr>
          <a:xfrm>
            <a:off x="1255775" y="5268200"/>
            <a:ext cx="988500" cy="305400"/>
          </a:xfrm>
          <a:prstGeom prst="roundRect">
            <a:avLst>
              <a:gd fmla="val 16667" name="adj"/>
            </a:avLst>
          </a:prstGeom>
          <a:solidFill>
            <a:srgbClr val="FFF9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Tokenizer</a:t>
            </a:r>
            <a:endParaRPr sz="1000"/>
          </a:p>
        </p:txBody>
      </p:sp>
      <p:cxnSp>
        <p:nvCxnSpPr>
          <p:cNvPr id="100" name="Google Shape;100;g3b938ea6dd9_0_26"/>
          <p:cNvCxnSpPr>
            <a:stCxn id="99" idx="0"/>
            <a:endCxn id="97" idx="2"/>
          </p:cNvCxnSpPr>
          <p:nvPr/>
        </p:nvCxnSpPr>
        <p:spPr>
          <a:xfrm rot="10800000">
            <a:off x="1750025" y="5075000"/>
            <a:ext cx="0" cy="193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1" name="Google Shape;101;g3b938ea6dd9_0_26"/>
          <p:cNvSpPr txBox="1"/>
          <p:nvPr>
            <p:ph type="title"/>
          </p:nvPr>
        </p:nvSpPr>
        <p:spPr>
          <a:xfrm>
            <a:off x="4048400" y="5766800"/>
            <a:ext cx="4578300" cy="80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Where are we?</a:t>
            </a:r>
            <a:endParaRPr sz="4800"/>
          </a:p>
        </p:txBody>
      </p:sp>
      <p:sp>
        <p:nvSpPr>
          <p:cNvPr id="102" name="Google Shape;102;g3b938ea6dd9_0_26"/>
          <p:cNvSpPr/>
          <p:nvPr/>
        </p:nvSpPr>
        <p:spPr>
          <a:xfrm>
            <a:off x="559425" y="5766800"/>
            <a:ext cx="2379000" cy="305400"/>
          </a:xfrm>
          <a:prstGeom prst="roundRect">
            <a:avLst>
              <a:gd fmla="val 16667" name="adj"/>
            </a:avLst>
          </a:prstGeom>
          <a:solidFill>
            <a:srgbClr val="95DCF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“Please help me with my homework!!”</a:t>
            </a:r>
            <a:endParaRPr sz="1000"/>
          </a:p>
        </p:txBody>
      </p:sp>
      <p:cxnSp>
        <p:nvCxnSpPr>
          <p:cNvPr id="103" name="Google Shape;103;g3b938ea6dd9_0_26"/>
          <p:cNvCxnSpPr>
            <a:stCxn id="102" idx="0"/>
            <a:endCxn id="99" idx="2"/>
          </p:cNvCxnSpPr>
          <p:nvPr/>
        </p:nvCxnSpPr>
        <p:spPr>
          <a:xfrm flipH="1" rot="10800000">
            <a:off x="1748925" y="5573600"/>
            <a:ext cx="1200" cy="193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4" name="Google Shape;104;g3b938ea6dd9_0_26"/>
          <p:cNvSpPr/>
          <p:nvPr/>
        </p:nvSpPr>
        <p:spPr>
          <a:xfrm>
            <a:off x="1475375" y="1022900"/>
            <a:ext cx="546900" cy="3492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g3b938ea6dd9_0_26"/>
          <p:cNvSpPr/>
          <p:nvPr/>
        </p:nvSpPr>
        <p:spPr>
          <a:xfrm>
            <a:off x="202775" y="207100"/>
            <a:ext cx="3092100" cy="9345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106" name="Google Shape;106;g3b938ea6dd9_0_26"/>
          <p:cNvSpPr/>
          <p:nvPr/>
        </p:nvSpPr>
        <p:spPr>
          <a:xfrm>
            <a:off x="447725" y="361750"/>
            <a:ext cx="2602200" cy="6252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Response</a:t>
            </a:r>
            <a:r>
              <a:rPr lang="en" sz="1000"/>
              <a:t>: “Certainly, as a large language model I’d be happy to help you cheat on your homework assignment”</a:t>
            </a:r>
            <a:endParaRPr sz="1000"/>
          </a:p>
        </p:txBody>
      </p:sp>
      <p:cxnSp>
        <p:nvCxnSpPr>
          <p:cNvPr id="107" name="Google Shape;107;g3b938ea6dd9_0_26"/>
          <p:cNvCxnSpPr>
            <a:endCxn id="106" idx="2"/>
          </p:cNvCxnSpPr>
          <p:nvPr/>
        </p:nvCxnSpPr>
        <p:spPr>
          <a:xfrm rot="10800000">
            <a:off x="1748825" y="986950"/>
            <a:ext cx="4800" cy="4515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b938ea6dd9_0_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Tokens Today — OpenAI API</a:t>
            </a:r>
            <a:endParaRPr/>
          </a:p>
        </p:txBody>
      </p:sp>
      <p:pic>
        <p:nvPicPr>
          <p:cNvPr id="113" name="Google Shape;113;g3b938ea6dd9_0_0" title="Screenshot 2026-01-15 at 3.42.2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6338" y="1809062"/>
            <a:ext cx="7811302" cy="2776676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g3b938ea6dd9_0_0"/>
          <p:cNvSpPr txBox="1"/>
          <p:nvPr/>
        </p:nvSpPr>
        <p:spPr>
          <a:xfrm>
            <a:off x="1218150" y="4977150"/>
            <a:ext cx="67077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An </a:t>
            </a:r>
            <a:r>
              <a:rPr b="1" lang="en" sz="1800">
                <a:solidFill>
                  <a:srgbClr val="980000"/>
                </a:solidFill>
                <a:latin typeface="Consolas"/>
                <a:ea typeface="Consolas"/>
                <a:cs typeface="Consolas"/>
                <a:sym typeface="Consolas"/>
              </a:rPr>
              <a:t>API </a:t>
            </a:r>
            <a:r>
              <a:rPr lang="en" sz="1800">
                <a:solidFill>
                  <a:schemeClr val="dk1"/>
                </a:solidFill>
              </a:rPr>
              <a:t>is a set of URLs that allow code to access things automatically (like AI models)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b938ea6dd9_0_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Tokens Today — Anthropic API</a:t>
            </a:r>
            <a:endParaRPr/>
          </a:p>
        </p:txBody>
      </p:sp>
      <p:pic>
        <p:nvPicPr>
          <p:cNvPr id="120" name="Google Shape;120;g3b938ea6dd9_0_6" title="Screenshot 2026-01-15 at 3.43.15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0650" y="1551799"/>
            <a:ext cx="8062699" cy="5115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b938ea6dd9_0_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Tokens Today — Claude Code</a:t>
            </a:r>
            <a:endParaRPr/>
          </a:p>
        </p:txBody>
      </p:sp>
      <p:pic>
        <p:nvPicPr>
          <p:cNvPr id="126" name="Google Shape;126;g3b938ea6dd9_0_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5977" y="2226975"/>
            <a:ext cx="7632051" cy="2724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ba79990f52_0_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Last Class - Text as Data</a:t>
            </a:r>
            <a:endParaRPr/>
          </a:p>
        </p:txBody>
      </p:sp>
      <p:sp>
        <p:nvSpPr>
          <p:cNvPr id="132" name="Google Shape;132;g3ba79990f52_0_5"/>
          <p:cNvSpPr txBox="1"/>
          <p:nvPr>
            <p:ph idx="1" type="body"/>
          </p:nvPr>
        </p:nvSpPr>
        <p:spPr>
          <a:xfrm>
            <a:off x="457200" y="1765116"/>
            <a:ext cx="3078000" cy="4459800"/>
          </a:xfrm>
          <a:prstGeom prst="rect">
            <a:avLst/>
          </a:prstGeom>
          <a:noFill/>
          <a:ln cap="flat" cmpd="sng" w="3555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85325" lIns="85325" spcFirstLastPara="1" rIns="85325" wrap="square" tIns="853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"Jabberwocky"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by Lewis Carroll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'Twas brillig, and the slithy toves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Did gyre and gimble in the wabe;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All mimsy were the borogoves,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And the mome raths outgrabe.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"Beware the Jabberwock, my son!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The jaws that bite, the claws that catch!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Beware the Jubjub bird, and shun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The frumious Bandersnatch!"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He took his vorpal sword in hand: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Long time the manxome foe he sought—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So rested he by the Tumtum tree,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And stood awhile in thought.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" name="Google Shape;133;g3ba79990f52_0_5"/>
          <p:cNvSpPr txBox="1"/>
          <p:nvPr/>
        </p:nvSpPr>
        <p:spPr>
          <a:xfrm>
            <a:off x="1401418" y="1465801"/>
            <a:ext cx="21336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85325" lIns="85325" spcFirstLastPara="1" rIns="85325" wrap="square" tIns="853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80"/>
              <a:buFont typeface="Arial"/>
              <a:buNone/>
            </a:pPr>
            <a:r>
              <a:rPr b="1" i="0" lang="en" sz="1680" u="none" cap="none" strike="noStrike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jabberwocky.txt</a:t>
            </a:r>
            <a:endParaRPr b="1" i="0" sz="1680" u="none" cap="none" strike="noStrike">
              <a:solidFill>
                <a:srgbClr val="DCB43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4" name="Google Shape;134;g3ba79990f52_0_5"/>
          <p:cNvSpPr/>
          <p:nvPr/>
        </p:nvSpPr>
        <p:spPr>
          <a:xfrm>
            <a:off x="457200" y="1417650"/>
            <a:ext cx="3078000" cy="347400"/>
          </a:xfrm>
          <a:prstGeom prst="rect">
            <a:avLst/>
          </a:prstGeom>
          <a:noFill/>
          <a:ln cap="flat" cmpd="sng" w="3555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5325" lIns="85325" spcFirstLastPara="1" rIns="85325" wrap="square" tIns="853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7"/>
              <a:buFont typeface="Arial"/>
              <a:buNone/>
            </a:pPr>
            <a:r>
              <a:t/>
            </a:r>
            <a:endParaRPr b="0" i="0" sz="130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5" name="Google Shape;135;g3ba79990f52_0_5"/>
          <p:cNvPicPr preferRelativeResize="0"/>
          <p:nvPr/>
        </p:nvPicPr>
        <p:blipFill rotWithShape="1">
          <a:blip r:embed="rId3">
            <a:alphaModFix/>
          </a:blip>
          <a:srcRect b="12536" l="18278" r="18430" t="12303"/>
          <a:stretch/>
        </p:blipFill>
        <p:spPr>
          <a:xfrm>
            <a:off x="493859" y="1447565"/>
            <a:ext cx="242227" cy="2876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b938ea6dd9_0_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do we Tokenize?</a:t>
            </a:r>
            <a:endParaRPr/>
          </a:p>
        </p:txBody>
      </p:sp>
      <p:sp>
        <p:nvSpPr>
          <p:cNvPr id="141" name="Google Shape;141;g3b938ea6dd9_0_16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600"/>
              </a:spcBef>
              <a:spcAft>
                <a:spcPts val="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Machine Readability:</a:t>
            </a:r>
            <a:r>
              <a:rPr lang="en" sz="2200"/>
              <a:t> Models work with numbers, not letters; </a:t>
            </a:r>
            <a:r>
              <a:rPr b="1" lang="en" sz="2200">
                <a:solidFill>
                  <a:srgbClr val="DCB439"/>
                </a:solidFill>
              </a:rPr>
              <a:t>tokens become numerical IDs</a:t>
            </a:r>
            <a:r>
              <a:rPr lang="en" sz="2200"/>
              <a:t> for the model to understand relationships and context.</a:t>
            </a:r>
            <a:endParaRPr sz="2200"/>
          </a:p>
          <a:p>
            <a:pPr indent="-368300" lvl="0" marL="457200" rtl="0" algn="l">
              <a:spcBef>
                <a:spcPts val="1000"/>
              </a:spcBef>
              <a:spcAft>
                <a:spcPts val="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Efficiency &amp; Scalability:</a:t>
            </a:r>
            <a:r>
              <a:rPr lang="en" sz="2200"/>
              <a:t> Breaking text into subwords (like "help" + "ful") </a:t>
            </a:r>
            <a:r>
              <a:rPr b="1" lang="en" sz="2200">
                <a:solidFill>
                  <a:srgbClr val="DCB439"/>
                </a:solidFill>
              </a:rPr>
              <a:t>reduces the vocabulary size</a:t>
            </a:r>
            <a:r>
              <a:rPr lang="en" sz="2200"/>
              <a:t>, meaning fewer unique items to learn, </a:t>
            </a:r>
            <a:r>
              <a:rPr b="1" lang="en" sz="2200">
                <a:solidFill>
                  <a:srgbClr val="465510"/>
                </a:solidFill>
              </a:rPr>
              <a:t>making models smaller and faster</a:t>
            </a:r>
            <a:r>
              <a:rPr lang="en" sz="2200"/>
              <a:t> than word-based methods.</a:t>
            </a:r>
            <a:endParaRPr sz="2200"/>
          </a:p>
          <a:p>
            <a:pPr indent="-368300" lvl="0" marL="457200" rtl="0" algn="l">
              <a:spcBef>
                <a:spcPts val="1000"/>
              </a:spcBef>
              <a:spcAft>
                <a:spcPts val="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Handling Novelty:</a:t>
            </a:r>
            <a:r>
              <a:rPr lang="en" sz="2200"/>
              <a:t> Subword tokenization (like BPE) helps models understand new or misspelled words by </a:t>
            </a:r>
            <a:r>
              <a:rPr b="1" lang="en" sz="2200">
                <a:solidFill>
                  <a:srgbClr val="DCB439"/>
                </a:solidFill>
              </a:rPr>
              <a:t>breaking them into known parts, improving robustness</a:t>
            </a:r>
            <a:r>
              <a:rPr lang="en" sz="2200"/>
              <a:t>.</a:t>
            </a:r>
            <a:endParaRPr sz="2200"/>
          </a:p>
          <a:p>
            <a:pPr indent="-368300" lvl="0" marL="457200" rtl="0" algn="l">
              <a:spcBef>
                <a:spcPts val="1000"/>
              </a:spcBef>
              <a:spcAft>
                <a:spcPts val="100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Contextual Understanding:</a:t>
            </a:r>
            <a:r>
              <a:rPr lang="en" sz="2200"/>
              <a:t> It provides granular units (tokens) for the model </a:t>
            </a:r>
            <a:r>
              <a:rPr b="1" lang="en" sz="2200">
                <a:solidFill>
                  <a:srgbClr val="DCB439"/>
                </a:solidFill>
              </a:rPr>
              <a:t>to predict the next element in a sequence</a:t>
            </a:r>
            <a:r>
              <a:rPr lang="en" sz="2200"/>
              <a:t>, forming the basis of its language generation.</a:t>
            </a:r>
            <a:endParaRPr sz="22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b938ea6dd9_0_4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Imports</a:t>
            </a:r>
            <a:endParaRPr/>
          </a:p>
        </p:txBody>
      </p:sp>
      <p:sp>
        <p:nvSpPr>
          <p:cNvPr id="147" name="Google Shape;147;g3b938ea6dd9_0_45"/>
          <p:cNvSpPr txBox="1"/>
          <p:nvPr>
            <p:ph idx="1" type="body"/>
          </p:nvPr>
        </p:nvSpPr>
        <p:spPr>
          <a:xfrm>
            <a:off x="457200" y="1600200"/>
            <a:ext cx="8229600" cy="11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Imports</a:t>
            </a:r>
            <a:r>
              <a:rPr lang="en"/>
              <a:t> allow us to access useful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lang="en"/>
              <a:t> that are not built-in to </a:t>
            </a:r>
            <a:r>
              <a:rPr lang="en"/>
              <a:t>python.</a:t>
            </a:r>
            <a:endParaRPr/>
          </a:p>
        </p:txBody>
      </p:sp>
      <p:pic>
        <p:nvPicPr>
          <p:cNvPr id="148" name="Google Shape;148;g3b938ea6dd9_0_45" title="Screenshot 2026-01-20 at 11.21.57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0625" y="5016685"/>
            <a:ext cx="7422761" cy="95684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49" name="Google Shape;149;g3b938ea6dd9_0_45" title="Screenshot 2026-01-20 at 11.20.17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25483" y="2743201"/>
            <a:ext cx="4093052" cy="2114645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50" name="Google Shape;150;g3b938ea6dd9_0_45"/>
          <p:cNvSpPr txBox="1"/>
          <p:nvPr/>
        </p:nvSpPr>
        <p:spPr>
          <a:xfrm>
            <a:off x="1797000" y="6183400"/>
            <a:ext cx="5550000" cy="4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These are almost always at the top of the file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b8409de4d6_0_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a Token?</a:t>
            </a:r>
            <a:endParaRPr/>
          </a:p>
        </p:txBody>
      </p:sp>
      <p:sp>
        <p:nvSpPr>
          <p:cNvPr id="156" name="Google Shape;156;g3b8409de4d6_0_4"/>
          <p:cNvSpPr txBox="1"/>
          <p:nvPr>
            <p:ph idx="1" type="body"/>
          </p:nvPr>
        </p:nvSpPr>
        <p:spPr>
          <a:xfrm>
            <a:off x="457200" y="3339350"/>
            <a:ext cx="8229600" cy="322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“</a:t>
            </a:r>
            <a:r>
              <a:rPr b="1" lang="en">
                <a:solidFill>
                  <a:srgbClr val="002B5B"/>
                </a:solidFill>
              </a:rPr>
              <a:t>Tokens</a:t>
            </a:r>
            <a:r>
              <a:rPr lang="en"/>
              <a:t> are </a:t>
            </a:r>
            <a:r>
              <a:rPr b="1" lang="en">
                <a:solidFill>
                  <a:srgbClr val="465510"/>
                </a:solidFill>
              </a:rPr>
              <a:t>words</a:t>
            </a:r>
            <a:r>
              <a:rPr lang="en"/>
              <a:t>, </a:t>
            </a:r>
            <a:r>
              <a:rPr b="1" lang="en">
                <a:solidFill>
                  <a:srgbClr val="465510"/>
                </a:solidFill>
              </a:rPr>
              <a:t>character sets</a:t>
            </a:r>
            <a:r>
              <a:rPr lang="en"/>
              <a:t>, or </a:t>
            </a:r>
            <a:r>
              <a:rPr b="1" lang="en">
                <a:solidFill>
                  <a:srgbClr val="465510"/>
                </a:solidFill>
              </a:rPr>
              <a:t>combinations of words and punctuation</a:t>
            </a:r>
            <a:r>
              <a:rPr lang="en"/>
              <a:t> that are generated by </a:t>
            </a:r>
            <a:r>
              <a:rPr b="1" lang="en">
                <a:solidFill>
                  <a:srgbClr val="DCB439"/>
                </a:solidFill>
              </a:rPr>
              <a:t>LLMs</a:t>
            </a:r>
            <a:r>
              <a:rPr lang="en"/>
              <a:t> when they decompose text.” 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— Microsoft</a:t>
            </a:r>
            <a:endParaRPr/>
          </a:p>
        </p:txBody>
      </p:sp>
      <p:pic>
        <p:nvPicPr>
          <p:cNvPr id="157" name="Google Shape;157;g3b8409de4d6_0_4" title="Screenshot 2026-01-20 at 11.14.55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1650" y="1664176"/>
            <a:ext cx="7440699" cy="124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b938ea6dd9_0_7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Tokenization</a:t>
            </a:r>
            <a:endParaRPr/>
          </a:p>
        </p:txBody>
      </p:sp>
      <p:sp>
        <p:nvSpPr>
          <p:cNvPr id="163" name="Google Shape;163;g3b938ea6dd9_0_75"/>
          <p:cNvSpPr txBox="1"/>
          <p:nvPr>
            <p:ph idx="1" type="body"/>
          </p:nvPr>
        </p:nvSpPr>
        <p:spPr>
          <a:xfrm>
            <a:off x="457200" y="3339350"/>
            <a:ext cx="8229600" cy="322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“</a:t>
            </a:r>
            <a:r>
              <a:rPr b="1" lang="en">
                <a:solidFill>
                  <a:srgbClr val="002B5B"/>
                </a:solidFill>
              </a:rPr>
              <a:t>Tokens</a:t>
            </a:r>
            <a:r>
              <a:rPr lang="en"/>
              <a:t> are </a:t>
            </a:r>
            <a:r>
              <a:rPr b="1" lang="en">
                <a:solidFill>
                  <a:srgbClr val="465510"/>
                </a:solidFill>
              </a:rPr>
              <a:t>words</a:t>
            </a:r>
            <a:r>
              <a:rPr lang="en"/>
              <a:t>, </a:t>
            </a:r>
            <a:r>
              <a:rPr b="1" lang="en">
                <a:solidFill>
                  <a:srgbClr val="465510"/>
                </a:solidFill>
              </a:rPr>
              <a:t>character sets</a:t>
            </a:r>
            <a:r>
              <a:rPr lang="en"/>
              <a:t>, or </a:t>
            </a:r>
            <a:r>
              <a:rPr b="1" lang="en">
                <a:solidFill>
                  <a:srgbClr val="465510"/>
                </a:solidFill>
              </a:rPr>
              <a:t>combinations of words and punctuation</a:t>
            </a:r>
            <a:r>
              <a:rPr lang="en"/>
              <a:t> that are generated by </a:t>
            </a:r>
            <a:r>
              <a:rPr b="1" lang="en">
                <a:solidFill>
                  <a:srgbClr val="DCB439"/>
                </a:solidFill>
              </a:rPr>
              <a:t>LLMs</a:t>
            </a:r>
            <a:r>
              <a:rPr lang="en"/>
              <a:t> when they decompose text.” 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— Microsoft</a:t>
            </a:r>
            <a:endParaRPr/>
          </a:p>
        </p:txBody>
      </p:sp>
      <p:pic>
        <p:nvPicPr>
          <p:cNvPr id="164" name="Google Shape;164;g3b938ea6dd9_0_75" title="Screenshot 2026-01-20 at 11.14.55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1650" y="1664176"/>
            <a:ext cx="7440699" cy="124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b8409de4d6_0_4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Byte-Pair Encoding Tokenization </a:t>
            </a:r>
            <a:r>
              <a:rPr lang="en" sz="1800">
                <a:solidFill>
                  <a:srgbClr val="A31415"/>
                </a:solidFill>
              </a:rPr>
              <a:t>(1994)</a:t>
            </a:r>
            <a:endParaRPr sz="1800">
              <a:solidFill>
                <a:srgbClr val="A31415"/>
              </a:solidFill>
            </a:endParaRPr>
          </a:p>
        </p:txBody>
      </p:sp>
      <p:sp>
        <p:nvSpPr>
          <p:cNvPr id="170" name="Google Shape;170;g3b8409de4d6_0_40"/>
          <p:cNvSpPr txBox="1"/>
          <p:nvPr>
            <p:ph idx="1" type="body"/>
          </p:nvPr>
        </p:nvSpPr>
        <p:spPr>
          <a:xfrm>
            <a:off x="457200" y="1600200"/>
            <a:ext cx="8229600" cy="46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2B5B"/>
                </a:solidFill>
              </a:rPr>
              <a:t>BPE</a:t>
            </a:r>
            <a:r>
              <a:rPr lang="en"/>
              <a:t> is </a:t>
            </a:r>
            <a:r>
              <a:rPr lang="en"/>
              <a:t>an algorithm for encoding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r>
              <a:rPr lang="en"/>
              <a:t> of text into smaller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r>
              <a:rPr lang="en"/>
              <a:t> by creating and </a:t>
            </a:r>
            <a:r>
              <a:rPr b="1" lang="en" u="sng">
                <a:solidFill>
                  <a:srgbClr val="DCB439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using a translation table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 slightly modified version of the algorithm is </a:t>
            </a:r>
            <a:r>
              <a:rPr b="1" lang="en">
                <a:solidFill>
                  <a:srgbClr val="465510"/>
                </a:solidFill>
              </a:rPr>
              <a:t>used in LLM tokenizers</a:t>
            </a:r>
            <a:endParaRPr b="1">
              <a:solidFill>
                <a:srgbClr val="465510"/>
              </a:solidFill>
            </a:endParaRPr>
          </a:p>
        </p:txBody>
      </p:sp>
      <p:pic>
        <p:nvPicPr>
          <p:cNvPr id="171" name="Google Shape;171;g3b8409de4d6_0_40" title="Screenshot 2026-01-20 at 11.34.44 AM 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27575" y="2857525"/>
            <a:ext cx="3156300" cy="2151525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g3b8409de4d6_0_40"/>
          <p:cNvSpPr txBox="1"/>
          <p:nvPr/>
        </p:nvSpPr>
        <p:spPr>
          <a:xfrm>
            <a:off x="1642775" y="3406725"/>
            <a:ext cx="3310200" cy="128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lang="en" sz="1800">
                <a:solidFill>
                  <a:schemeClr val="dk1"/>
                </a:solidFill>
              </a:rPr>
              <a:t>The size of the token vocabulary, in the case of GPT-3.5 and GPT-4, is 100258 tokens.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b938ea6dd9_0_6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Byte-Pair Encoding Tokenization </a:t>
            </a:r>
            <a:r>
              <a:rPr lang="en" sz="1800"/>
              <a:t>(1994)</a:t>
            </a:r>
            <a:endParaRPr sz="1800"/>
          </a:p>
        </p:txBody>
      </p:sp>
      <p:pic>
        <p:nvPicPr>
          <p:cNvPr id="178" name="Google Shape;178;g3b938ea6dd9_0_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81113" y="1720204"/>
            <a:ext cx="6581775" cy="45233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b8409de4d6_0_10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</a:t>
            </a: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rogramming</a:t>
            </a:r>
            <a:r>
              <a:rPr lang="en"/>
              <a:t>: Classes</a:t>
            </a:r>
            <a:endParaRPr/>
          </a:p>
        </p:txBody>
      </p:sp>
      <p:sp>
        <p:nvSpPr>
          <p:cNvPr id="184" name="Google Shape;184;g3b8409de4d6_0_103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is a data type that defines both data, and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lang="en"/>
              <a:t> used to manipulate the data. A Specific instances of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are called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objects</a:t>
            </a:r>
            <a:r>
              <a:rPr lang="en"/>
              <a:t>.</a:t>
            </a:r>
            <a:endParaRPr/>
          </a:p>
        </p:txBody>
      </p:sp>
      <p:pic>
        <p:nvPicPr>
          <p:cNvPr id="185" name="Google Shape;185;g3b8409de4d6_0_103" title="Screenshot 2026-01-20 at 11.40.3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8643" y="3590925"/>
            <a:ext cx="5326725" cy="12596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86" name="Google Shape;186;g3b8409de4d6_0_103" title="Screenshot 2026-01-20 at 11.41.41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07675" y="5098875"/>
            <a:ext cx="7328650" cy="6548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87" name="Google Shape;187;g3b8409de4d6_0_103"/>
          <p:cNvSpPr txBox="1"/>
          <p:nvPr/>
        </p:nvSpPr>
        <p:spPr>
          <a:xfrm>
            <a:off x="457200" y="60020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We can use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dir(class)</a:t>
            </a:r>
            <a:r>
              <a:rPr lang="en" sz="1800">
                <a:solidFill>
                  <a:schemeClr val="dk1"/>
                </a:solidFill>
              </a:rPr>
              <a:t> to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lang="en" sz="1800">
                <a:solidFill>
                  <a:schemeClr val="dk1"/>
                </a:solidFill>
              </a:rPr>
              <a:t> out the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attributes</a:t>
            </a:r>
            <a:r>
              <a:rPr lang="en" sz="1800">
                <a:solidFill>
                  <a:schemeClr val="dk1"/>
                </a:solidFill>
              </a:rPr>
              <a:t> and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lang="en" sz="1800">
                <a:solidFill>
                  <a:schemeClr val="dk1"/>
                </a:solidFill>
              </a:rPr>
              <a:t> a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800">
                <a:solidFill>
                  <a:schemeClr val="dk1"/>
                </a:solidFill>
              </a:rPr>
              <a:t> has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b8409de4d6_0_1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Regex</a:t>
            </a:r>
            <a:endParaRPr/>
          </a:p>
        </p:txBody>
      </p:sp>
      <p:sp>
        <p:nvSpPr>
          <p:cNvPr id="193" name="Google Shape;193;g3b8409de4d6_0_118"/>
          <p:cNvSpPr txBox="1"/>
          <p:nvPr>
            <p:ph idx="1" type="body"/>
          </p:nvPr>
        </p:nvSpPr>
        <p:spPr>
          <a:xfrm>
            <a:off x="457200" y="1600200"/>
            <a:ext cx="8229600" cy="124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2B5B"/>
                </a:solidFill>
              </a:rPr>
              <a:t>Regex</a:t>
            </a:r>
            <a:r>
              <a:rPr lang="en"/>
              <a:t> allows us to define patterns that we can use to filter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endParaRPr b="1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g3b8409de4d6_0_118"/>
          <p:cNvSpPr txBox="1"/>
          <p:nvPr/>
        </p:nvSpPr>
        <p:spPr>
          <a:xfrm>
            <a:off x="457200" y="60132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b="1" lang="en" sz="1800">
                <a:solidFill>
                  <a:srgbClr val="002B5B"/>
                </a:solidFill>
              </a:rPr>
              <a:t>Regex</a:t>
            </a:r>
            <a:r>
              <a:rPr lang="en" sz="1800">
                <a:solidFill>
                  <a:schemeClr val="dk1"/>
                </a:solidFill>
              </a:rPr>
              <a:t> is super confusing and almost a language unto itself, </a:t>
            </a:r>
            <a:r>
              <a:rPr b="1" lang="en" sz="1800">
                <a:solidFill>
                  <a:srgbClr val="DCB439"/>
                </a:solidFill>
              </a:rPr>
              <a:t>only sickos have it memorized</a:t>
            </a:r>
            <a:r>
              <a:rPr lang="en" sz="1800">
                <a:solidFill>
                  <a:schemeClr val="dk1"/>
                </a:solidFill>
              </a:rPr>
              <a:t>. </a:t>
            </a:r>
            <a:r>
              <a:rPr b="1" lang="en" sz="1800">
                <a:solidFill>
                  <a:srgbClr val="465510"/>
                </a:solidFill>
              </a:rPr>
              <a:t>Just use a cheat sheet or ask chat</a:t>
            </a:r>
            <a:r>
              <a:rPr lang="en" sz="1800">
                <a:solidFill>
                  <a:schemeClr val="dk1"/>
                </a:solidFill>
              </a:rPr>
              <a:t>.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195" name="Google Shape;195;g3b8409de4d6_0_1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64750" y="2846400"/>
            <a:ext cx="5614492" cy="2862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b938ea6dd9_0_9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Regex in Tokenization</a:t>
            </a:r>
            <a:endParaRPr/>
          </a:p>
        </p:txBody>
      </p:sp>
      <p:sp>
        <p:nvSpPr>
          <p:cNvPr id="201" name="Google Shape;201;g3b938ea6dd9_0_93"/>
          <p:cNvSpPr txBox="1"/>
          <p:nvPr>
            <p:ph idx="1" type="body"/>
          </p:nvPr>
        </p:nvSpPr>
        <p:spPr>
          <a:xfrm>
            <a:off x="457200" y="1600200"/>
            <a:ext cx="8229600" cy="98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GPT4_SPLIT_PATTERN =</a:t>
            </a:r>
            <a:r>
              <a:rPr lang="en"/>
              <a:t> </a:t>
            </a:r>
            <a:r>
              <a:rPr b="1" lang="en" sz="10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r"""'(?i:[sdmt]|ll|ve|re)|[^\r\n\p{L}\p{N}]?+\p{L}+|\p{N}{1,3}|?[^\s\p{L}\p{N}]++[\r\n]*|\s*[\r\n]|\s+(?!\S)|\s+"""</a:t>
            </a:r>
            <a:endParaRPr b="1" sz="10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g3b938ea6dd9_0_93"/>
          <p:cNvSpPr txBox="1"/>
          <p:nvPr/>
        </p:nvSpPr>
        <p:spPr>
          <a:xfrm>
            <a:off x="457200" y="2588400"/>
            <a:ext cx="8229600" cy="385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2B5B"/>
                </a:solidFill>
              </a:rPr>
              <a:t>BPE</a:t>
            </a:r>
            <a:r>
              <a:rPr lang="en" sz="3000">
                <a:solidFill>
                  <a:schemeClr val="dk1"/>
                </a:solidFill>
              </a:rPr>
              <a:t> is excellent at breaking down words statistically, but </a:t>
            </a:r>
            <a:r>
              <a:rPr b="1" lang="en" sz="3000">
                <a:solidFill>
                  <a:srgbClr val="A31415"/>
                </a:solidFill>
              </a:rPr>
              <a:t>it can make suboptimal merges</a:t>
            </a:r>
            <a:r>
              <a:rPr lang="en" sz="3000">
                <a:solidFill>
                  <a:schemeClr val="dk1"/>
                </a:solidFill>
              </a:rPr>
              <a:t> like combining punctuation with words. </a:t>
            </a:r>
            <a:endParaRPr sz="3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465510"/>
                </a:solidFill>
              </a:rPr>
              <a:t>Regex acts as a "pre-filter"</a:t>
            </a:r>
            <a:r>
              <a:rPr lang="en" sz="3000">
                <a:solidFill>
                  <a:schemeClr val="dk1"/>
                </a:solidFill>
              </a:rPr>
              <a:t> to prevent these issues, ensuring that letters, numbers, punctuation, and whitespace split.</a:t>
            </a:r>
            <a:endParaRPr sz="3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b8409de4d6_0_10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nanochat Tokenizer</a:t>
            </a:r>
            <a:endParaRPr/>
          </a:p>
        </p:txBody>
      </p:sp>
      <p:sp>
        <p:nvSpPr>
          <p:cNvPr id="208" name="Google Shape;208;g3b8409de4d6_0_108"/>
          <p:cNvSpPr txBox="1"/>
          <p:nvPr>
            <p:ph idx="1" type="body"/>
          </p:nvPr>
        </p:nvSpPr>
        <p:spPr>
          <a:xfrm>
            <a:off x="457200" y="1600200"/>
            <a:ext cx="8229600" cy="68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rgbClr val="DCB439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</a:t>
            </a:r>
            <a:r>
              <a:rPr b="1" lang="en" u="sng">
                <a:solidFill>
                  <a:srgbClr val="DCB439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anochat tokenizer code</a:t>
            </a:r>
            <a:endParaRPr b="1"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B Them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