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5" roundtripDataSignature="AMtx7mhD6PyUtI7kcVb0GboBjvrqZOLBP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5" Type="http://customschemas.google.com/relationships/presentationmetadata" Target="meta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g3b8409de4d6_0_5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" name="Google Shape;32;g3b8409de4d6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b8409de4d6_0_6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" name="Google Shape;38;g3b8409de4d6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3b8409de4d6_0_6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" name="Google Shape;44;g3b8409de4d6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b8409de4d6_0_7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3b8409de4d6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b8409de4d6_0_8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b8409de4d6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" name="Google Shape;70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b938ea6dd9_0_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b938ea6dd9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b938ea6dd9_0_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b938ea6d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b938ea6dd9_0_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b938ea6dd9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b938ea6dd9_0_1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b938ea6dd9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ba79990f52_0_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g3ba79990f5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b938ea6dd9_0_1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b938ea6dd9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b8409de4d6_0_9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b8409de4d6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b8409de4d6_0_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b8409de4d6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b8409de4d6_0_10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b8409de4d6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b8409de4d6_0_9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g3b8409de4d6_0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b8409de4d6_0_4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b8409de4d6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b8409de4d6_0_11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b8409de4d6_0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b8409de4d6_0_1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b8409de4d6_0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b8409de4d6_0_10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b8409de4d6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/>
          <p:nvPr>
            <p:ph type="ctrTitle"/>
          </p:nvPr>
        </p:nvSpPr>
        <p:spPr>
          <a:xfrm>
            <a:off x="685800" y="2111123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1" name="Google Shape;11;p19"/>
          <p:cNvSpPr txBox="1"/>
          <p:nvPr>
            <p:ph idx="1" type="subTitle"/>
          </p:nvPr>
        </p:nvSpPr>
        <p:spPr>
          <a:xfrm>
            <a:off x="685800" y="3786738"/>
            <a:ext cx="7772400" cy="10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B439"/>
              </a:buClr>
              <a:buSzPts val="3000"/>
              <a:buNone/>
              <a:defRPr b="1">
                <a:solidFill>
                  <a:srgbClr val="DCB439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2" name="Google Shape;12;p19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5" name="Google Shape;15;p2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16" name="Google Shape;16;p20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9" name="Google Shape;19;p23"/>
          <p:cNvSpPr txBox="1"/>
          <p:nvPr>
            <p:ph idx="1" type="body"/>
          </p:nvPr>
        </p:nvSpPr>
        <p:spPr>
          <a:xfrm>
            <a:off x="457200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9E9E"/>
              </a:buClr>
              <a:buSzPts val="1800"/>
              <a:buChar char="■"/>
              <a:defRPr>
                <a:solidFill>
                  <a:srgbClr val="9E9E9E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1709"/>
              </a:buClr>
              <a:buSzPts val="1800"/>
              <a:buChar char="●"/>
              <a:defRPr>
                <a:solidFill>
                  <a:srgbClr val="5F1709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65510"/>
              </a:buClr>
              <a:buSzPts val="1800"/>
              <a:buChar char="○"/>
              <a:defRPr>
                <a:solidFill>
                  <a:srgbClr val="465510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ABBC"/>
              </a:buClr>
              <a:buSzPts val="1800"/>
              <a:buChar char="■"/>
              <a:defRPr>
                <a:solidFill>
                  <a:srgbClr val="5AABBC"/>
                </a:solidFill>
              </a:defRPr>
            </a:lvl9pPr>
          </a:lstStyle>
          <a:p/>
        </p:txBody>
      </p:sp>
      <p:sp>
        <p:nvSpPr>
          <p:cNvPr id="20" name="Google Shape;20;p23"/>
          <p:cNvSpPr txBox="1"/>
          <p:nvPr>
            <p:ph idx="2" type="body"/>
          </p:nvPr>
        </p:nvSpPr>
        <p:spPr>
          <a:xfrm>
            <a:off x="4692274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21" name="Google Shape;21;p23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4" name="Google Shape;24;p24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5"/>
          <p:cNvSpPr txBox="1"/>
          <p:nvPr>
            <p:ph idx="1" type="body"/>
          </p:nvPr>
        </p:nvSpPr>
        <p:spPr>
          <a:xfrm>
            <a:off x="457200" y="5875079"/>
            <a:ext cx="82296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 sz="1800"/>
            </a:lvl1pPr>
          </a:lstStyle>
          <a:p/>
        </p:txBody>
      </p:sp>
      <p:sp>
        <p:nvSpPr>
          <p:cNvPr id="27" name="Google Shape;27;p25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6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B5B"/>
              </a:buClr>
              <a:buSzPts val="3600"/>
              <a:buFont typeface="Arial"/>
              <a:buNone/>
              <a:defRPr b="1" i="0" sz="36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●"/>
              <a:defRPr b="0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○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■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3b8409de4d6_0_5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Programming Practice 01</a:t>
            </a:r>
            <a:endParaRPr/>
          </a:p>
        </p:txBody>
      </p:sp>
      <p:sp>
        <p:nvSpPr>
          <p:cNvPr id="35" name="Google Shape;35;g3b8409de4d6_0_5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a Colab Cell, write code to do the following: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	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/>
              <a:t> each of the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/>
              <a:t>egers 0-9,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en"/>
              <a:t> out the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/>
              <a:t> 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/>
              <a:t> </a:t>
            </a:r>
            <a:r>
              <a:rPr lang="en"/>
              <a:t>plus</a:t>
            </a:r>
            <a:r>
              <a:rPr lang="en"/>
              <a:t> 5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DCB439"/>
                </a:solidFill>
              </a:rPr>
              <a:t>Challenge:</a:t>
            </a:r>
            <a:endParaRPr b="1">
              <a:solidFill>
                <a:srgbClr val="DCB439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 def</a:t>
            </a:r>
            <a:r>
              <a:rPr lang="en"/>
              <a:t>ine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that would accept any 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en"/>
              <a:t>highest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/>
              <a:t>eger, instead of only going to 9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b8409de4d6_0_6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Programming Practice Solution</a:t>
            </a:r>
            <a:endParaRPr/>
          </a:p>
        </p:txBody>
      </p:sp>
      <p:sp>
        <p:nvSpPr>
          <p:cNvPr id="41" name="Google Shape;41;g3b8409de4d6_0_6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3b8409de4d6_0_6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Errors</a:t>
            </a:r>
            <a:endParaRPr/>
          </a:p>
        </p:txBody>
      </p:sp>
      <p:sp>
        <p:nvSpPr>
          <p:cNvPr id="47" name="Google Shape;47;g3b8409de4d6_0_65"/>
          <p:cNvSpPr txBox="1"/>
          <p:nvPr>
            <p:ph idx="1" type="body"/>
          </p:nvPr>
        </p:nvSpPr>
        <p:spPr>
          <a:xfrm>
            <a:off x="457200" y="1417650"/>
            <a:ext cx="8229600" cy="11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Last class we saw an error when we tried to add an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/>
              <a:t> and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r>
              <a:rPr lang="en"/>
              <a:t> together.</a:t>
            </a:r>
            <a:endParaRPr/>
          </a:p>
        </p:txBody>
      </p:sp>
      <p:pic>
        <p:nvPicPr>
          <p:cNvPr id="48" name="Google Shape;48;g3b8409de4d6_0_65" title="Screenshot 2026-01-16 at 8.22.4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777400"/>
            <a:ext cx="8229599" cy="19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g3b8409de4d6_0_65"/>
          <p:cNvSpPr/>
          <p:nvPr/>
        </p:nvSpPr>
        <p:spPr>
          <a:xfrm>
            <a:off x="5097875" y="4372875"/>
            <a:ext cx="295200" cy="334200"/>
          </a:xfrm>
          <a:prstGeom prst="rect">
            <a:avLst/>
          </a:prstGeom>
          <a:noFill/>
          <a:ln cap="flat" cmpd="sng" w="38100">
            <a:solidFill>
              <a:srgbClr val="A314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g3b8409de4d6_0_65"/>
          <p:cNvSpPr/>
          <p:nvPr/>
        </p:nvSpPr>
        <p:spPr>
          <a:xfrm>
            <a:off x="5461275" y="4372875"/>
            <a:ext cx="555300" cy="334200"/>
          </a:xfrm>
          <a:prstGeom prst="rect">
            <a:avLst/>
          </a:prstGeom>
          <a:noFill/>
          <a:ln cap="flat" cmpd="sng" w="38100">
            <a:solidFill>
              <a:srgbClr val="A314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g3b8409de4d6_0_65"/>
          <p:cNvSpPr/>
          <p:nvPr/>
        </p:nvSpPr>
        <p:spPr>
          <a:xfrm>
            <a:off x="6536025" y="4372875"/>
            <a:ext cx="555300" cy="334200"/>
          </a:xfrm>
          <a:prstGeom prst="rect">
            <a:avLst/>
          </a:prstGeom>
          <a:noFill/>
          <a:ln cap="flat" cmpd="sng" w="38100">
            <a:solidFill>
              <a:srgbClr val="A314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b8409de4d6_0_7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Typecasting</a:t>
            </a:r>
            <a:endParaRPr/>
          </a:p>
        </p:txBody>
      </p:sp>
      <p:sp>
        <p:nvSpPr>
          <p:cNvPr id="57" name="Google Shape;57;g3b8409de4d6_0_74"/>
          <p:cNvSpPr txBox="1"/>
          <p:nvPr>
            <p:ph idx="1" type="body"/>
          </p:nvPr>
        </p:nvSpPr>
        <p:spPr>
          <a:xfrm>
            <a:off x="457200" y="1600200"/>
            <a:ext cx="8229600" cy="11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2B5B"/>
                </a:solidFill>
              </a:rPr>
              <a:t>Typecasting</a:t>
            </a:r>
            <a:r>
              <a:rPr lang="en"/>
              <a:t> allows us to </a:t>
            </a:r>
            <a:r>
              <a:rPr b="1" lang="en">
                <a:solidFill>
                  <a:srgbClr val="465510"/>
                </a:solidFill>
              </a:rPr>
              <a:t>change a variable or value to a different </a:t>
            </a:r>
            <a:r>
              <a:rPr b="1" lang="en" sz="1400">
                <a:solidFill>
                  <a:srgbClr val="465510"/>
                </a:solidFill>
              </a:rPr>
              <a:t>(supported)</a:t>
            </a:r>
            <a:r>
              <a:rPr b="1" lang="en">
                <a:solidFill>
                  <a:srgbClr val="465510"/>
                </a:solidFill>
              </a:rPr>
              <a:t> type!</a:t>
            </a:r>
            <a:endParaRPr b="1">
              <a:solidFill>
                <a:srgbClr val="465510"/>
              </a:solidFill>
            </a:endParaRPr>
          </a:p>
        </p:txBody>
      </p:sp>
      <p:pic>
        <p:nvPicPr>
          <p:cNvPr id="58" name="Google Shape;58;g3b8409de4d6_0_74" title="Screenshot 2026-01-16 at 8.26.27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2175" y="2822813"/>
            <a:ext cx="3678575" cy="1906175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59" name="Google Shape;59;g3b8409de4d6_0_74" title="Screenshot 2026-01-16 at 8.27.07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44225" y="2822825"/>
            <a:ext cx="3377609" cy="1906175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0" name="Google Shape;60;g3b8409de4d6_0_74"/>
          <p:cNvSpPr txBox="1"/>
          <p:nvPr/>
        </p:nvSpPr>
        <p:spPr>
          <a:xfrm>
            <a:off x="1218150" y="4949150"/>
            <a:ext cx="67077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It is especially useful to </a:t>
            </a:r>
            <a:r>
              <a:rPr b="1" lang="en" sz="1800">
                <a:solidFill>
                  <a:srgbClr val="002B5B"/>
                </a:solidFill>
              </a:rPr>
              <a:t>typecast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r>
              <a:rPr lang="en" sz="1800">
                <a:solidFill>
                  <a:schemeClr val="dk1"/>
                </a:solidFill>
              </a:rPr>
              <a:t> into an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800">
                <a:solidFill>
                  <a:schemeClr val="dk1"/>
                </a:solidFill>
              </a:rPr>
              <a:t> because usually when we read in data from a file, it all comes in as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endParaRPr b="1" sz="18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8409de4d6_0_84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def</a:t>
            </a:r>
            <a:r>
              <a:rPr lang="en"/>
              <a:t>ine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that can, g</a:t>
            </a:r>
            <a:r>
              <a:rPr lang="en"/>
              <a:t>iven a list of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ints</a:t>
            </a:r>
            <a:r>
              <a:rPr lang="en"/>
              <a:t>,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/>
              <a:t>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dictionary</a:t>
            </a:r>
            <a:r>
              <a:rPr lang="en"/>
              <a:t> of counts of consecutive pairs. 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For example: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pairs</a:t>
            </a: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 = count_consecutive_pairs([1, 2, 3, 1, 2])</a:t>
            </a:r>
            <a:endParaRPr b="1" sz="24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print(pairs)</a:t>
            </a:r>
            <a:endParaRPr b="1" sz="24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{(1, 2): 2, (2, 3): 1, (3, 1): 1}</a:t>
            </a:r>
            <a:endParaRPr b="1"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" name="Google Shape;66;g3b8409de4d6_0_8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Programming Practice 02</a:t>
            </a:r>
            <a:endParaRPr/>
          </a:p>
        </p:txBody>
      </p:sp>
      <p:sp>
        <p:nvSpPr>
          <p:cNvPr id="67" name="Google Shape;67;g3b8409de4d6_0_84"/>
          <p:cNvSpPr/>
          <p:nvPr/>
        </p:nvSpPr>
        <p:spPr>
          <a:xfrm>
            <a:off x="420225" y="4720475"/>
            <a:ext cx="8266500" cy="14847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"/>
          <p:cNvSpPr txBox="1"/>
          <p:nvPr>
            <p:ph type="ctrTitle"/>
          </p:nvPr>
        </p:nvSpPr>
        <p:spPr>
          <a:xfrm>
            <a:off x="685800" y="2655750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>
                <a:solidFill>
                  <a:srgbClr val="002B5B"/>
                </a:solidFill>
              </a:rPr>
              <a:t>CSE </a:t>
            </a:r>
            <a:r>
              <a:rPr lang="en"/>
              <a:t>1</a:t>
            </a:r>
            <a:r>
              <a:rPr lang="en">
                <a:solidFill>
                  <a:srgbClr val="002B5B"/>
                </a:solidFill>
              </a:rPr>
              <a:t>0124</a:t>
            </a:r>
            <a:br>
              <a:rPr lang="en">
                <a:solidFill>
                  <a:srgbClr val="002B5B"/>
                </a:solidFill>
              </a:rPr>
            </a:br>
            <a:r>
              <a:rPr lang="en">
                <a:solidFill>
                  <a:srgbClr val="DCB439"/>
                </a:solidFill>
              </a:rPr>
              <a:t>Tokenization</a:t>
            </a:r>
            <a:endParaRPr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g3b938ea6dd9_0_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8100" y="272038"/>
            <a:ext cx="6767796" cy="5135563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g3b938ea6dd9_0_26"/>
          <p:cNvSpPr/>
          <p:nvPr/>
        </p:nvSpPr>
        <p:spPr>
          <a:xfrm>
            <a:off x="141850" y="5005700"/>
            <a:ext cx="4103700" cy="1620300"/>
          </a:xfrm>
          <a:prstGeom prst="roundRect">
            <a:avLst>
              <a:gd fmla="val 16667" name="adj"/>
            </a:avLst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79" name="Google Shape;79;g3b938ea6dd9_0_26"/>
          <p:cNvSpPr/>
          <p:nvPr/>
        </p:nvSpPr>
        <p:spPr>
          <a:xfrm>
            <a:off x="1967900" y="4527075"/>
            <a:ext cx="449400" cy="1887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g3b938ea6dd9_0_26"/>
          <p:cNvSpPr/>
          <p:nvPr/>
        </p:nvSpPr>
        <p:spPr>
          <a:xfrm>
            <a:off x="1699450" y="5124463"/>
            <a:ext cx="988500" cy="3054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Embeddings</a:t>
            </a:r>
            <a:endParaRPr sz="1000"/>
          </a:p>
        </p:txBody>
      </p:sp>
      <p:cxnSp>
        <p:nvCxnSpPr>
          <p:cNvPr id="81" name="Google Shape;81;g3b938ea6dd9_0_26"/>
          <p:cNvCxnSpPr>
            <a:stCxn id="80" idx="0"/>
          </p:cNvCxnSpPr>
          <p:nvPr/>
        </p:nvCxnSpPr>
        <p:spPr>
          <a:xfrm flipH="1" rot="10800000">
            <a:off x="2193700" y="4326163"/>
            <a:ext cx="600" cy="798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2" name="Google Shape;82;g3b938ea6dd9_0_26"/>
          <p:cNvSpPr/>
          <p:nvPr/>
        </p:nvSpPr>
        <p:spPr>
          <a:xfrm>
            <a:off x="1699450" y="5623075"/>
            <a:ext cx="988500" cy="305400"/>
          </a:xfrm>
          <a:prstGeom prst="roundRect">
            <a:avLst>
              <a:gd fmla="val 16667" name="adj"/>
            </a:avLst>
          </a:prstGeom>
          <a:solidFill>
            <a:srgbClr val="FFF9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Tokenizer</a:t>
            </a:r>
            <a:endParaRPr sz="1000"/>
          </a:p>
        </p:txBody>
      </p:sp>
      <p:cxnSp>
        <p:nvCxnSpPr>
          <p:cNvPr id="83" name="Google Shape;83;g3b938ea6dd9_0_26"/>
          <p:cNvCxnSpPr>
            <a:stCxn id="82" idx="0"/>
            <a:endCxn id="80" idx="2"/>
          </p:cNvCxnSpPr>
          <p:nvPr/>
        </p:nvCxnSpPr>
        <p:spPr>
          <a:xfrm rot="10800000">
            <a:off x="2193700" y="5429875"/>
            <a:ext cx="0" cy="193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4" name="Google Shape;84;g3b938ea6dd9_0_26"/>
          <p:cNvSpPr txBox="1"/>
          <p:nvPr>
            <p:ph type="title"/>
          </p:nvPr>
        </p:nvSpPr>
        <p:spPr>
          <a:xfrm>
            <a:off x="4935975" y="5937925"/>
            <a:ext cx="3755100" cy="688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are we?</a:t>
            </a:r>
            <a:endParaRPr/>
          </a:p>
        </p:txBody>
      </p:sp>
      <p:sp>
        <p:nvSpPr>
          <p:cNvPr id="85" name="Google Shape;85;g3b938ea6dd9_0_26"/>
          <p:cNvSpPr/>
          <p:nvPr/>
        </p:nvSpPr>
        <p:spPr>
          <a:xfrm>
            <a:off x="316150" y="6143950"/>
            <a:ext cx="3755100" cy="305400"/>
          </a:xfrm>
          <a:prstGeom prst="roundRect">
            <a:avLst>
              <a:gd fmla="val 16667" name="adj"/>
            </a:avLst>
          </a:prstGeom>
          <a:solidFill>
            <a:srgbClr val="95DCF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Prompt: “Please help me with my homework!!”</a:t>
            </a:r>
            <a:endParaRPr sz="1000"/>
          </a:p>
        </p:txBody>
      </p:sp>
      <p:cxnSp>
        <p:nvCxnSpPr>
          <p:cNvPr id="86" name="Google Shape;86;g3b938ea6dd9_0_26"/>
          <p:cNvCxnSpPr>
            <a:stCxn id="85" idx="0"/>
            <a:endCxn id="82" idx="2"/>
          </p:cNvCxnSpPr>
          <p:nvPr/>
        </p:nvCxnSpPr>
        <p:spPr>
          <a:xfrm rot="10800000">
            <a:off x="2193700" y="5928550"/>
            <a:ext cx="0" cy="2154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7" name="Google Shape;87;g3b938ea6dd9_0_26"/>
          <p:cNvSpPr/>
          <p:nvPr/>
        </p:nvSpPr>
        <p:spPr>
          <a:xfrm>
            <a:off x="1919150" y="1087850"/>
            <a:ext cx="546900" cy="1887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g3b938ea6dd9_0_26"/>
          <p:cNvSpPr/>
          <p:nvPr/>
        </p:nvSpPr>
        <p:spPr>
          <a:xfrm>
            <a:off x="646550" y="342100"/>
            <a:ext cx="3092100" cy="9345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89" name="Google Shape;89;g3b938ea6dd9_0_26"/>
          <p:cNvSpPr/>
          <p:nvPr/>
        </p:nvSpPr>
        <p:spPr>
          <a:xfrm>
            <a:off x="891500" y="496750"/>
            <a:ext cx="2602200" cy="6252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Response</a:t>
            </a:r>
            <a:r>
              <a:rPr lang="en" sz="1000"/>
              <a:t>: “Certainly, as a large language model I’d be happy to help you cheat on your homework assignment”</a:t>
            </a:r>
            <a:endParaRPr sz="1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b938ea6dd9_0_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Tokens Today — OpenAI API</a:t>
            </a:r>
            <a:endParaRPr/>
          </a:p>
        </p:txBody>
      </p:sp>
      <p:pic>
        <p:nvPicPr>
          <p:cNvPr id="95" name="Google Shape;95;g3b938ea6dd9_0_0" title="Screenshot 2026-01-15 at 3.42.2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6338" y="1809062"/>
            <a:ext cx="7811302" cy="2776676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g3b938ea6dd9_0_0"/>
          <p:cNvSpPr txBox="1"/>
          <p:nvPr/>
        </p:nvSpPr>
        <p:spPr>
          <a:xfrm>
            <a:off x="1218150" y="4977150"/>
            <a:ext cx="67077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An </a:t>
            </a:r>
            <a:r>
              <a:rPr b="1" lang="en" sz="1800">
                <a:solidFill>
                  <a:srgbClr val="980000"/>
                </a:solidFill>
                <a:latin typeface="Consolas"/>
                <a:ea typeface="Consolas"/>
                <a:cs typeface="Consolas"/>
                <a:sym typeface="Consolas"/>
              </a:rPr>
              <a:t>API </a:t>
            </a:r>
            <a:r>
              <a:rPr lang="en" sz="1800">
                <a:solidFill>
                  <a:schemeClr val="dk1"/>
                </a:solidFill>
              </a:rPr>
              <a:t>is a set of URLs that allow code to access things automatically (like AI models)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b938ea6dd9_0_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Tokens Today — Anthropic API</a:t>
            </a:r>
            <a:endParaRPr/>
          </a:p>
        </p:txBody>
      </p:sp>
      <p:pic>
        <p:nvPicPr>
          <p:cNvPr id="102" name="Google Shape;102;g3b938ea6dd9_0_6" title="Screenshot 2026-01-15 at 3.43.15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0650" y="1551799"/>
            <a:ext cx="8062699" cy="5115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b938ea6dd9_0_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Tokens Today — Claude Code</a:t>
            </a:r>
            <a:endParaRPr/>
          </a:p>
        </p:txBody>
      </p:sp>
      <p:pic>
        <p:nvPicPr>
          <p:cNvPr id="108" name="Google Shape;108;g3b938ea6dd9_0_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5977" y="2226975"/>
            <a:ext cx="7632051" cy="2724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ba79990f52_0_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Last Class - Text as Data</a:t>
            </a:r>
            <a:endParaRPr/>
          </a:p>
        </p:txBody>
      </p:sp>
      <p:sp>
        <p:nvSpPr>
          <p:cNvPr id="114" name="Google Shape;114;g3ba79990f52_0_5"/>
          <p:cNvSpPr txBox="1"/>
          <p:nvPr>
            <p:ph idx="1" type="body"/>
          </p:nvPr>
        </p:nvSpPr>
        <p:spPr>
          <a:xfrm>
            <a:off x="457200" y="1765116"/>
            <a:ext cx="3078000" cy="4459800"/>
          </a:xfrm>
          <a:prstGeom prst="rect">
            <a:avLst/>
          </a:prstGeom>
          <a:noFill/>
          <a:ln cap="flat" cmpd="sng" w="3555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85325" lIns="85325" spcFirstLastPara="1" rIns="85325" wrap="square" tIns="853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"Jabberwocky"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by Lewis Carroll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'Twas brillig, and the slithy toves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Did gyre and gimble in the wabe;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All mimsy were the borogoves,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And the mome raths outgrabe.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"Beware the Jabberwock, my son!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The jaws that bite, the claws that catch!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Beware the Jubjub bird, and shun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The frumious Bandersnatch!"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He took his vorpal sword in hand: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Long time the manxome foe he sought—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So rested he by the Tumtum tree,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And stood awhile in thought.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" name="Google Shape;115;g3ba79990f52_0_5"/>
          <p:cNvSpPr txBox="1"/>
          <p:nvPr/>
        </p:nvSpPr>
        <p:spPr>
          <a:xfrm>
            <a:off x="1401418" y="1465801"/>
            <a:ext cx="21336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85325" lIns="85325" spcFirstLastPara="1" rIns="85325" wrap="square" tIns="853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80"/>
              <a:buFont typeface="Arial"/>
              <a:buNone/>
            </a:pPr>
            <a:r>
              <a:rPr b="1" i="0" lang="en" sz="1680" u="none" cap="none" strike="noStrike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jabberwocky.txt</a:t>
            </a:r>
            <a:endParaRPr b="1" i="0" sz="1680" u="none" cap="none" strike="noStrike">
              <a:solidFill>
                <a:srgbClr val="DCB43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" name="Google Shape;116;g3ba79990f52_0_5"/>
          <p:cNvSpPr/>
          <p:nvPr/>
        </p:nvSpPr>
        <p:spPr>
          <a:xfrm>
            <a:off x="457200" y="1417650"/>
            <a:ext cx="3078000" cy="347400"/>
          </a:xfrm>
          <a:prstGeom prst="rect">
            <a:avLst/>
          </a:prstGeom>
          <a:noFill/>
          <a:ln cap="flat" cmpd="sng" w="3555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5325" lIns="85325" spcFirstLastPara="1" rIns="85325" wrap="square" tIns="853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7"/>
              <a:buFont typeface="Arial"/>
              <a:buNone/>
            </a:pPr>
            <a:r>
              <a:t/>
            </a:r>
            <a:endParaRPr b="0" i="0" sz="130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7" name="Google Shape;117;g3ba79990f52_0_5"/>
          <p:cNvPicPr preferRelativeResize="0"/>
          <p:nvPr/>
        </p:nvPicPr>
        <p:blipFill rotWithShape="1">
          <a:blip r:embed="rId3">
            <a:alphaModFix/>
          </a:blip>
          <a:srcRect b="12536" l="18278" r="18430" t="12303"/>
          <a:stretch/>
        </p:blipFill>
        <p:spPr>
          <a:xfrm>
            <a:off x="493859" y="1447565"/>
            <a:ext cx="242227" cy="2876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b938ea6dd9_0_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do we Tokenize?</a:t>
            </a:r>
            <a:endParaRPr/>
          </a:p>
        </p:txBody>
      </p:sp>
      <p:sp>
        <p:nvSpPr>
          <p:cNvPr id="123" name="Google Shape;123;g3b938ea6dd9_0_16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b8409de4d6_0_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a Token</a:t>
            </a:r>
            <a:endParaRPr/>
          </a:p>
        </p:txBody>
      </p:sp>
      <p:sp>
        <p:nvSpPr>
          <p:cNvPr id="129" name="Google Shape;129;g3b8409de4d6_0_9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b8409de4d6_0_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Tokenization</a:t>
            </a:r>
            <a:endParaRPr/>
          </a:p>
        </p:txBody>
      </p:sp>
      <p:sp>
        <p:nvSpPr>
          <p:cNvPr id="135" name="Google Shape;135;g3b8409de4d6_0_4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b8409de4d6_0_10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</a:t>
            </a: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rogramming</a:t>
            </a:r>
            <a:r>
              <a:rPr lang="en"/>
              <a:t>: Classes</a:t>
            </a:r>
            <a:endParaRPr/>
          </a:p>
        </p:txBody>
      </p:sp>
      <p:sp>
        <p:nvSpPr>
          <p:cNvPr id="141" name="Google Shape;141;g3b8409de4d6_0_103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b8409de4d6_0_9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Last Class - Text as Data</a:t>
            </a:r>
            <a:endParaRPr/>
          </a:p>
        </p:txBody>
      </p:sp>
      <p:sp>
        <p:nvSpPr>
          <p:cNvPr id="147" name="Google Shape;147;g3b8409de4d6_0_95"/>
          <p:cNvSpPr txBox="1"/>
          <p:nvPr>
            <p:ph idx="1" type="body"/>
          </p:nvPr>
        </p:nvSpPr>
        <p:spPr>
          <a:xfrm>
            <a:off x="457200" y="1765116"/>
            <a:ext cx="3078000" cy="4459800"/>
          </a:xfrm>
          <a:prstGeom prst="rect">
            <a:avLst/>
          </a:prstGeom>
          <a:noFill/>
          <a:ln cap="flat" cmpd="sng" w="3555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85325" lIns="85325" spcFirstLastPara="1" rIns="85325" wrap="square" tIns="853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"Jabberwocky"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by Lewis Carroll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'Twas brillig, and the slithy toves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Did gyre and gimble in the wabe;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All mimsy were the borogoves,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And the mome raths outgrabe.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"Beware the Jabberwock, my son!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The jaws that bite, the claws that catch!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Beware the Jubjub bird, and shun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The frumious Bandersnatch!"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He took his vorpal sword in hand: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Long time the manxome foe he sought—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So rested he by the Tumtum tree,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And stood awhile in thought.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8" name="Google Shape;148;g3b8409de4d6_0_95"/>
          <p:cNvSpPr txBox="1"/>
          <p:nvPr/>
        </p:nvSpPr>
        <p:spPr>
          <a:xfrm>
            <a:off x="1401418" y="1465801"/>
            <a:ext cx="21336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85325" lIns="85325" spcFirstLastPara="1" rIns="85325" wrap="square" tIns="853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80"/>
              <a:buFont typeface="Arial"/>
              <a:buNone/>
            </a:pPr>
            <a:r>
              <a:rPr b="1" i="0" lang="en" sz="1680" u="none" cap="none" strike="noStrike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jabberwocky.txt</a:t>
            </a:r>
            <a:endParaRPr b="1" i="0" sz="1680" u="none" cap="none" strike="noStrike">
              <a:solidFill>
                <a:srgbClr val="DCB43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9" name="Google Shape;149;g3b8409de4d6_0_95"/>
          <p:cNvSpPr/>
          <p:nvPr/>
        </p:nvSpPr>
        <p:spPr>
          <a:xfrm>
            <a:off x="457200" y="1417650"/>
            <a:ext cx="3078000" cy="347400"/>
          </a:xfrm>
          <a:prstGeom prst="rect">
            <a:avLst/>
          </a:prstGeom>
          <a:noFill/>
          <a:ln cap="flat" cmpd="sng" w="3555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5325" lIns="85325" spcFirstLastPara="1" rIns="85325" wrap="square" tIns="853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7"/>
              <a:buFont typeface="Arial"/>
              <a:buNone/>
            </a:pPr>
            <a:r>
              <a:t/>
            </a:r>
            <a:endParaRPr b="0" i="0" sz="130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0" name="Google Shape;150;g3b8409de4d6_0_95"/>
          <p:cNvPicPr preferRelativeResize="0"/>
          <p:nvPr/>
        </p:nvPicPr>
        <p:blipFill rotWithShape="1">
          <a:blip r:embed="rId3">
            <a:alphaModFix/>
          </a:blip>
          <a:srcRect b="12536" l="18278" r="18430" t="12303"/>
          <a:stretch/>
        </p:blipFill>
        <p:spPr>
          <a:xfrm>
            <a:off x="493859" y="1447565"/>
            <a:ext cx="242227" cy="2876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b8409de4d6_0_4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Byte-Pair Encoding Tokenization </a:t>
            </a:r>
            <a:r>
              <a:rPr lang="en" sz="1800"/>
              <a:t>(1994)</a:t>
            </a:r>
            <a:endParaRPr sz="1800"/>
          </a:p>
        </p:txBody>
      </p:sp>
      <p:sp>
        <p:nvSpPr>
          <p:cNvPr id="156" name="Google Shape;156;g3b8409de4d6_0_4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b8409de4d6_0_1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Regex</a:t>
            </a:r>
            <a:endParaRPr/>
          </a:p>
        </p:txBody>
      </p:sp>
      <p:sp>
        <p:nvSpPr>
          <p:cNvPr id="162" name="Google Shape;162;g3b8409de4d6_0_11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b8409de4d6_0_1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List Slices</a:t>
            </a:r>
            <a:endParaRPr/>
          </a:p>
        </p:txBody>
      </p:sp>
      <p:sp>
        <p:nvSpPr>
          <p:cNvPr id="168" name="Google Shape;168;g3b8409de4d6_0_126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b8409de4d6_0_10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nanochat Tokenizer</a:t>
            </a:r>
            <a:endParaRPr/>
          </a:p>
        </p:txBody>
      </p:sp>
      <p:sp>
        <p:nvSpPr>
          <p:cNvPr id="174" name="Google Shape;174;g3b8409de4d6_0_10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B Them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