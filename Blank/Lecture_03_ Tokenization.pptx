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jujfq3vujPPNzkxA1DTADXdiak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8ea6dd9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938ea6dd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938ea6dd9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938ea6d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938ea6dd9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938ea6dd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b938ea6dd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938ea6dd9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938ea6dd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938ea6dd9_0_7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938ea6dd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hyperlink" Target="https://docs.python.org/3/library/stdtypes.html#typesseq-rang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huggingface.co/unsloth/llama-3-8b/raw/main/tokenizer.json" TargetMode="External"/><Relationship Id="rId4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karpathy/nanochat/blob/master/nanochat/tokenizer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0 at 10.37.4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1417638"/>
            <a:ext cx="6400800" cy="17716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0 at 10.38.2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05075" y="3649175"/>
            <a:ext cx="4133850" cy="2076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" name="Google Shape;43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read about built-in </a:t>
            </a:r>
            <a:r>
              <a:rPr lang="en" sz="1800">
                <a:solidFill>
                  <a:schemeClr val="dk1"/>
                </a:solidFill>
              </a:rPr>
              <a:t>features</a:t>
            </a:r>
            <a:r>
              <a:rPr lang="en" sz="1800">
                <a:solidFill>
                  <a:schemeClr val="dk1"/>
                </a:solidFill>
              </a:rPr>
              <a:t>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en" sz="1800">
                <a:solidFill>
                  <a:schemeClr val="dk1"/>
                </a:solidFill>
              </a:rPr>
              <a:t> using the </a:t>
            </a:r>
            <a:r>
              <a:rPr b="1" lang="en" sz="1800" u="sng">
                <a:solidFill>
                  <a:srgbClr val="5AABB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lang="en" sz="1800">
                <a:solidFill>
                  <a:schemeClr val="dk1"/>
                </a:solidFill>
              </a:rPr>
              <a:t>!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9" name="Google Shape;49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50" name="Google Shape;50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9" name="Google Shape;59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60" name="Google Shape;60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" name="Google Shape;61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2" name="Google Shape;62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9" name="Google Shape;69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75" name="Google Shape;75;g3b938ea6dd9_0_50" title="Screenshot 2026-01-20 at 10.46.2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6" name="Google Shape;76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lang="en" sz="1800">
                <a:solidFill>
                  <a:schemeClr val="dk1"/>
                </a:solidFill>
              </a:rPr>
              <a:t> allows us to specify a backup </a:t>
            </a:r>
            <a:r>
              <a:rPr lang="en" sz="1800">
                <a:solidFill>
                  <a:schemeClr val="dk1"/>
                </a:solidFill>
              </a:rPr>
              <a:t>value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800">
                <a:solidFill>
                  <a:schemeClr val="dk1"/>
                </a:solidFill>
              </a:rPr>
              <a:t> if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lang="en" sz="1800">
                <a:solidFill>
                  <a:schemeClr val="dk1"/>
                </a:solidFill>
              </a:rPr>
              <a:t> doesn’t already exist in the </a:t>
            </a:r>
            <a:r>
              <a:rPr lang="en" sz="1800">
                <a:solidFill>
                  <a:schemeClr val="dk1"/>
                </a:solidFill>
              </a:rPr>
              <a:t>dictionary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938ea6dd9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82" name="Google Shape;82;g3b938ea6dd9_0_60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List slices allow us to access regions of the list instead of just individual values.</a:t>
            </a:r>
            <a:endParaRPr/>
          </a:p>
        </p:txBody>
      </p:sp>
      <p:sp>
        <p:nvSpPr>
          <p:cNvPr id="83" name="Google Shape;83;g3b938ea6dd9_0_60"/>
          <p:cNvSpPr txBox="1"/>
          <p:nvPr/>
        </p:nvSpPr>
        <p:spPr>
          <a:xfrm>
            <a:off x="1068450" y="6181800"/>
            <a:ext cx="70071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In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800">
                <a:solidFill>
                  <a:schemeClr val="dk1"/>
                </a:solidFill>
              </a:rPr>
              <a:t> slice, the first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lang="en" sz="1800">
                <a:solidFill>
                  <a:schemeClr val="dk1"/>
                </a:solidFill>
              </a:rPr>
              <a:t> is inclusive, the second isn’t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" name="Google Shape;84;g3b938ea6dd9_0_60" title="Screenshot 2026-01-20 at 10.53.1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963" y="2895600"/>
            <a:ext cx="7286085" cy="31338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b938ea6dd9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96" name="Google Shape;96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Embeddings</a:t>
            </a:r>
            <a:endParaRPr sz="1000"/>
          </a:p>
        </p:txBody>
      </p:sp>
      <p:cxnSp>
        <p:nvCxnSpPr>
          <p:cNvPr id="98" name="Google Shape;98;g3b938ea6dd9_0_26"/>
          <p:cNvCxnSpPr>
            <a:stCxn id="97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Tokenizer</a:t>
            </a:r>
            <a:endParaRPr sz="1000"/>
          </a:p>
        </p:txBody>
      </p:sp>
      <p:cxnSp>
        <p:nvCxnSpPr>
          <p:cNvPr id="100" name="Google Shape;100;g3b938ea6dd9_0_26"/>
          <p:cNvCxnSpPr>
            <a:stCxn id="99" idx="0"/>
            <a:endCxn id="97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102" name="Google Shape;102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“Please help me with my homework!!”</a:t>
            </a:r>
            <a:endParaRPr sz="1000"/>
          </a:p>
        </p:txBody>
      </p:sp>
      <p:cxnSp>
        <p:nvCxnSpPr>
          <p:cNvPr id="103" name="Google Shape;103;g3b938ea6dd9_0_26"/>
          <p:cNvCxnSpPr>
            <a:stCxn id="102" idx="0"/>
            <a:endCxn id="99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06" name="Google Shape;106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Response</a:t>
            </a:r>
            <a:r>
              <a:rPr lang="en" sz="1000"/>
              <a:t>: “Certainly, as a large language model I’d be happy to help you cheat on your homework assignment”</a:t>
            </a:r>
            <a:endParaRPr sz="1000"/>
          </a:p>
        </p:txBody>
      </p:sp>
      <p:cxnSp>
        <p:nvCxnSpPr>
          <p:cNvPr id="107" name="Google Shape;107;g3b938ea6dd9_0_26"/>
          <p:cNvCxnSpPr>
            <a:endCxn id="106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938ea6dd9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113" name="Google Shape;113;g3b938ea6dd9_0_0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b938ea6dd9_0_0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20" name="Google Shape;120;g3b938ea6dd9_0_6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938ea6dd9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26" name="Google Shape;126;g3b938ea6dd9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32" name="Google Shape;132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" name="Google Shape;133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" name="Google Shape;134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41" name="Google Shape;141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938ea6dd9_0_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Imports</a:t>
            </a:r>
            <a:endParaRPr/>
          </a:p>
        </p:txBody>
      </p:sp>
      <p:sp>
        <p:nvSpPr>
          <p:cNvPr id="147" name="Google Shape;147;g3b938ea6dd9_0_45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Imports</a:t>
            </a:r>
            <a:r>
              <a:rPr lang="en"/>
              <a:t> allow us to access useful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that are not built-in to </a:t>
            </a:r>
            <a:r>
              <a:rPr lang="en"/>
              <a:t>python.</a:t>
            </a:r>
            <a:endParaRPr/>
          </a:p>
        </p:txBody>
      </p:sp>
      <p:pic>
        <p:nvPicPr>
          <p:cNvPr id="148" name="Google Shape;148;g3b938ea6dd9_0_45" title="Screenshot 2026-01-20 at 11.21.5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625" y="5016685"/>
            <a:ext cx="7422761" cy="95684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9" name="Google Shape;149;g3b938ea6dd9_0_45" title="Screenshot 2026-01-20 at 11.20.1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5483" y="2743201"/>
            <a:ext cx="4093052" cy="211464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0" name="Google Shape;150;g3b938ea6dd9_0_45"/>
          <p:cNvSpPr txBox="1"/>
          <p:nvPr/>
        </p:nvSpPr>
        <p:spPr>
          <a:xfrm>
            <a:off x="1797000" y="6183400"/>
            <a:ext cx="555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These are almost always at the top of the file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Token?</a:t>
            </a:r>
            <a:endParaRPr/>
          </a:p>
        </p:txBody>
      </p:sp>
      <p:sp>
        <p:nvSpPr>
          <p:cNvPr id="156" name="Google Shape;156;g3b8409de4d6_0_4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57" name="Google Shape;157;g3b8409de4d6_0_4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938ea6dd9_0_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63" name="Google Shape;163;g3b938ea6dd9_0_75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64" name="Google Shape;164;g3b938ea6dd9_0_75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>
                <a:solidFill>
                  <a:srgbClr val="A31415"/>
                </a:solidFill>
              </a:rPr>
              <a:t>(1994)</a:t>
            </a:r>
            <a:endParaRPr sz="1800">
              <a:solidFill>
                <a:srgbClr val="A31415"/>
              </a:solidFill>
            </a:endParaRPr>
          </a:p>
        </p:txBody>
      </p:sp>
      <p:sp>
        <p:nvSpPr>
          <p:cNvPr id="170" name="Google Shape;170;g3b8409de4d6_0_40"/>
          <p:cNvSpPr txBox="1"/>
          <p:nvPr>
            <p:ph idx="1" type="body"/>
          </p:nvPr>
        </p:nvSpPr>
        <p:spPr>
          <a:xfrm>
            <a:off x="457200" y="1600200"/>
            <a:ext cx="8229600" cy="46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</a:t>
            </a:r>
            <a:r>
              <a:rPr lang="en"/>
              <a:t>an algorithm for encoding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of text into smaller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by creating and </a:t>
            </a: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using a translation table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slightly modified version of the algorithm is </a:t>
            </a:r>
            <a:r>
              <a:rPr b="1" lang="en">
                <a:solidFill>
                  <a:srgbClr val="465510"/>
                </a:solidFill>
              </a:rPr>
              <a:t>used in LLM tokenizers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171" name="Google Shape;171;g3b8409de4d6_0_40" title="Screenshot 2026-01-20 at 11.34.44 AM 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7575" y="2857525"/>
            <a:ext cx="3156300" cy="21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3b8409de4d6_0_40"/>
          <p:cNvSpPr txBox="1"/>
          <p:nvPr/>
        </p:nvSpPr>
        <p:spPr>
          <a:xfrm>
            <a:off x="1642775" y="3406725"/>
            <a:ext cx="3310200" cy="12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The size of the token vocabulary, in the case of GPT-3.5 and GPT-4, is 100258 tokens.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78" name="Google Shape;178;g3b938ea6dd9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84" name="Google Shape;184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85" name="Google Shape;185;g3b8409de4d6_0_103" title="Screenshot 2026-01-20 at 11.40.3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6" name="Google Shape;186;g3b8409de4d6_0_103" title="Screenshot 2026-01-20 at 11.41.4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7" name="Google Shape;187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use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800">
                <a:solidFill>
                  <a:schemeClr val="dk1"/>
                </a:solidFill>
              </a:rPr>
              <a:t> out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 sz="1800">
                <a:solidFill>
                  <a:schemeClr val="dk1"/>
                </a:solidFill>
              </a:rPr>
              <a:t>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800">
                <a:solidFill>
                  <a:schemeClr val="dk1"/>
                </a:solidFill>
              </a:rPr>
              <a:t> has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93" name="Google Shape;193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" name="Google Shape;194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002B5B"/>
                </a:solidFill>
              </a:rPr>
              <a:t>Regex</a:t>
            </a:r>
            <a:r>
              <a:rPr lang="en" sz="1800">
                <a:solidFill>
                  <a:schemeClr val="dk1"/>
                </a:solidFill>
              </a:rPr>
              <a:t> is super confusing and almost a language unto itself, </a:t>
            </a:r>
            <a:r>
              <a:rPr b="1" lang="en" sz="1800">
                <a:solidFill>
                  <a:srgbClr val="DCB439"/>
                </a:solidFill>
              </a:rPr>
              <a:t>only sickos have it memorized</a:t>
            </a:r>
            <a:r>
              <a:rPr lang="en" sz="1800">
                <a:solidFill>
                  <a:schemeClr val="dk1"/>
                </a:solidFill>
              </a:rPr>
              <a:t>. </a:t>
            </a:r>
            <a:r>
              <a:rPr b="1" lang="en" sz="1800">
                <a:solidFill>
                  <a:srgbClr val="465510"/>
                </a:solidFill>
              </a:rPr>
              <a:t>Just use a cheat sheet or ask chat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95" name="Google Shape;195;g3b8409de4d6_0_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201" name="Google Shape;201;g3b938ea6dd9_0_9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207" name="Google Shape;207;g3b8409de4d6_0_108"/>
          <p:cNvSpPr txBox="1"/>
          <p:nvPr>
            <p:ph idx="1" type="body"/>
          </p:nvPr>
        </p:nvSpPr>
        <p:spPr>
          <a:xfrm>
            <a:off x="457200" y="1600200"/>
            <a:ext cx="82296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</a:t>
            </a: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anochat tokenizer code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