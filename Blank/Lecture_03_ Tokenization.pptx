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8" roundtripDataSignature="AMtx7miHnxgU8p2QFTUMmikJfPvLLilA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customschemas.google.com/relationships/presentationmetadata" Target="metadata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8409de4d6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b8409de4d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b8409de4d6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b8409de4d6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938ea6dd9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b938ea6dd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938ea6dd9_0_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938ea6d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938ea6dd9_0_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b938ea6dd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938ea6dd9_0_1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b938ea6dd9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b938ea6dd9_0_4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b938ea6dd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8409de4d6_0_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b8409de4d6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938ea6dd9_0_7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938ea6dd9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b8409de4d6_0_4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b8409de4d6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938ea6dd9_0_6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b938ea6dd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hyperlink" Target="https://docs.python.org/3/library/stdtypes.html#typesseq-rang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hyperlink" Target="https://10124.williamtheisen.com/markov-viz.html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1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huggingface.co/unsloth/llama-3-8b/raw/main/tokenizer.json" TargetMode="External"/><Relationship Id="rId4" Type="http://schemas.openxmlformats.org/officeDocument/2006/relationships/image" Target="../media/image1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github.com/karpathy/nanochat/blob/master/nanochat/tokenizer.py" TargetMode="External"/><Relationship Id="rId4" Type="http://schemas.openxmlformats.org/officeDocument/2006/relationships/hyperlink" Target="https://github.com/karpathy/nanochat/blob/master/nanochat/tokenizer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a Colab Cell, write code to do the following: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	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egers 0-9,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/>
              <a:t> out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/>
              <a:t> 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</a:t>
            </a:r>
            <a:r>
              <a:rPr lang="en"/>
              <a:t>plus</a:t>
            </a:r>
            <a:r>
              <a:rPr lang="en"/>
              <a:t> 5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DCB439"/>
                </a:solidFill>
              </a:rPr>
              <a:t>Challenge: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would accept any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/>
              <a:t>highest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eger, instead of only going to 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0 at 10.37.4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1600" y="1417638"/>
            <a:ext cx="6400800" cy="17716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0 at 10.38.2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05075" y="3649175"/>
            <a:ext cx="4133850" cy="20764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3" name="Google Shape;43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We can read about built-in </a:t>
            </a:r>
            <a:r>
              <a:rPr lang="en" sz="1800">
                <a:solidFill>
                  <a:schemeClr val="dk1"/>
                </a:solidFill>
              </a:rPr>
              <a:t>features</a:t>
            </a:r>
            <a:r>
              <a:rPr lang="en" sz="1800">
                <a:solidFill>
                  <a:schemeClr val="dk1"/>
                </a:solidFill>
              </a:rPr>
              <a:t> like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range</a:t>
            </a:r>
            <a:r>
              <a:rPr lang="en" sz="1800">
                <a:solidFill>
                  <a:schemeClr val="dk1"/>
                </a:solidFill>
              </a:rPr>
              <a:t> using the </a:t>
            </a:r>
            <a:r>
              <a:rPr b="1" lang="en" sz="1800" u="sng">
                <a:solidFill>
                  <a:srgbClr val="5AABBC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lang="en" sz="1800">
                <a:solidFill>
                  <a:schemeClr val="dk1"/>
                </a:solidFill>
              </a:rPr>
              <a:t>!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8409de4d6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Errors</a:t>
            </a:r>
            <a:endParaRPr/>
          </a:p>
        </p:txBody>
      </p:sp>
      <p:sp>
        <p:nvSpPr>
          <p:cNvPr id="49" name="Google Shape;49;g3b8409de4d6_0_65"/>
          <p:cNvSpPr txBox="1"/>
          <p:nvPr>
            <p:ph idx="1" type="body"/>
          </p:nvPr>
        </p:nvSpPr>
        <p:spPr>
          <a:xfrm>
            <a:off x="457200" y="141765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Last class we saw an error when we tried to add an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and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together.</a:t>
            </a:r>
            <a:endParaRPr/>
          </a:p>
        </p:txBody>
      </p:sp>
      <p:pic>
        <p:nvPicPr>
          <p:cNvPr id="50" name="Google Shape;50;g3b8409de4d6_0_65" title="Screenshot 2026-01-16 at 8.22.4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777400"/>
            <a:ext cx="8229599" cy="19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b8409de4d6_0_65"/>
          <p:cNvSpPr/>
          <p:nvPr/>
        </p:nvSpPr>
        <p:spPr>
          <a:xfrm>
            <a:off x="5097875" y="4372875"/>
            <a:ext cx="2952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g3b8409de4d6_0_65"/>
          <p:cNvSpPr/>
          <p:nvPr/>
        </p:nvSpPr>
        <p:spPr>
          <a:xfrm>
            <a:off x="546127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g3b8409de4d6_0_65"/>
          <p:cNvSpPr/>
          <p:nvPr/>
        </p:nvSpPr>
        <p:spPr>
          <a:xfrm>
            <a:off x="653602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8409de4d6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Typecasting</a:t>
            </a:r>
            <a:endParaRPr/>
          </a:p>
        </p:txBody>
      </p:sp>
      <p:sp>
        <p:nvSpPr>
          <p:cNvPr id="59" name="Google Shape;59;g3b8409de4d6_0_74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Typecasting</a:t>
            </a:r>
            <a:r>
              <a:rPr lang="en"/>
              <a:t> allows us to </a:t>
            </a:r>
            <a:r>
              <a:rPr b="1" lang="en">
                <a:solidFill>
                  <a:srgbClr val="465510"/>
                </a:solidFill>
              </a:rPr>
              <a:t>change a variable or value to a different </a:t>
            </a:r>
            <a:r>
              <a:rPr b="1" lang="en" sz="1400">
                <a:solidFill>
                  <a:srgbClr val="465510"/>
                </a:solidFill>
              </a:rPr>
              <a:t>(supported)</a:t>
            </a:r>
            <a:r>
              <a:rPr b="1" lang="en">
                <a:solidFill>
                  <a:srgbClr val="465510"/>
                </a:solidFill>
              </a:rPr>
              <a:t> type!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60" name="Google Shape;60;g3b8409de4d6_0_74" title="Screenshot 2026-01-16 at 8.26.2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175" y="2822813"/>
            <a:ext cx="3678575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1" name="Google Shape;61;g3b8409de4d6_0_74" title="Screenshot 2026-01-16 at 8.27.0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44225" y="2822825"/>
            <a:ext cx="3377609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2" name="Google Shape;62;g3b8409de4d6_0_74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It is especially useful to </a:t>
            </a:r>
            <a:r>
              <a:rPr b="1" lang="en" sz="1800">
                <a:solidFill>
                  <a:srgbClr val="002B5B"/>
                </a:solidFill>
              </a:rPr>
              <a:t>typecast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 sz="1800">
                <a:solidFill>
                  <a:schemeClr val="dk1"/>
                </a:solidFill>
              </a:rPr>
              <a:t> into an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800">
                <a:solidFill>
                  <a:schemeClr val="dk1"/>
                </a:solidFill>
              </a:rPr>
              <a:t> because usually when we read in data from a file, it all comes in as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can, g</a:t>
            </a:r>
            <a:r>
              <a:rPr lang="en"/>
              <a:t>iven a list of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ints</a:t>
            </a:r>
            <a:r>
              <a:rPr lang="en"/>
              <a:t>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en"/>
              <a:t> of counts of consecutive pairs.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example: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pairs</a:t>
            </a: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 = count_consecutive_pairs([1, 2, 3, 1, 2])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print(pairs)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{(1, 2): 2, (2, 3): 1, (3, 1): 1}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Programming Practice 02</a:t>
            </a:r>
            <a:endParaRPr/>
          </a:p>
        </p:txBody>
      </p:sp>
      <p:sp>
        <p:nvSpPr>
          <p:cNvPr id="69" name="Google Shape;69;g3b8409de4d6_0_84"/>
          <p:cNvSpPr/>
          <p:nvPr/>
        </p:nvSpPr>
        <p:spPr>
          <a:xfrm>
            <a:off x="420225" y="4720475"/>
            <a:ext cx="8266500" cy="14847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75" name="Google Shape;75;g3b938ea6dd9_0_50" title="Screenshot 2026-01-20 at 10.46.28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28975" y="198930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6" name="Google Shape;76;g3b938ea6dd9_0_50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.get(key, default)</a:t>
            </a:r>
            <a:r>
              <a:rPr lang="en" sz="1800">
                <a:solidFill>
                  <a:schemeClr val="dk1"/>
                </a:solidFill>
              </a:rPr>
              <a:t> allows us to specify a backup </a:t>
            </a:r>
            <a:r>
              <a:rPr lang="en" sz="1800">
                <a:solidFill>
                  <a:schemeClr val="dk1"/>
                </a:solidFill>
              </a:rPr>
              <a:t>value</a:t>
            </a:r>
            <a:r>
              <a:rPr lang="en" sz="1800">
                <a:solidFill>
                  <a:schemeClr val="dk1"/>
                </a:solidFill>
              </a:rPr>
              <a:t> to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800">
                <a:solidFill>
                  <a:schemeClr val="dk1"/>
                </a:solidFill>
              </a:rPr>
              <a:t> if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key</a:t>
            </a:r>
            <a:r>
              <a:rPr lang="en" sz="1800">
                <a:solidFill>
                  <a:schemeClr val="dk1"/>
                </a:solidFill>
              </a:rPr>
              <a:t> doesn’t already exist in the </a:t>
            </a:r>
            <a:r>
              <a:rPr lang="en" sz="1800">
                <a:solidFill>
                  <a:schemeClr val="dk1"/>
                </a:solidFill>
              </a:rPr>
              <a:t>dictionary</a:t>
            </a:r>
            <a:endParaRPr b="1" sz="18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938ea6dd9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List Slices</a:t>
            </a:r>
            <a:endParaRPr/>
          </a:p>
        </p:txBody>
      </p:sp>
      <p:sp>
        <p:nvSpPr>
          <p:cNvPr id="82" name="Google Shape;82;g3b938ea6dd9_0_60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List slices allow us to access regions of the list instead of just individual values.</a:t>
            </a:r>
            <a:endParaRPr/>
          </a:p>
        </p:txBody>
      </p:sp>
      <p:sp>
        <p:nvSpPr>
          <p:cNvPr id="83" name="Google Shape;83;g3b938ea6dd9_0_60"/>
          <p:cNvSpPr txBox="1"/>
          <p:nvPr/>
        </p:nvSpPr>
        <p:spPr>
          <a:xfrm>
            <a:off x="1068450" y="6181800"/>
            <a:ext cx="70071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In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 sz="1800">
                <a:solidFill>
                  <a:schemeClr val="dk1"/>
                </a:solidFill>
              </a:rPr>
              <a:t> slice, the first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index</a:t>
            </a:r>
            <a:r>
              <a:rPr lang="en" sz="1800">
                <a:solidFill>
                  <a:schemeClr val="dk1"/>
                </a:solidFill>
              </a:rPr>
              <a:t> is inclusive, the second isn’t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" name="Google Shape;84;g3b938ea6dd9_0_60" title="Screenshot 2026-01-20 at 10.53.11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8963" y="2895600"/>
            <a:ext cx="7286085" cy="31338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g3b938ea6dd9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96" name="Google Shape;96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Embeddings</a:t>
            </a:r>
            <a:endParaRPr sz="1000"/>
          </a:p>
        </p:txBody>
      </p:sp>
      <p:cxnSp>
        <p:nvCxnSpPr>
          <p:cNvPr id="98" name="Google Shape;98;g3b938ea6dd9_0_26"/>
          <p:cNvCxnSpPr>
            <a:stCxn id="97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9" name="Google Shape;99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Tokenizer</a:t>
            </a:r>
            <a:endParaRPr sz="1000"/>
          </a:p>
        </p:txBody>
      </p:sp>
      <p:cxnSp>
        <p:nvCxnSpPr>
          <p:cNvPr id="100" name="Google Shape;100;g3b938ea6dd9_0_26"/>
          <p:cNvCxnSpPr>
            <a:stCxn id="99" idx="0"/>
            <a:endCxn id="97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1" name="Google Shape;101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102" name="Google Shape;102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“Please help me with my homework!!”</a:t>
            </a:r>
            <a:endParaRPr sz="1000"/>
          </a:p>
        </p:txBody>
      </p:sp>
      <p:cxnSp>
        <p:nvCxnSpPr>
          <p:cNvPr id="103" name="Google Shape;103;g3b938ea6dd9_0_26"/>
          <p:cNvCxnSpPr>
            <a:stCxn id="102" idx="0"/>
            <a:endCxn id="99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4" name="Google Shape;104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  <p:sp>
        <p:nvSpPr>
          <p:cNvPr id="106" name="Google Shape;106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Response</a:t>
            </a:r>
            <a:r>
              <a:rPr lang="en" sz="1000"/>
              <a:t>: “Certainly, as a large language model I’d be happy to help you cheat on your homework assignment”</a:t>
            </a:r>
            <a:endParaRPr sz="1000"/>
          </a:p>
        </p:txBody>
      </p:sp>
      <p:cxnSp>
        <p:nvCxnSpPr>
          <p:cNvPr id="107" name="Google Shape;107;g3b938ea6dd9_0_26"/>
          <p:cNvCxnSpPr>
            <a:endCxn id="106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b938ea6dd9_0_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OpenAI API</a:t>
            </a:r>
            <a:endParaRPr/>
          </a:p>
        </p:txBody>
      </p:sp>
      <p:pic>
        <p:nvPicPr>
          <p:cNvPr id="113" name="Google Shape;113;g3b938ea6dd9_0_0" title="Screenshot 2026-01-15 at 3.42.2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38" y="1809062"/>
            <a:ext cx="7811302" cy="277667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g3b938ea6dd9_0_0"/>
          <p:cNvSpPr txBox="1"/>
          <p:nvPr/>
        </p:nvSpPr>
        <p:spPr>
          <a:xfrm>
            <a:off x="1218150" y="4977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An </a:t>
            </a:r>
            <a:r>
              <a:rPr b="1" lang="en" sz="1800">
                <a:solidFill>
                  <a:srgbClr val="980000"/>
                </a:solidFill>
                <a:latin typeface="Consolas"/>
                <a:ea typeface="Consolas"/>
                <a:cs typeface="Consolas"/>
                <a:sym typeface="Consolas"/>
              </a:rPr>
              <a:t>API </a:t>
            </a:r>
            <a:r>
              <a:rPr lang="en" sz="1800">
                <a:solidFill>
                  <a:schemeClr val="dk1"/>
                </a:solidFill>
              </a:rPr>
              <a:t>is a set of URLs that allow code to access things automatically (like AI models)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938ea6dd9_0_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Anthropic API</a:t>
            </a:r>
            <a:endParaRPr/>
          </a:p>
        </p:txBody>
      </p:sp>
      <p:pic>
        <p:nvPicPr>
          <p:cNvPr id="120" name="Google Shape;120;g3b938ea6dd9_0_6" title="Screenshot 2026-01-15 at 3.43.15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650" y="1551799"/>
            <a:ext cx="8062699" cy="511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938ea6dd9_0_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Tokens Today — Claude Code</a:t>
            </a:r>
            <a:endParaRPr/>
          </a:p>
        </p:txBody>
      </p:sp>
      <p:pic>
        <p:nvPicPr>
          <p:cNvPr id="126" name="Google Shape;126;g3b938ea6dd9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5977" y="2226975"/>
            <a:ext cx="7632051" cy="272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Text as Data</a:t>
            </a:r>
            <a:endParaRPr/>
          </a:p>
        </p:txBody>
      </p:sp>
      <p:sp>
        <p:nvSpPr>
          <p:cNvPr id="132" name="Google Shape;132;g3ba79990f52_0_5"/>
          <p:cNvSpPr txBox="1"/>
          <p:nvPr>
            <p:ph idx="1" type="body"/>
          </p:nvPr>
        </p:nvSpPr>
        <p:spPr>
          <a:xfrm>
            <a:off x="457200" y="1765116"/>
            <a:ext cx="3078000" cy="44598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85325" lIns="85325" spcFirstLastPara="1" rIns="85325" wrap="square" tIns="853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"Jabberwocky"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by Lewis Carroll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'Twas brillig, and the slithy toves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Did gyre and gimble in the wabe;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All mimsy were the borogoves,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the mome raths outgrabe.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"Beware the Jabberwock, my son!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jaws that bite, the claws that catch!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Beware the Jubjub bird, and shun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The frumious Bandersnatch!"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He took his vorpal sword in hand: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Long time the manxome foe he sought—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So rested he by the Tumtum tree,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</a:pPr>
            <a:r>
              <a:rPr lang="en" sz="1120">
                <a:latin typeface="Consolas"/>
                <a:ea typeface="Consolas"/>
                <a:cs typeface="Consolas"/>
                <a:sym typeface="Consolas"/>
              </a:rPr>
              <a:t>And stood awhile in thought.</a:t>
            </a:r>
            <a:endParaRPr sz="112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" name="Google Shape;133;g3ba79990f52_0_5"/>
          <p:cNvSpPr txBox="1"/>
          <p:nvPr/>
        </p:nvSpPr>
        <p:spPr>
          <a:xfrm>
            <a:off x="1401418" y="1465801"/>
            <a:ext cx="21336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80"/>
              <a:buFont typeface="Arial"/>
              <a:buNone/>
            </a:pPr>
            <a:r>
              <a:rPr b="1" i="0" lang="en" sz="1680" u="none" cap="none" strike="noStrike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jabberwocky.txt</a:t>
            </a:r>
            <a:endParaRPr b="1" i="0" sz="1680" u="none" cap="none" strike="noStrike">
              <a:solidFill>
                <a:srgbClr val="DCB439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" name="Google Shape;134;g3ba79990f52_0_5"/>
          <p:cNvSpPr/>
          <p:nvPr/>
        </p:nvSpPr>
        <p:spPr>
          <a:xfrm>
            <a:off x="457200" y="1417650"/>
            <a:ext cx="3078000" cy="347400"/>
          </a:xfrm>
          <a:prstGeom prst="rect">
            <a:avLst/>
          </a:prstGeom>
          <a:noFill/>
          <a:ln cap="flat" cmpd="sng" w="3555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325" lIns="85325" spcFirstLastPara="1" rIns="85325" wrap="square" tIns="8532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7"/>
              <a:buFont typeface="Arial"/>
              <a:buNone/>
            </a:pPr>
            <a:r>
              <a:t/>
            </a:r>
            <a:endParaRPr b="0" i="0" sz="130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g3ba79990f52_0_5"/>
          <p:cNvPicPr preferRelativeResize="0"/>
          <p:nvPr/>
        </p:nvPicPr>
        <p:blipFill rotWithShape="1">
          <a:blip r:embed="rId3">
            <a:alphaModFix/>
          </a:blip>
          <a:srcRect b="12536" l="18278" r="18430" t="12303"/>
          <a:stretch/>
        </p:blipFill>
        <p:spPr>
          <a:xfrm>
            <a:off x="493859" y="1447565"/>
            <a:ext cx="242227" cy="28764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g3ba79990f52_0_5"/>
          <p:cNvSpPr txBox="1"/>
          <p:nvPr/>
        </p:nvSpPr>
        <p:spPr>
          <a:xfrm>
            <a:off x="76200" y="6254825"/>
            <a:ext cx="38400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Markov Graph Visualizer</a:t>
            </a:r>
            <a:endParaRPr b="1"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42" name="Google Shape;142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938ea6dd9_0_4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Imports</a:t>
            </a:r>
            <a:endParaRPr/>
          </a:p>
        </p:txBody>
      </p:sp>
      <p:sp>
        <p:nvSpPr>
          <p:cNvPr id="148" name="Google Shape;148;g3b938ea6dd9_0_45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Imports</a:t>
            </a:r>
            <a:r>
              <a:rPr lang="en"/>
              <a:t> allow us to access useful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that are not built-in to </a:t>
            </a:r>
            <a:r>
              <a:rPr lang="en"/>
              <a:t>python.</a:t>
            </a:r>
            <a:endParaRPr/>
          </a:p>
        </p:txBody>
      </p:sp>
      <p:pic>
        <p:nvPicPr>
          <p:cNvPr id="149" name="Google Shape;149;g3b938ea6dd9_0_45" title="Screenshot 2026-01-20 at 11.21.57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625" y="5016685"/>
            <a:ext cx="7422761" cy="95684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0" name="Google Shape;150;g3b938ea6dd9_0_45" title="Screenshot 2026-01-20 at 11.20.17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25483" y="2743201"/>
            <a:ext cx="4093052" cy="211464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1" name="Google Shape;151;g3b938ea6dd9_0_45"/>
          <p:cNvSpPr txBox="1"/>
          <p:nvPr/>
        </p:nvSpPr>
        <p:spPr>
          <a:xfrm>
            <a:off x="1797000" y="6183400"/>
            <a:ext cx="55500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These are almost always at the top of the file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b8409de4d6_0_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a Token?</a:t>
            </a:r>
            <a:endParaRPr/>
          </a:p>
        </p:txBody>
      </p:sp>
      <p:sp>
        <p:nvSpPr>
          <p:cNvPr id="157" name="Google Shape;157;g3b8409de4d6_0_4"/>
          <p:cNvSpPr txBox="1"/>
          <p:nvPr>
            <p:ph idx="1" type="body"/>
          </p:nvPr>
        </p:nvSpPr>
        <p:spPr>
          <a:xfrm>
            <a:off x="457200" y="3339350"/>
            <a:ext cx="8229600" cy="32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are </a:t>
            </a:r>
            <a:r>
              <a:rPr b="1" lang="en">
                <a:solidFill>
                  <a:srgbClr val="465510"/>
                </a:solidFill>
              </a:rPr>
              <a:t>words</a:t>
            </a:r>
            <a:r>
              <a:rPr lang="en"/>
              <a:t>, </a:t>
            </a:r>
            <a:r>
              <a:rPr b="1" lang="en">
                <a:solidFill>
                  <a:srgbClr val="465510"/>
                </a:solidFill>
              </a:rPr>
              <a:t>character sets</a:t>
            </a:r>
            <a:r>
              <a:rPr lang="en"/>
              <a:t>, or </a:t>
            </a:r>
            <a:r>
              <a:rPr b="1" lang="en">
                <a:solidFill>
                  <a:srgbClr val="465510"/>
                </a:solidFill>
              </a:rPr>
              <a:t>combinations of words and punctuation</a:t>
            </a:r>
            <a:r>
              <a:rPr lang="en"/>
              <a:t> that are generated by </a:t>
            </a:r>
            <a:r>
              <a:rPr b="1" lang="en">
                <a:solidFill>
                  <a:srgbClr val="DCB439"/>
                </a:solidFill>
              </a:rPr>
              <a:t>LLMs</a:t>
            </a:r>
            <a:r>
              <a:rPr lang="en"/>
              <a:t> when they decompose text.”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— Microsoft</a:t>
            </a:r>
            <a:endParaRPr/>
          </a:p>
        </p:txBody>
      </p:sp>
      <p:pic>
        <p:nvPicPr>
          <p:cNvPr id="158" name="Google Shape;158;g3b8409de4d6_0_4" title="Screenshot 2026-01-20 at 11.14.55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50" y="1664176"/>
            <a:ext cx="7440699" cy="124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938ea6dd9_0_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Tokenization</a:t>
            </a:r>
            <a:endParaRPr/>
          </a:p>
        </p:txBody>
      </p:sp>
      <p:sp>
        <p:nvSpPr>
          <p:cNvPr id="164" name="Google Shape;164;g3b938ea6dd9_0_75"/>
          <p:cNvSpPr txBox="1"/>
          <p:nvPr>
            <p:ph idx="1" type="body"/>
          </p:nvPr>
        </p:nvSpPr>
        <p:spPr>
          <a:xfrm>
            <a:off x="457200" y="3339350"/>
            <a:ext cx="8229600" cy="322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“</a:t>
            </a:r>
            <a:r>
              <a:rPr b="1" lang="en">
                <a:solidFill>
                  <a:srgbClr val="002B5B"/>
                </a:solidFill>
              </a:rPr>
              <a:t>Tokens</a:t>
            </a:r>
            <a:r>
              <a:rPr lang="en"/>
              <a:t> are </a:t>
            </a:r>
            <a:r>
              <a:rPr b="1" lang="en">
                <a:solidFill>
                  <a:srgbClr val="465510"/>
                </a:solidFill>
              </a:rPr>
              <a:t>words</a:t>
            </a:r>
            <a:r>
              <a:rPr lang="en"/>
              <a:t>, </a:t>
            </a:r>
            <a:r>
              <a:rPr b="1" lang="en">
                <a:solidFill>
                  <a:srgbClr val="465510"/>
                </a:solidFill>
              </a:rPr>
              <a:t>character sets</a:t>
            </a:r>
            <a:r>
              <a:rPr lang="en"/>
              <a:t>, or </a:t>
            </a:r>
            <a:r>
              <a:rPr b="1" lang="en">
                <a:solidFill>
                  <a:srgbClr val="465510"/>
                </a:solidFill>
              </a:rPr>
              <a:t>combinations of words and punctuation</a:t>
            </a:r>
            <a:r>
              <a:rPr lang="en"/>
              <a:t> that are generated by </a:t>
            </a:r>
            <a:r>
              <a:rPr b="1" lang="en">
                <a:solidFill>
                  <a:srgbClr val="DCB439"/>
                </a:solidFill>
              </a:rPr>
              <a:t>LLMs</a:t>
            </a:r>
            <a:r>
              <a:rPr lang="en"/>
              <a:t> when they decompose text.” 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— Microsoft</a:t>
            </a:r>
            <a:endParaRPr/>
          </a:p>
        </p:txBody>
      </p:sp>
      <p:pic>
        <p:nvPicPr>
          <p:cNvPr id="165" name="Google Shape;165;g3b938ea6dd9_0_75" title="Screenshot 2026-01-20 at 11.14.55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50" y="1664176"/>
            <a:ext cx="7440699" cy="124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8409de4d6_0_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>
                <a:solidFill>
                  <a:srgbClr val="A31415"/>
                </a:solidFill>
              </a:rPr>
              <a:t>(1994)</a:t>
            </a:r>
            <a:endParaRPr sz="1800">
              <a:solidFill>
                <a:srgbClr val="A31415"/>
              </a:solidFill>
            </a:endParaRPr>
          </a:p>
        </p:txBody>
      </p:sp>
      <p:sp>
        <p:nvSpPr>
          <p:cNvPr id="171" name="Google Shape;171;g3b8409de4d6_0_40"/>
          <p:cNvSpPr txBox="1"/>
          <p:nvPr>
            <p:ph idx="1" type="body"/>
          </p:nvPr>
        </p:nvSpPr>
        <p:spPr>
          <a:xfrm>
            <a:off x="457200" y="1600200"/>
            <a:ext cx="8229600" cy="46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BPE</a:t>
            </a:r>
            <a:r>
              <a:rPr lang="en"/>
              <a:t> is </a:t>
            </a:r>
            <a:r>
              <a:rPr lang="en"/>
              <a:t>an algorithm for encoding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/>
              <a:t> of text into smaller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r>
              <a:rPr lang="en"/>
              <a:t> by creating and </a:t>
            </a: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using a translation table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slightly modified version of the algorithm is </a:t>
            </a:r>
            <a:r>
              <a:rPr b="1" lang="en">
                <a:solidFill>
                  <a:srgbClr val="465510"/>
                </a:solidFill>
              </a:rPr>
              <a:t>used in LLM tokenizers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172" name="Google Shape;172;g3b8409de4d6_0_40" title="Screenshot 2026-01-20 at 11.34.44 AM 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7575" y="2857525"/>
            <a:ext cx="3156300" cy="215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g3b8409de4d6_0_40"/>
          <p:cNvSpPr txBox="1"/>
          <p:nvPr/>
        </p:nvSpPr>
        <p:spPr>
          <a:xfrm>
            <a:off x="1642775" y="3406725"/>
            <a:ext cx="3310200" cy="12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lang="en" sz="1800">
                <a:solidFill>
                  <a:schemeClr val="dk1"/>
                </a:solidFill>
              </a:rPr>
              <a:t>The size of the token vocabulary, in the case of GPT-3.5 and GPT-4, is 100258 tokens.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938ea6dd9_0_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79" name="Google Shape;179;g3b938ea6dd9_0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</a:t>
            </a: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rogramming</a:t>
            </a:r>
            <a:r>
              <a:rPr lang="en"/>
              <a:t>: Classes</a:t>
            </a:r>
            <a:endParaRPr/>
          </a:p>
        </p:txBody>
      </p:sp>
      <p:sp>
        <p:nvSpPr>
          <p:cNvPr id="185" name="Google Shape;185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86" name="Google Shape;186;g3b8409de4d6_0_103" title="Screenshot 2026-01-20 at 11.40.3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87" name="Google Shape;187;g3b8409de4d6_0_103" title="Screenshot 2026-01-20 at 11.41.41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8" name="Google Shape;188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We can use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lang="en" sz="1800">
                <a:solidFill>
                  <a:schemeClr val="dk1"/>
                </a:solidFill>
              </a:rPr>
              <a:t> to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 sz="1800">
                <a:solidFill>
                  <a:schemeClr val="dk1"/>
                </a:solidFill>
              </a:rPr>
              <a:t> out the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lang="en" sz="1800">
                <a:solidFill>
                  <a:schemeClr val="dk1"/>
                </a:solidFill>
              </a:rPr>
              <a:t> and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 sz="1800">
                <a:solidFill>
                  <a:schemeClr val="dk1"/>
                </a:solidFill>
              </a:rPr>
              <a:t> a </a:t>
            </a:r>
            <a:r>
              <a:rPr b="1" lang="en" sz="18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800">
                <a:solidFill>
                  <a:schemeClr val="dk1"/>
                </a:solidFill>
              </a:rPr>
              <a:t> has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94" name="Google Shape;194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5" name="Google Shape;195;g3b8409de4d6_0_118"/>
          <p:cNvSpPr txBox="1"/>
          <p:nvPr/>
        </p:nvSpPr>
        <p:spPr>
          <a:xfrm>
            <a:off x="457200" y="60132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</a:rPr>
              <a:t>NOTE:</a:t>
            </a:r>
            <a:r>
              <a:rPr lang="en" sz="1800">
                <a:solidFill>
                  <a:schemeClr val="dk1"/>
                </a:solidFill>
              </a:rPr>
              <a:t> </a:t>
            </a:r>
            <a:r>
              <a:rPr b="1" lang="en" sz="1800">
                <a:solidFill>
                  <a:srgbClr val="002B5B"/>
                </a:solidFill>
              </a:rPr>
              <a:t>Regex</a:t>
            </a:r>
            <a:r>
              <a:rPr lang="en" sz="1800">
                <a:solidFill>
                  <a:schemeClr val="dk1"/>
                </a:solidFill>
              </a:rPr>
              <a:t> is super confusing and almost a language unto itself, </a:t>
            </a:r>
            <a:r>
              <a:rPr b="1" lang="en" sz="1800">
                <a:solidFill>
                  <a:srgbClr val="DCB439"/>
                </a:solidFill>
              </a:rPr>
              <a:t>only sickos have it memorized</a:t>
            </a:r>
            <a:r>
              <a:rPr lang="en" sz="1800">
                <a:solidFill>
                  <a:schemeClr val="dk1"/>
                </a:solidFill>
              </a:rPr>
              <a:t>. </a:t>
            </a:r>
            <a:r>
              <a:rPr b="1" lang="en" sz="1800">
                <a:solidFill>
                  <a:srgbClr val="465510"/>
                </a:solidFill>
              </a:rPr>
              <a:t>Just use a cheat sheet or ask chat</a:t>
            </a:r>
            <a:r>
              <a:rPr lang="en" sz="1800">
                <a:solidFill>
                  <a:schemeClr val="dk1"/>
                </a:solidFill>
              </a:rPr>
              <a:t>.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196" name="Google Shape;196;g3b8409de4d6_0_1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4750" y="2846400"/>
            <a:ext cx="5614492" cy="28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202" name="Google Shape;202;g3b938ea6dd9_0_93"/>
          <p:cNvSpPr txBox="1"/>
          <p:nvPr>
            <p:ph idx="1" type="body"/>
          </p:nvPr>
        </p:nvSpPr>
        <p:spPr>
          <a:xfrm>
            <a:off x="457200" y="1600200"/>
            <a:ext cx="8229600" cy="9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GPT4_SPLIT_PATTERN =</a:t>
            </a:r>
            <a:r>
              <a:rPr lang="en"/>
              <a:t>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r"""'(?i:[sdmt]|ll|ve|re)|[^\r\n\p{L}\p{N}]?+\p{L}+|\p{N}{1,3}|?[^\s\p{L}\p{N}]++[\r\n]*|\s*[\r\n]|\s+(?!\S)|\s+"""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g3b938ea6dd9_0_93"/>
          <p:cNvSpPr txBox="1"/>
          <p:nvPr/>
        </p:nvSpPr>
        <p:spPr>
          <a:xfrm>
            <a:off x="457200" y="2588400"/>
            <a:ext cx="8229600" cy="38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002B5B"/>
                </a:solidFill>
              </a:rPr>
              <a:t>BPE</a:t>
            </a:r>
            <a:r>
              <a:rPr lang="en" sz="3000">
                <a:solidFill>
                  <a:schemeClr val="dk1"/>
                </a:solidFill>
              </a:rPr>
              <a:t> is excellent at breaking down words statistically, but </a:t>
            </a:r>
            <a:r>
              <a:rPr b="1" lang="en" sz="3000">
                <a:solidFill>
                  <a:srgbClr val="A31415"/>
                </a:solidFill>
              </a:rPr>
              <a:t>it can make suboptimal merges</a:t>
            </a:r>
            <a:r>
              <a:rPr lang="en" sz="3000">
                <a:solidFill>
                  <a:schemeClr val="dk1"/>
                </a:solidFill>
              </a:rPr>
              <a:t> like combining punctuation with words. </a:t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465510"/>
                </a:solidFill>
              </a:rPr>
              <a:t>Regex acts as a "pre-filter"</a:t>
            </a:r>
            <a:r>
              <a:rPr lang="en" sz="3000">
                <a:solidFill>
                  <a:schemeClr val="dk1"/>
                </a:solidFill>
              </a:rPr>
              <a:t> to prevent these issues, ensuring that letters, numbers, punctuation, and whitespace split.</a:t>
            </a:r>
            <a:endParaRPr sz="30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209" name="Google Shape;209;g3b8409de4d6_0_108"/>
          <p:cNvSpPr txBox="1"/>
          <p:nvPr>
            <p:ph idx="1" type="body"/>
          </p:nvPr>
        </p:nvSpPr>
        <p:spPr>
          <a:xfrm>
            <a:off x="457200" y="1600200"/>
            <a:ext cx="8229600" cy="68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</a:t>
            </a:r>
            <a:r>
              <a:rPr b="1" lang="en" u="sng">
                <a:solidFill>
                  <a:srgbClr val="DCB439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anochat tokenizer code</a:t>
            </a:r>
            <a:endParaRPr b="1"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