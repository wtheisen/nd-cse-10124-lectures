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3Q+u7VpnXvXQqm3ukTjr8HKst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8409de4d6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b8409de4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8409de4d6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b8409de4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8409de4d6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b8409de4d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8409de4d6_0_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b8409de4d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8409de4d6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8409de4d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938ea6dd9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938ea6d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938ea6dd9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938ea6dd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38ea6dd9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938ea6d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938ea6dd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938ea6d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938ea6dd9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938ea6d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938ea6dd9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938ea6d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a79990f52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ba79990f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938ea6dd9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938ea6d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938ea6dd9_0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938ea6dd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8409de4d6_0_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8409de4d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938ea6dd9_0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938ea6dd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8409de4d6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8409de4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938ea6dd9_0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938ea6dd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hyperlink" Target="https://docs.python.org/3/library/stdtypes.html#typesseq-rang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10124.williamtheisen.com/markov-viz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huggingface.co/unsloth/llama-3-8b/raw/main/tokenizer.json" TargetMode="External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8409de4d6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8409de4d6_0_5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 Colab Cell, write code to do the following: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/>
              <a:t> each of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egers 0-9,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/>
              <a:t> out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/>
              <a:t> 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 </a:t>
            </a:r>
            <a:r>
              <a:rPr lang="en"/>
              <a:t>plus</a:t>
            </a:r>
            <a:r>
              <a:rPr lang="en"/>
              <a:t> 5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</a:rPr>
              <a:t>Challenge: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 def</a:t>
            </a:r>
            <a:r>
              <a:rPr lang="en"/>
              <a:t>ine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that would accept any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/>
              <a:t>highest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eger, instead of only going to 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8409de4d6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65510"/>
                </a:solidFill>
              </a:rPr>
              <a:t>Programming Practice Solution 01</a:t>
            </a:r>
            <a:endParaRPr>
              <a:solidFill>
                <a:srgbClr val="465510"/>
              </a:solidFill>
            </a:endParaRPr>
          </a:p>
        </p:txBody>
      </p:sp>
      <p:pic>
        <p:nvPicPr>
          <p:cNvPr id="41" name="Google Shape;41;g3b8409de4d6_0_60" title="Screenshot 2026-01-20 at 10.37.4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1417638"/>
            <a:ext cx="6400800" cy="17716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" name="Google Shape;42;g3b8409de4d6_0_60" title="Screenshot 2026-01-20 at 10.38.2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5075" y="3649175"/>
            <a:ext cx="4133850" cy="20764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" name="Google Shape;43;g3b8409de4d6_0_60"/>
          <p:cNvSpPr txBox="1"/>
          <p:nvPr/>
        </p:nvSpPr>
        <p:spPr>
          <a:xfrm>
            <a:off x="1218150" y="5894150"/>
            <a:ext cx="67077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We can read about built-in </a:t>
            </a:r>
            <a:r>
              <a:rPr lang="en" sz="1800">
                <a:solidFill>
                  <a:schemeClr val="dk1"/>
                </a:solidFill>
              </a:rPr>
              <a:t>features</a:t>
            </a:r>
            <a:r>
              <a:rPr lang="en" sz="1800">
                <a:solidFill>
                  <a:schemeClr val="dk1"/>
                </a:solidFill>
              </a:rPr>
              <a:t> like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800">
                <a:solidFill>
                  <a:schemeClr val="dk1"/>
                </a:solidFill>
              </a:rPr>
              <a:t> using the </a:t>
            </a:r>
            <a:r>
              <a:rPr b="1" lang="en" sz="1800" u="sng">
                <a:solidFill>
                  <a:srgbClr val="5AABB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python documentation</a:t>
            </a:r>
            <a:r>
              <a:rPr lang="en" sz="1800">
                <a:solidFill>
                  <a:schemeClr val="dk1"/>
                </a:solidFill>
              </a:rPr>
              <a:t>!</a:t>
            </a:r>
            <a:endParaRPr b="1" sz="18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8409de4d6_0_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Errors</a:t>
            </a:r>
            <a:endParaRPr/>
          </a:p>
        </p:txBody>
      </p:sp>
      <p:sp>
        <p:nvSpPr>
          <p:cNvPr id="49" name="Google Shape;49;g3b8409de4d6_0_65"/>
          <p:cNvSpPr txBox="1"/>
          <p:nvPr>
            <p:ph idx="1" type="body"/>
          </p:nvPr>
        </p:nvSpPr>
        <p:spPr>
          <a:xfrm>
            <a:off x="457200" y="1417650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Last class we saw an error when we tried to add an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 and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/>
              <a:t> together.</a:t>
            </a:r>
            <a:endParaRPr/>
          </a:p>
        </p:txBody>
      </p:sp>
      <p:pic>
        <p:nvPicPr>
          <p:cNvPr id="50" name="Google Shape;50;g3b8409de4d6_0_65" title="Screenshot 2026-01-16 at 8.22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777400"/>
            <a:ext cx="8229599" cy="19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g3b8409de4d6_0_65"/>
          <p:cNvSpPr/>
          <p:nvPr/>
        </p:nvSpPr>
        <p:spPr>
          <a:xfrm>
            <a:off x="5097875" y="4372875"/>
            <a:ext cx="295200" cy="334200"/>
          </a:xfrm>
          <a:prstGeom prst="rect">
            <a:avLst/>
          </a:prstGeom>
          <a:noFill/>
          <a:ln cap="flat" cmpd="sng" w="38100">
            <a:solidFill>
              <a:srgbClr val="A314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b8409de4d6_0_65"/>
          <p:cNvSpPr/>
          <p:nvPr/>
        </p:nvSpPr>
        <p:spPr>
          <a:xfrm>
            <a:off x="5461275" y="4372875"/>
            <a:ext cx="555300" cy="334200"/>
          </a:xfrm>
          <a:prstGeom prst="rect">
            <a:avLst/>
          </a:prstGeom>
          <a:noFill/>
          <a:ln cap="flat" cmpd="sng" w="38100">
            <a:solidFill>
              <a:srgbClr val="A314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b8409de4d6_0_65"/>
          <p:cNvSpPr/>
          <p:nvPr/>
        </p:nvSpPr>
        <p:spPr>
          <a:xfrm>
            <a:off x="6536025" y="4372875"/>
            <a:ext cx="555300" cy="334200"/>
          </a:xfrm>
          <a:prstGeom prst="rect">
            <a:avLst/>
          </a:prstGeom>
          <a:noFill/>
          <a:ln cap="flat" cmpd="sng" w="38100">
            <a:solidFill>
              <a:srgbClr val="A314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8409de4d6_0_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Typecasting</a:t>
            </a:r>
            <a:endParaRPr/>
          </a:p>
        </p:txBody>
      </p:sp>
      <p:sp>
        <p:nvSpPr>
          <p:cNvPr id="59" name="Google Shape;59;g3b8409de4d6_0_74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2B5B"/>
                </a:solidFill>
              </a:rPr>
              <a:t>Typecasting</a:t>
            </a:r>
            <a:r>
              <a:rPr lang="en"/>
              <a:t> allows us to </a:t>
            </a:r>
            <a:r>
              <a:rPr b="1" lang="en">
                <a:solidFill>
                  <a:srgbClr val="465510"/>
                </a:solidFill>
              </a:rPr>
              <a:t>change a variable or value to a different </a:t>
            </a:r>
            <a:r>
              <a:rPr b="1" lang="en" sz="1400">
                <a:solidFill>
                  <a:srgbClr val="465510"/>
                </a:solidFill>
              </a:rPr>
              <a:t>(supported)</a:t>
            </a:r>
            <a:r>
              <a:rPr b="1" lang="en">
                <a:solidFill>
                  <a:srgbClr val="465510"/>
                </a:solidFill>
              </a:rPr>
              <a:t> type!</a:t>
            </a:r>
            <a:endParaRPr b="1">
              <a:solidFill>
                <a:srgbClr val="465510"/>
              </a:solidFill>
            </a:endParaRPr>
          </a:p>
        </p:txBody>
      </p:sp>
      <p:pic>
        <p:nvPicPr>
          <p:cNvPr id="60" name="Google Shape;60;g3b8409de4d6_0_74" title="Screenshot 2026-01-16 at 8.26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175" y="2822813"/>
            <a:ext cx="3678575" cy="190617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" name="Google Shape;61;g3b8409de4d6_0_74" title="Screenshot 2026-01-16 at 8.27.0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225" y="2822825"/>
            <a:ext cx="3377609" cy="190617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" name="Google Shape;62;g3b8409de4d6_0_74"/>
          <p:cNvSpPr txBox="1"/>
          <p:nvPr/>
        </p:nvSpPr>
        <p:spPr>
          <a:xfrm>
            <a:off x="1218150" y="4949150"/>
            <a:ext cx="670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It is especially useful to </a:t>
            </a:r>
            <a:r>
              <a:rPr b="1" lang="en" sz="1800">
                <a:solidFill>
                  <a:srgbClr val="002B5B"/>
                </a:solidFill>
              </a:rPr>
              <a:t>typecast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 sz="1800">
                <a:solidFill>
                  <a:schemeClr val="dk1"/>
                </a:solidFill>
              </a:rPr>
              <a:t> into an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</a:rPr>
              <a:t> because usually when we read in data from a file, it all comes in as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 b="1" sz="18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8409de4d6_0_84"/>
          <p:cNvSpPr txBox="1"/>
          <p:nvPr>
            <p:ph idx="1" type="body"/>
          </p:nvPr>
        </p:nvSpPr>
        <p:spPr>
          <a:xfrm>
            <a:off x="457200" y="1600200"/>
            <a:ext cx="8229600" cy="47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/>
              <a:t>ine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that can, g</a:t>
            </a:r>
            <a:r>
              <a:rPr lang="en"/>
              <a:t>iven a list of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ints</a:t>
            </a:r>
            <a:r>
              <a:rPr lang="en"/>
              <a:t>,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/>
              <a:t>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r>
              <a:rPr lang="en"/>
              <a:t> of counts of consecutive pairs.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example: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pairs</a:t>
            </a: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 = count_consecutive_pairs([1, 2, 3, 1, 2])</a:t>
            </a:r>
            <a:endParaRPr b="1" sz="24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print(pairs)</a:t>
            </a:r>
            <a:endParaRPr b="1" sz="24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{(1, 2): 2, (2, 3): 1, (3, 1): 1}</a:t>
            </a:r>
            <a:endParaRPr b="1"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g3b8409de4d6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Practice 02</a:t>
            </a:r>
            <a:endParaRPr/>
          </a:p>
        </p:txBody>
      </p:sp>
      <p:sp>
        <p:nvSpPr>
          <p:cNvPr id="69" name="Google Shape;69;g3b8409de4d6_0_84"/>
          <p:cNvSpPr/>
          <p:nvPr/>
        </p:nvSpPr>
        <p:spPr>
          <a:xfrm>
            <a:off x="420225" y="4720475"/>
            <a:ext cx="8266500" cy="14847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938ea6dd9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65510"/>
                </a:solidFill>
              </a:rPr>
              <a:t>Programming Practice Solution 02</a:t>
            </a:r>
            <a:endParaRPr>
              <a:solidFill>
                <a:srgbClr val="465510"/>
              </a:solidFill>
            </a:endParaRPr>
          </a:p>
        </p:txBody>
      </p:sp>
      <p:pic>
        <p:nvPicPr>
          <p:cNvPr id="75" name="Google Shape;75;g3b938ea6dd9_0_50" title="Screenshot 2026-01-20 at 10.46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975" y="1989300"/>
            <a:ext cx="7086051" cy="23882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" name="Google Shape;76;g3b938ea6dd9_0_50"/>
          <p:cNvSpPr txBox="1"/>
          <p:nvPr/>
        </p:nvSpPr>
        <p:spPr>
          <a:xfrm>
            <a:off x="1218150" y="4949150"/>
            <a:ext cx="670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.get(key, default)</a:t>
            </a:r>
            <a:r>
              <a:rPr lang="en" sz="1800">
                <a:solidFill>
                  <a:schemeClr val="dk1"/>
                </a:solidFill>
              </a:rPr>
              <a:t> allows us to specify a backup </a:t>
            </a:r>
            <a:r>
              <a:rPr lang="en" sz="1800">
                <a:solidFill>
                  <a:schemeClr val="dk1"/>
                </a:solidFill>
              </a:rPr>
              <a:t>value</a:t>
            </a:r>
            <a:r>
              <a:rPr lang="en" sz="1800">
                <a:solidFill>
                  <a:schemeClr val="dk1"/>
                </a:solidFill>
              </a:rPr>
              <a:t> to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800">
                <a:solidFill>
                  <a:schemeClr val="dk1"/>
                </a:solidFill>
              </a:rPr>
              <a:t> if the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800">
                <a:solidFill>
                  <a:schemeClr val="dk1"/>
                </a:solidFill>
              </a:rPr>
              <a:t> doesn’t already exist in the </a:t>
            </a:r>
            <a:r>
              <a:rPr lang="en" sz="1800">
                <a:solidFill>
                  <a:schemeClr val="dk1"/>
                </a:solidFill>
              </a:rPr>
              <a:t>dictionary</a:t>
            </a:r>
            <a:endParaRPr b="1" sz="18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38ea6dd9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List Slices</a:t>
            </a:r>
            <a:endParaRPr/>
          </a:p>
        </p:txBody>
      </p:sp>
      <p:sp>
        <p:nvSpPr>
          <p:cNvPr id="82" name="Google Shape;82;g3b938ea6dd9_0_60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List slices allow us to access regions of the list instead of just individual values.</a:t>
            </a:r>
            <a:endParaRPr/>
          </a:p>
        </p:txBody>
      </p:sp>
      <p:sp>
        <p:nvSpPr>
          <p:cNvPr id="83" name="Google Shape;83;g3b938ea6dd9_0_60"/>
          <p:cNvSpPr txBox="1"/>
          <p:nvPr/>
        </p:nvSpPr>
        <p:spPr>
          <a:xfrm>
            <a:off x="1068450" y="6181800"/>
            <a:ext cx="70071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In a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800">
                <a:solidFill>
                  <a:schemeClr val="dk1"/>
                </a:solidFill>
              </a:rPr>
              <a:t> slice, the first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" sz="1800">
                <a:solidFill>
                  <a:schemeClr val="dk1"/>
                </a:solidFill>
              </a:rPr>
              <a:t> is inclusive, the second isn’t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4" name="Google Shape;84;g3b938ea6dd9_0_60" title="Screenshot 2026-01-20 at 10.53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963" y="2895600"/>
            <a:ext cx="7286085" cy="31338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Tokenization 01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b938ea6dd9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b938ea6dd9_0_26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96" name="Google Shape;96;g3b938ea6dd9_0_26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938ea6dd9_0_26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Embeddings</a:t>
            </a:r>
            <a:endParaRPr sz="1000"/>
          </a:p>
        </p:txBody>
      </p:sp>
      <p:cxnSp>
        <p:nvCxnSpPr>
          <p:cNvPr id="98" name="Google Shape;98;g3b938ea6dd9_0_26"/>
          <p:cNvCxnSpPr>
            <a:stCxn id="97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g3b938ea6dd9_0_26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Tokenizer</a:t>
            </a:r>
            <a:endParaRPr sz="1000"/>
          </a:p>
        </p:txBody>
      </p:sp>
      <p:cxnSp>
        <p:nvCxnSpPr>
          <p:cNvPr id="100" name="Google Shape;100;g3b938ea6dd9_0_26"/>
          <p:cNvCxnSpPr>
            <a:stCxn id="99" idx="0"/>
            <a:endCxn id="97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g3b938ea6dd9_0_26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102" name="Google Shape;102;g3b938ea6dd9_0_26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“Please help me with my homework!!”</a:t>
            </a:r>
            <a:endParaRPr sz="1000"/>
          </a:p>
        </p:txBody>
      </p:sp>
      <p:cxnSp>
        <p:nvCxnSpPr>
          <p:cNvPr id="103" name="Google Shape;103;g3b938ea6dd9_0_26"/>
          <p:cNvCxnSpPr>
            <a:stCxn id="102" idx="0"/>
            <a:endCxn id="99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g3b938ea6dd9_0_26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b938ea6dd9_0_26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6" name="Google Shape;106;g3b938ea6dd9_0_26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Response</a:t>
            </a:r>
            <a:r>
              <a:rPr lang="en" sz="1000"/>
              <a:t>: “Certainly, as a large language model I’d be happy to help you cheat on your homework assignment”</a:t>
            </a:r>
            <a:endParaRPr sz="1000"/>
          </a:p>
        </p:txBody>
      </p:sp>
      <p:cxnSp>
        <p:nvCxnSpPr>
          <p:cNvPr id="107" name="Google Shape;107;g3b938ea6dd9_0_26"/>
          <p:cNvCxnSpPr>
            <a:endCxn id="106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938ea6dd9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Today — OpenAI API</a:t>
            </a:r>
            <a:endParaRPr/>
          </a:p>
        </p:txBody>
      </p:sp>
      <p:pic>
        <p:nvPicPr>
          <p:cNvPr id="113" name="Google Shape;113;g3b938ea6dd9_0_0" title="Screenshot 2026-01-15 at 3.42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38" y="1809062"/>
            <a:ext cx="7811302" cy="277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b938ea6dd9_0_0"/>
          <p:cNvSpPr txBox="1"/>
          <p:nvPr/>
        </p:nvSpPr>
        <p:spPr>
          <a:xfrm>
            <a:off x="1218150" y="4977150"/>
            <a:ext cx="670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An </a:t>
            </a:r>
            <a:r>
              <a:rPr b="1" lang="en" sz="18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API </a:t>
            </a:r>
            <a:r>
              <a:rPr lang="en" sz="1800">
                <a:solidFill>
                  <a:schemeClr val="dk1"/>
                </a:solidFill>
              </a:rPr>
              <a:t>is a set of URLs that allow code to access things automatically (like AI models)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938ea6dd9_0_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Today — Anthropic API</a:t>
            </a:r>
            <a:endParaRPr/>
          </a:p>
        </p:txBody>
      </p:sp>
      <p:pic>
        <p:nvPicPr>
          <p:cNvPr id="120" name="Google Shape;120;g3b938ea6dd9_0_6" title="Screenshot 2026-01-15 at 3.43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650" y="1551799"/>
            <a:ext cx="8062699" cy="51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938ea6dd9_0_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Today — Claude Code</a:t>
            </a:r>
            <a:endParaRPr/>
          </a:p>
        </p:txBody>
      </p:sp>
      <p:pic>
        <p:nvPicPr>
          <p:cNvPr id="126" name="Google Shape;126;g3b938ea6dd9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977" y="2226975"/>
            <a:ext cx="7632051" cy="27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a79990f52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Last Class - Text as Data</a:t>
            </a:r>
            <a:endParaRPr/>
          </a:p>
        </p:txBody>
      </p:sp>
      <p:sp>
        <p:nvSpPr>
          <p:cNvPr id="132" name="Google Shape;132;g3ba79990f52_0_5"/>
          <p:cNvSpPr txBox="1"/>
          <p:nvPr>
            <p:ph idx="1" type="body"/>
          </p:nvPr>
        </p:nvSpPr>
        <p:spPr>
          <a:xfrm>
            <a:off x="457200" y="1765116"/>
            <a:ext cx="3078000" cy="4459800"/>
          </a:xfrm>
          <a:prstGeom prst="rect">
            <a:avLst/>
          </a:prstGeom>
          <a:noFill/>
          <a:ln cap="flat" cmpd="sng" w="355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5325" lIns="85325" spcFirstLastPara="1" rIns="85325" wrap="square" tIns="85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"Jabberwocky"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by Lewis Carroll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'Twas brillig, and the slithy toves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Did gyre and gimble in the wabe;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All mimsy were the borogoves,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And the mome raths outgrabe.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"Beware the Jabberwock, my son!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The jaws that bite, the claws that catch!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Beware the Jubjub bird, and shun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The frumious Bandersnatch!"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He took his vorpal sword in hand: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Long time the manxome foe he sought—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So rested he by the Tumtum tree,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And stood awhile in thought.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g3ba79990f52_0_5"/>
          <p:cNvSpPr txBox="1"/>
          <p:nvPr/>
        </p:nvSpPr>
        <p:spPr>
          <a:xfrm>
            <a:off x="1401418" y="1465801"/>
            <a:ext cx="21336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325" lIns="85325" spcFirstLastPara="1" rIns="85325" wrap="square" tIns="85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</a:pPr>
            <a:r>
              <a:rPr b="1" i="0" lang="en" sz="1680" u="none" cap="none" strike="noStrike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endParaRPr b="1" i="0" sz="1680" u="none" cap="none" strike="noStrike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g3ba79990f52_0_5"/>
          <p:cNvSpPr/>
          <p:nvPr/>
        </p:nvSpPr>
        <p:spPr>
          <a:xfrm>
            <a:off x="457200" y="1417650"/>
            <a:ext cx="3078000" cy="347400"/>
          </a:xfrm>
          <a:prstGeom prst="rect">
            <a:avLst/>
          </a:prstGeom>
          <a:noFill/>
          <a:ln cap="flat" cmpd="sng" w="355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25" lIns="85325" spcFirstLastPara="1" rIns="85325" wrap="square" tIns="85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ba79990f52_0_5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3859" y="1447565"/>
            <a:ext cx="242227" cy="28764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ba79990f52_0_5"/>
          <p:cNvSpPr txBox="1"/>
          <p:nvPr/>
        </p:nvSpPr>
        <p:spPr>
          <a:xfrm>
            <a:off x="76200" y="6254825"/>
            <a:ext cx="38400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 u="sng">
                <a:solidFill>
                  <a:schemeClr val="hlink"/>
                </a:solidFill>
                <a:hlinkClick r:id="rId4"/>
              </a:rPr>
              <a:t>Markov Graph Visualizer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938ea6dd9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Tokenize?</a:t>
            </a:r>
            <a:endParaRPr/>
          </a:p>
        </p:txBody>
      </p:sp>
      <p:sp>
        <p:nvSpPr>
          <p:cNvPr id="142" name="Google Shape;142;g3b938ea6dd9_0_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Machine Readability:</a:t>
            </a:r>
            <a:r>
              <a:rPr lang="en" sz="2200"/>
              <a:t> Models work with numbers, not letters; </a:t>
            </a:r>
            <a:r>
              <a:rPr b="1" lang="en" sz="2200">
                <a:solidFill>
                  <a:srgbClr val="DCB439"/>
                </a:solidFill>
              </a:rPr>
              <a:t>tokens become numerical IDs</a:t>
            </a:r>
            <a:r>
              <a:rPr lang="en" sz="2200"/>
              <a:t> for the model to understand relationships and context.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Efficiency &amp; Scalability:</a:t>
            </a:r>
            <a:r>
              <a:rPr lang="en" sz="2200"/>
              <a:t> Breaking text into subwords (like "help" + "ful") </a:t>
            </a:r>
            <a:r>
              <a:rPr b="1" lang="en" sz="2200">
                <a:solidFill>
                  <a:srgbClr val="DCB439"/>
                </a:solidFill>
              </a:rPr>
              <a:t>reduces the vocabulary size</a:t>
            </a:r>
            <a:r>
              <a:rPr lang="en" sz="2200"/>
              <a:t>, meaning fewer unique items to learn, </a:t>
            </a:r>
            <a:r>
              <a:rPr b="1" lang="en" sz="2200">
                <a:solidFill>
                  <a:srgbClr val="465510"/>
                </a:solidFill>
              </a:rPr>
              <a:t>making models smaller and faster</a:t>
            </a:r>
            <a:r>
              <a:rPr lang="en" sz="2200"/>
              <a:t> than word-based methods.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Handling Novelty:</a:t>
            </a:r>
            <a:r>
              <a:rPr lang="en" sz="2200"/>
              <a:t> Subword tokenization (like BPE) helps models understand new or misspelled words by </a:t>
            </a:r>
            <a:r>
              <a:rPr b="1" lang="en" sz="2200">
                <a:solidFill>
                  <a:srgbClr val="DCB439"/>
                </a:solidFill>
              </a:rPr>
              <a:t>breaking them into known parts, improving robustness</a:t>
            </a:r>
            <a:r>
              <a:rPr lang="en" sz="2200"/>
              <a:t>.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Contextual Understanding:</a:t>
            </a:r>
            <a:r>
              <a:rPr lang="en" sz="2200"/>
              <a:t> It provides granular units (tokens) for the model </a:t>
            </a:r>
            <a:r>
              <a:rPr b="1" lang="en" sz="2200">
                <a:solidFill>
                  <a:srgbClr val="DCB439"/>
                </a:solidFill>
              </a:rPr>
              <a:t>to predict the next element in a sequence</a:t>
            </a:r>
            <a:r>
              <a:rPr lang="en" sz="2200"/>
              <a:t>, forming the basis of its language generation.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938ea6dd9_0_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Imports</a:t>
            </a:r>
            <a:endParaRPr/>
          </a:p>
        </p:txBody>
      </p:sp>
      <p:sp>
        <p:nvSpPr>
          <p:cNvPr id="148" name="Google Shape;148;g3b938ea6dd9_0_45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Imports</a:t>
            </a:r>
            <a:r>
              <a:rPr lang="en"/>
              <a:t> allow us to access useful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lang="en"/>
              <a:t> that are not built-in to </a:t>
            </a:r>
            <a:r>
              <a:rPr lang="en"/>
              <a:t>python.</a:t>
            </a:r>
            <a:endParaRPr/>
          </a:p>
        </p:txBody>
      </p:sp>
      <p:pic>
        <p:nvPicPr>
          <p:cNvPr id="149" name="Google Shape;149;g3b938ea6dd9_0_45" title="Screenshot 2026-01-20 at 11.21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625" y="5016685"/>
            <a:ext cx="7422761" cy="95684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g3b938ea6dd9_0_45" title="Screenshot 2026-01-20 at 11.20.1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5483" y="2743201"/>
            <a:ext cx="4093052" cy="211464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g3b938ea6dd9_0_45"/>
          <p:cNvSpPr txBox="1"/>
          <p:nvPr/>
        </p:nvSpPr>
        <p:spPr>
          <a:xfrm>
            <a:off x="1797000" y="6183400"/>
            <a:ext cx="55500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These are almost always at the top of the file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8409de4d6_0_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Token?</a:t>
            </a:r>
            <a:endParaRPr/>
          </a:p>
        </p:txBody>
      </p:sp>
      <p:sp>
        <p:nvSpPr>
          <p:cNvPr id="157" name="Google Shape;157;g3b8409de4d6_0_4"/>
          <p:cNvSpPr txBox="1"/>
          <p:nvPr>
            <p:ph idx="1" type="body"/>
          </p:nvPr>
        </p:nvSpPr>
        <p:spPr>
          <a:xfrm>
            <a:off x="457200" y="3339350"/>
            <a:ext cx="8229600" cy="32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 are </a:t>
            </a:r>
            <a:r>
              <a:rPr b="1" lang="en">
                <a:solidFill>
                  <a:srgbClr val="465510"/>
                </a:solidFill>
              </a:rPr>
              <a:t>words</a:t>
            </a:r>
            <a:r>
              <a:rPr lang="en"/>
              <a:t>, </a:t>
            </a:r>
            <a:r>
              <a:rPr b="1" lang="en">
                <a:solidFill>
                  <a:srgbClr val="465510"/>
                </a:solidFill>
              </a:rPr>
              <a:t>character sets</a:t>
            </a:r>
            <a:r>
              <a:rPr lang="en"/>
              <a:t>, or </a:t>
            </a:r>
            <a:r>
              <a:rPr b="1" lang="en">
                <a:solidFill>
                  <a:srgbClr val="465510"/>
                </a:solidFill>
              </a:rPr>
              <a:t>combinations of words and punctuation</a:t>
            </a:r>
            <a:r>
              <a:rPr lang="en"/>
              <a:t> that are generated by </a:t>
            </a:r>
            <a:r>
              <a:rPr b="1" lang="en">
                <a:solidFill>
                  <a:srgbClr val="DCB439"/>
                </a:solidFill>
              </a:rPr>
              <a:t>LLMs</a:t>
            </a:r>
            <a:r>
              <a:rPr lang="en"/>
              <a:t> when they decompose text.”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— Microsoft</a:t>
            </a:r>
            <a:endParaRPr/>
          </a:p>
        </p:txBody>
      </p:sp>
      <p:pic>
        <p:nvPicPr>
          <p:cNvPr id="158" name="Google Shape;158;g3b8409de4d6_0_4" title="Screenshot 2026-01-20 at 11.14.5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650" y="1664176"/>
            <a:ext cx="7440699" cy="12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938ea6dd9_0_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</a:t>
            </a:r>
            <a:endParaRPr/>
          </a:p>
        </p:txBody>
      </p:sp>
      <p:sp>
        <p:nvSpPr>
          <p:cNvPr id="164" name="Google Shape;164;g3b938ea6dd9_0_75"/>
          <p:cNvSpPr txBox="1"/>
          <p:nvPr>
            <p:ph idx="1" type="body"/>
          </p:nvPr>
        </p:nvSpPr>
        <p:spPr>
          <a:xfrm>
            <a:off x="457200" y="3339350"/>
            <a:ext cx="8229600" cy="32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 are </a:t>
            </a:r>
            <a:r>
              <a:rPr b="1" lang="en">
                <a:solidFill>
                  <a:srgbClr val="465510"/>
                </a:solidFill>
              </a:rPr>
              <a:t>words</a:t>
            </a:r>
            <a:r>
              <a:rPr lang="en"/>
              <a:t>, </a:t>
            </a:r>
            <a:r>
              <a:rPr b="1" lang="en">
                <a:solidFill>
                  <a:srgbClr val="465510"/>
                </a:solidFill>
              </a:rPr>
              <a:t>character sets</a:t>
            </a:r>
            <a:r>
              <a:rPr lang="en"/>
              <a:t>, or </a:t>
            </a:r>
            <a:r>
              <a:rPr b="1" lang="en">
                <a:solidFill>
                  <a:srgbClr val="465510"/>
                </a:solidFill>
              </a:rPr>
              <a:t>combinations of words and punctuation</a:t>
            </a:r>
            <a:r>
              <a:rPr lang="en"/>
              <a:t> that are generated by </a:t>
            </a:r>
            <a:r>
              <a:rPr b="1" lang="en">
                <a:solidFill>
                  <a:srgbClr val="DCB439"/>
                </a:solidFill>
              </a:rPr>
              <a:t>LLMs</a:t>
            </a:r>
            <a:r>
              <a:rPr lang="en"/>
              <a:t> when they decompose text.”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— Microsoft</a:t>
            </a:r>
            <a:endParaRPr/>
          </a:p>
        </p:txBody>
      </p:sp>
      <p:pic>
        <p:nvPicPr>
          <p:cNvPr id="165" name="Google Shape;165;g3b938ea6dd9_0_75" title="Screenshot 2026-01-20 at 11.14.5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650" y="1664176"/>
            <a:ext cx="7440699" cy="12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8409de4d6_0_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Byte-Pair Encoding Tokenization </a:t>
            </a:r>
            <a:r>
              <a:rPr lang="en" sz="1800">
                <a:solidFill>
                  <a:srgbClr val="A31415"/>
                </a:solidFill>
              </a:rPr>
              <a:t>(1994)</a:t>
            </a:r>
            <a:endParaRPr sz="1800">
              <a:solidFill>
                <a:srgbClr val="A31415"/>
              </a:solidFill>
            </a:endParaRPr>
          </a:p>
        </p:txBody>
      </p:sp>
      <p:sp>
        <p:nvSpPr>
          <p:cNvPr id="171" name="Google Shape;171;g3b8409de4d6_0_40"/>
          <p:cNvSpPr txBox="1"/>
          <p:nvPr>
            <p:ph idx="1" type="body"/>
          </p:nvPr>
        </p:nvSpPr>
        <p:spPr>
          <a:xfrm>
            <a:off x="457200" y="1600200"/>
            <a:ext cx="8229600" cy="46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2B5B"/>
                </a:solidFill>
              </a:rPr>
              <a:t>BPE</a:t>
            </a:r>
            <a:r>
              <a:rPr lang="en"/>
              <a:t> is </a:t>
            </a:r>
            <a:r>
              <a:rPr lang="en"/>
              <a:t>an algorithm for encoding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/>
              <a:t> of text into smaller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r>
              <a:rPr lang="en"/>
              <a:t> by creating and </a:t>
            </a:r>
            <a:r>
              <a:rPr b="1" lang="en" u="sng">
                <a:solidFill>
                  <a:srgbClr val="DCB43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using a translation table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slightly modified version of the algorithm is </a:t>
            </a:r>
            <a:r>
              <a:rPr b="1" lang="en">
                <a:solidFill>
                  <a:srgbClr val="465510"/>
                </a:solidFill>
              </a:rPr>
              <a:t>used in LLM tokenizers</a:t>
            </a:r>
            <a:endParaRPr b="1">
              <a:solidFill>
                <a:srgbClr val="465510"/>
              </a:solidFill>
            </a:endParaRPr>
          </a:p>
        </p:txBody>
      </p:sp>
      <p:pic>
        <p:nvPicPr>
          <p:cNvPr id="172" name="Google Shape;172;g3b8409de4d6_0_40" title="Screenshot 2026-01-20 at 11.34.44 AM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575" y="2857525"/>
            <a:ext cx="3156300" cy="21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b8409de4d6_0_40"/>
          <p:cNvSpPr txBox="1"/>
          <p:nvPr/>
        </p:nvSpPr>
        <p:spPr>
          <a:xfrm>
            <a:off x="1642775" y="3406725"/>
            <a:ext cx="33102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The size of the token vocabulary, in the case of GPT-3.5 and GPT-4, is 100258 tokens.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938ea6dd9_0_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Byte-Pair Encoding Tokenization </a:t>
            </a:r>
            <a:r>
              <a:rPr lang="en" sz="1800"/>
              <a:t>(1994)</a:t>
            </a:r>
            <a:endParaRPr sz="1800"/>
          </a:p>
        </p:txBody>
      </p:sp>
      <p:pic>
        <p:nvPicPr>
          <p:cNvPr id="179" name="Google Shape;179;g3b938ea6dd9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113" y="1720204"/>
            <a:ext cx="6581775" cy="4523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