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hhMCo4Z0egf6uaTUMj37+9Pk6f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b8409de4d6_0_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g3b8409de4d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b8409de4d6_0_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g3b8409de4d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b8409de4d6_0_8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g3b8409de4d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938ea6dd9_0_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b938ea6dd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af4acbdf2_0_5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3baf4acbdf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af4acbdf2_0_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af4acbdf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af4acbdf2_0_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af4acbdf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938ea6dd9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b938ea6dd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a79990f52_0_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ba79990f5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938ea6dd9_0_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b938ea6dd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af4acbdf2_0_9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af4acbdf2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8409de4d6_0_10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b8409de4d6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af4acbdf2_0_7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baf4acbdf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af4acbdf2_0_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baf4acbdf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af4acbdf2_0_8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baf4acbdf2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af4acbdf2_0_9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baf4acbdf2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af4acbdf2_0_10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baf4acbdf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af4acbdf2_0_4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baf4acbdf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af4acbdf2_0_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baf4acbdf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af4acbdf2_0_6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af4acbdf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938ea6dd9_0_9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b938ea6dd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8409de4d6_0_1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b8409de4d6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8409de4d6_0_10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b8409de4d6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2" name="Google Shape;12;p20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19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B439"/>
              </a:buClr>
              <a:buSzPts val="3000"/>
              <a:buNone/>
              <a:defRPr b="1">
                <a:solidFill>
                  <a:srgbClr val="DCB43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■"/>
              <a:defRPr>
                <a:solidFill>
                  <a:srgbClr val="9E9E9E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1709"/>
              </a:buClr>
              <a:buSzPts val="1800"/>
              <a:buChar char="●"/>
              <a:defRPr>
                <a:solidFill>
                  <a:srgbClr val="5F1709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510"/>
              </a:buClr>
              <a:buSzPts val="1800"/>
              <a:buChar char="○"/>
              <a:defRPr>
                <a:solidFill>
                  <a:srgbClr val="46551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BBC"/>
              </a:buClr>
              <a:buSzPts val="1800"/>
              <a:buChar char="■"/>
              <a:defRPr>
                <a:solidFill>
                  <a:srgbClr val="5AABBC"/>
                </a:solidFill>
              </a:defRPr>
            </a:lvl9pPr>
          </a:lstStyle>
          <a:p/>
        </p:txBody>
      </p:sp>
      <p:sp>
        <p:nvSpPr>
          <p:cNvPr id="20" name="Google Shape;20;p23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B5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2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python.org/3/library/collections.html#collections.Counter" TargetMode="External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github.com/karpathy/nanochat/blob/master/nanochat/tokenizer.py" TargetMode="External"/><Relationship Id="rId4" Type="http://schemas.openxmlformats.org/officeDocument/2006/relationships/hyperlink" Target="https://github.com/openai/tiktoken/blob/main/tiktoken/_educational.py" TargetMode="External"/><Relationship Id="rId5" Type="http://schemas.openxmlformats.org/officeDocument/2006/relationships/hyperlink" Target="https://github.com/openai/tiktoken/blob/main/tiktoken/_educational.py" TargetMode="External"/><Relationship Id="rId6" Type="http://schemas.openxmlformats.org/officeDocument/2006/relationships/image" Target="../media/image7.png"/><Relationship Id="rId7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b8409de4d6_0_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Programming Practice 01</a:t>
            </a:r>
            <a:endParaRPr/>
          </a:p>
        </p:txBody>
      </p:sp>
      <p:sp>
        <p:nvSpPr>
          <p:cNvPr id="35" name="Google Shape;35;g3b8409de4d6_0_50"/>
          <p:cNvSpPr txBox="1"/>
          <p:nvPr>
            <p:ph idx="1" type="body"/>
          </p:nvPr>
        </p:nvSpPr>
        <p:spPr>
          <a:xfrm>
            <a:off x="457200" y="1600200"/>
            <a:ext cx="8229600" cy="48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In Colab, write code to do the following: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/>
              <a:t> each of the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chars</a:t>
            </a:r>
            <a:r>
              <a:rPr b="1" lang="en">
                <a:solidFill>
                  <a:srgbClr val="A31415"/>
                </a:solidFill>
              </a:rPr>
              <a:t> </a:t>
            </a:r>
            <a:r>
              <a:rPr lang="en"/>
              <a:t>in an input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"/>
              <a:t>, count how frequently each appears and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/>
              <a:t> the counts.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char_counter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‘hello there’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&gt; {</a:t>
            </a:r>
            <a:r>
              <a:rPr b="1" lang="en" sz="26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‘h’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26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‘e’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26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‘l’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26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‘o’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26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‘t’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26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‘r’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b8409de4d6_0_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465510"/>
                </a:solidFill>
              </a:rPr>
              <a:t>Programming Practice Solution 01</a:t>
            </a:r>
            <a:endParaRPr>
              <a:solidFill>
                <a:srgbClr val="465510"/>
              </a:solidFill>
            </a:endParaRPr>
          </a:p>
        </p:txBody>
      </p:sp>
      <p:sp>
        <p:nvSpPr>
          <p:cNvPr id="41" name="Google Shape;41;g3b8409de4d6_0_60"/>
          <p:cNvSpPr txBox="1"/>
          <p:nvPr/>
        </p:nvSpPr>
        <p:spPr>
          <a:xfrm>
            <a:off x="1218150" y="5894150"/>
            <a:ext cx="67077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DCB439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can read about features like </a:t>
            </a:r>
            <a:r>
              <a:rPr b="1" lang="en" sz="18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Counter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using the </a:t>
            </a:r>
            <a:r>
              <a:rPr b="1" i="0" lang="en" sz="1800" u="sng" cap="none" strike="noStrike">
                <a:solidFill>
                  <a:srgbClr val="5AABBC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python documentation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1" i="0" sz="1800" u="none" cap="none" strike="noStrike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2" name="Google Shape;42;g3b8409de4d6_0_60" title="Screenshot 2026-01-21 at 9.52.57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1417646"/>
            <a:ext cx="4783499" cy="2433725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3" name="Google Shape;43;g3b8409de4d6_0_60" title="Screenshot 2026-01-21 at 9.51.40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1450" y="4003771"/>
            <a:ext cx="4325346" cy="1737979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8409de4d6_0_84"/>
          <p:cNvSpPr txBox="1"/>
          <p:nvPr>
            <p:ph idx="1" type="body"/>
          </p:nvPr>
        </p:nvSpPr>
        <p:spPr>
          <a:xfrm>
            <a:off x="457200" y="1600200"/>
            <a:ext cx="8229600" cy="47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Write 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"/>
              <a:t> that, given: a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/>
              <a:t> of </a:t>
            </a:r>
            <a:r>
              <a:rPr b="1" lang="en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integers</a:t>
            </a:r>
            <a:r>
              <a:rPr lang="en"/>
              <a:t>, a pair, and an id, </a:t>
            </a:r>
            <a:r>
              <a:rPr lang="en"/>
              <a:t>replaces all occurrences of the pair with the new id.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 sz="2400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2400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replace</a:t>
            </a:r>
            <a:r>
              <a:rPr b="1" lang="en" sz="2400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_pairs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b="1" lang="en" sz="24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24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24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24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24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], (</a:t>
            </a:r>
            <a:r>
              <a:rPr b="1" lang="en" sz="24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24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b="1" lang="en" sz="24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1"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" sz="24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24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24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24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1"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" name="Google Shape;49;g3b8409de4d6_0_8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Programming Practice 02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b938ea6dd9_0_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465510"/>
                </a:solidFill>
              </a:rPr>
              <a:t>Programming Practice Solution 02</a:t>
            </a:r>
            <a:endParaRPr>
              <a:solidFill>
                <a:srgbClr val="465510"/>
              </a:solidFill>
            </a:endParaRPr>
          </a:p>
        </p:txBody>
      </p:sp>
      <p:sp>
        <p:nvSpPr>
          <p:cNvPr id="55" name="Google Shape;55;g3b938ea6dd9_0_50"/>
          <p:cNvSpPr txBox="1"/>
          <p:nvPr/>
        </p:nvSpPr>
        <p:spPr>
          <a:xfrm>
            <a:off x="1218150" y="6012825"/>
            <a:ext cx="67077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DCB439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800">
                <a:solidFill>
                  <a:schemeClr val="dk1"/>
                </a:solidFill>
              </a:rPr>
              <a:t>We use a </a:t>
            </a:r>
            <a:r>
              <a:rPr b="1" lang="en" sz="18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800">
                <a:solidFill>
                  <a:schemeClr val="dk1"/>
                </a:solidFill>
              </a:rPr>
              <a:t> loop here instead of a </a:t>
            </a:r>
            <a:r>
              <a:rPr b="1" lang="en" sz="18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800">
                <a:solidFill>
                  <a:schemeClr val="dk1"/>
                </a:solidFill>
              </a:rPr>
              <a:t> loop because when we replace a pair we need to “jump” ahead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pic>
        <p:nvPicPr>
          <p:cNvPr id="56" name="Google Shape;56;g3b938ea6dd9_0_50" title="Screenshot 2026-01-21 at 9.48.0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513" y="1570038"/>
            <a:ext cx="7308980" cy="4290387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af4acbdf2_0_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programming</a:t>
            </a:r>
            <a:r>
              <a:rPr lang="en"/>
              <a:t>: tuples</a:t>
            </a:r>
            <a:endParaRPr/>
          </a:p>
        </p:txBody>
      </p:sp>
      <p:sp>
        <p:nvSpPr>
          <p:cNvPr id="62" name="Google Shape;62;g3baf4acbdf2_0_5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tuple</a:t>
            </a:r>
            <a:r>
              <a:rPr lang="en"/>
              <a:t> is a data type that </a:t>
            </a:r>
            <a:endParaRPr/>
          </a:p>
        </p:txBody>
      </p:sp>
      <p:sp>
        <p:nvSpPr>
          <p:cNvPr id="63" name="Google Shape;63;g3baf4acbdf2_0_54"/>
          <p:cNvSpPr txBox="1"/>
          <p:nvPr/>
        </p:nvSpPr>
        <p:spPr>
          <a:xfrm>
            <a:off x="457200" y="6002075"/>
            <a:ext cx="82296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DCB439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can use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dir(class)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out the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attributes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functions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af4acbdf2_0_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Note on the Exams</a:t>
            </a:r>
            <a:endParaRPr/>
          </a:p>
        </p:txBody>
      </p:sp>
      <p:sp>
        <p:nvSpPr>
          <p:cNvPr id="69" name="Google Shape;69;g3baf4acbdf2_0_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65510"/>
                </a:solidFill>
              </a:rPr>
              <a:t>You will not have to hand-write code</a:t>
            </a:r>
            <a:r>
              <a:rPr lang="en"/>
              <a:t>, and any coding related questions will be more similar to our pre-lecture practices and </a:t>
            </a:r>
            <a:r>
              <a:rPr b="1" lang="en">
                <a:solidFill>
                  <a:srgbClr val="A31415"/>
                </a:solidFill>
              </a:rPr>
              <a:t>NOT our end-of-lecture monstrosities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will release many practice problems a week or two ahead, but </a:t>
            </a:r>
            <a:r>
              <a:rPr b="1" lang="en">
                <a:solidFill>
                  <a:srgbClr val="DCB439"/>
                </a:solidFill>
              </a:rPr>
              <a:t>the exams will look primarily like the homeworks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af4acbdf2_0_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Note on the Class</a:t>
            </a:r>
            <a:endParaRPr/>
          </a:p>
        </p:txBody>
      </p:sp>
      <p:sp>
        <p:nvSpPr>
          <p:cNvPr id="75" name="Google Shape;75;g3baf4acbdf2_0_7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 don’t want this class to be hard for you to </a:t>
            </a:r>
            <a:r>
              <a:rPr b="1" lang="en">
                <a:solidFill>
                  <a:srgbClr val="465510"/>
                </a:solidFill>
              </a:rPr>
              <a:t>get an A in if you study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</a:rPr>
              <a:t>I do want this class to be conceptually difficult during the lectures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AABBC"/>
                </a:solidFill>
              </a:rPr>
              <a:t>This stuff literally is the frontier</a:t>
            </a:r>
            <a:r>
              <a:rPr lang="en"/>
              <a:t>, try and keep that in mind. This is what 40 year olds with PhDs are making billions of dollars working on like for real, this is the frontier.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/>
          <p:nvPr>
            <p:ph type="ctrTitle"/>
          </p:nvPr>
        </p:nvSpPr>
        <p:spPr>
          <a:xfrm>
            <a:off x="685800" y="2655750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>
                <a:solidFill>
                  <a:srgbClr val="002B5B"/>
                </a:solidFill>
              </a:rPr>
              <a:t>CSE </a:t>
            </a:r>
            <a:r>
              <a:rPr lang="en"/>
              <a:t>1</a:t>
            </a:r>
            <a:r>
              <a:rPr lang="en">
                <a:solidFill>
                  <a:srgbClr val="002B5B"/>
                </a:solidFill>
              </a:rPr>
              <a:t>0124</a:t>
            </a:r>
            <a:br>
              <a:rPr lang="en">
                <a:solidFill>
                  <a:srgbClr val="002B5B"/>
                </a:solidFill>
              </a:rPr>
            </a:br>
            <a:r>
              <a:rPr lang="en">
                <a:solidFill>
                  <a:srgbClr val="DCB439"/>
                </a:solidFill>
              </a:rPr>
              <a:t>Tokenization 02</a:t>
            </a:r>
            <a:endParaRPr>
              <a:solidFill>
                <a:srgbClr val="DCB43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g3b938ea6dd9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325" y="207088"/>
            <a:ext cx="6767796" cy="513556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b938ea6dd9_0_26"/>
          <p:cNvSpPr/>
          <p:nvPr/>
        </p:nvSpPr>
        <p:spPr>
          <a:xfrm>
            <a:off x="447725" y="4650825"/>
            <a:ext cx="2602200" cy="16203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b938ea6dd9_0_26"/>
          <p:cNvSpPr/>
          <p:nvPr/>
        </p:nvSpPr>
        <p:spPr>
          <a:xfrm>
            <a:off x="1524125" y="4462125"/>
            <a:ext cx="449400" cy="18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b938ea6dd9_0_26"/>
          <p:cNvSpPr/>
          <p:nvPr/>
        </p:nvSpPr>
        <p:spPr>
          <a:xfrm>
            <a:off x="1255775" y="4769588"/>
            <a:ext cx="988500" cy="3054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Embeddings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g3b938ea6dd9_0_26"/>
          <p:cNvCxnSpPr>
            <a:stCxn id="88" idx="0"/>
          </p:cNvCxnSpPr>
          <p:nvPr/>
        </p:nvCxnSpPr>
        <p:spPr>
          <a:xfrm flipH="1" rot="10800000">
            <a:off x="1750025" y="4259588"/>
            <a:ext cx="2700" cy="51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g3b938ea6dd9_0_26"/>
          <p:cNvSpPr/>
          <p:nvPr/>
        </p:nvSpPr>
        <p:spPr>
          <a:xfrm>
            <a:off x="1255775" y="5268200"/>
            <a:ext cx="988500" cy="305400"/>
          </a:xfrm>
          <a:prstGeom prst="roundRect">
            <a:avLst>
              <a:gd fmla="val 16667" name="adj"/>
            </a:avLst>
          </a:prstGeom>
          <a:solidFill>
            <a:srgbClr val="FFF99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Tokenizer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g3b938ea6dd9_0_26"/>
          <p:cNvCxnSpPr>
            <a:stCxn id="90" idx="0"/>
            <a:endCxn id="88" idx="2"/>
          </p:cNvCxnSpPr>
          <p:nvPr/>
        </p:nvCxnSpPr>
        <p:spPr>
          <a:xfrm rot="10800000">
            <a:off x="1750025" y="5075000"/>
            <a:ext cx="0" cy="19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g3b938ea6dd9_0_26"/>
          <p:cNvSpPr txBox="1"/>
          <p:nvPr>
            <p:ph type="title"/>
          </p:nvPr>
        </p:nvSpPr>
        <p:spPr>
          <a:xfrm>
            <a:off x="4048400" y="5766800"/>
            <a:ext cx="45783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800"/>
              <a:t>Where are we?</a:t>
            </a:r>
            <a:endParaRPr sz="4800"/>
          </a:p>
        </p:txBody>
      </p:sp>
      <p:sp>
        <p:nvSpPr>
          <p:cNvPr id="93" name="Google Shape;93;g3b938ea6dd9_0_26"/>
          <p:cNvSpPr/>
          <p:nvPr/>
        </p:nvSpPr>
        <p:spPr>
          <a:xfrm>
            <a:off x="559425" y="5766800"/>
            <a:ext cx="2379000" cy="3054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“Please help me with my homework!!”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g3b938ea6dd9_0_26"/>
          <p:cNvCxnSpPr>
            <a:stCxn id="93" idx="0"/>
            <a:endCxn id="90" idx="2"/>
          </p:cNvCxnSpPr>
          <p:nvPr/>
        </p:nvCxnSpPr>
        <p:spPr>
          <a:xfrm flipH="1" rot="10800000">
            <a:off x="1748925" y="5573600"/>
            <a:ext cx="1200" cy="19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g3b938ea6dd9_0_26"/>
          <p:cNvSpPr/>
          <p:nvPr/>
        </p:nvSpPr>
        <p:spPr>
          <a:xfrm>
            <a:off x="1475375" y="1022900"/>
            <a:ext cx="546900" cy="34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b938ea6dd9_0_26"/>
          <p:cNvSpPr/>
          <p:nvPr/>
        </p:nvSpPr>
        <p:spPr>
          <a:xfrm>
            <a:off x="202775" y="207100"/>
            <a:ext cx="3092100" cy="934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b938ea6dd9_0_26"/>
          <p:cNvSpPr/>
          <p:nvPr/>
        </p:nvSpPr>
        <p:spPr>
          <a:xfrm>
            <a:off x="447725" y="361750"/>
            <a:ext cx="2602200" cy="6252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Response: “Certainly, as a large language model I’d be happy to help you cheat on your homework assignment”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g3b938ea6dd9_0_26"/>
          <p:cNvCxnSpPr>
            <a:endCxn id="97" idx="2"/>
          </p:cNvCxnSpPr>
          <p:nvPr/>
        </p:nvCxnSpPr>
        <p:spPr>
          <a:xfrm rot="10800000">
            <a:off x="1748825" y="986950"/>
            <a:ext cx="4800" cy="451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g3b938ea6dd9_0_26"/>
          <p:cNvSpPr/>
          <p:nvPr/>
        </p:nvSpPr>
        <p:spPr>
          <a:xfrm>
            <a:off x="279925" y="5169150"/>
            <a:ext cx="2911200" cy="1231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a79990f52_0_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Last Class - Tokenization 01</a:t>
            </a:r>
            <a:endParaRPr/>
          </a:p>
        </p:txBody>
      </p:sp>
      <p:pic>
        <p:nvPicPr>
          <p:cNvPr id="105" name="Google Shape;105;g3ba79990f52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96538"/>
            <a:ext cx="8839200" cy="346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938ea6dd9_0_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Why do we Tokenize?</a:t>
            </a:r>
            <a:endParaRPr/>
          </a:p>
        </p:txBody>
      </p:sp>
      <p:sp>
        <p:nvSpPr>
          <p:cNvPr id="111" name="Google Shape;111;g3b938ea6dd9_0_1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b="1" lang="en" sz="2200">
                <a:solidFill>
                  <a:srgbClr val="002B5B"/>
                </a:solidFill>
              </a:rPr>
              <a:t>Machine Readability:</a:t>
            </a:r>
            <a:r>
              <a:rPr lang="en" sz="2200"/>
              <a:t> Models work with numbers, not letters; </a:t>
            </a:r>
            <a:r>
              <a:rPr b="1" lang="en" sz="2200">
                <a:solidFill>
                  <a:srgbClr val="DCB439"/>
                </a:solidFill>
              </a:rPr>
              <a:t>tokens become numerical IDs</a:t>
            </a:r>
            <a:r>
              <a:rPr lang="en" sz="2200"/>
              <a:t> for the model to understand relationships and context.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b="1" lang="en" sz="2200">
                <a:solidFill>
                  <a:srgbClr val="002B5B"/>
                </a:solidFill>
              </a:rPr>
              <a:t>Efficiency &amp; Scalability:</a:t>
            </a:r>
            <a:r>
              <a:rPr lang="en" sz="2200"/>
              <a:t> Breaking text into subwords (like "help" + "ful") </a:t>
            </a:r>
            <a:r>
              <a:rPr b="1" lang="en" sz="2200">
                <a:solidFill>
                  <a:srgbClr val="DCB439"/>
                </a:solidFill>
              </a:rPr>
              <a:t>reduces the vocabulary size</a:t>
            </a:r>
            <a:r>
              <a:rPr lang="en" sz="2200"/>
              <a:t>, meaning fewer unique items to learn, </a:t>
            </a:r>
            <a:r>
              <a:rPr b="1" lang="en" sz="2200">
                <a:solidFill>
                  <a:srgbClr val="465510"/>
                </a:solidFill>
              </a:rPr>
              <a:t>making models smaller and faster</a:t>
            </a:r>
            <a:r>
              <a:rPr lang="en" sz="2200"/>
              <a:t> than word-based methods.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b="1" lang="en" sz="2200">
                <a:solidFill>
                  <a:srgbClr val="002B5B"/>
                </a:solidFill>
              </a:rPr>
              <a:t>Handling Novelty:</a:t>
            </a:r>
            <a:r>
              <a:rPr lang="en" sz="2200"/>
              <a:t> Subword tokenization (like BPE) helps models understand new or misspelled words by </a:t>
            </a:r>
            <a:r>
              <a:rPr b="1" lang="en" sz="2200">
                <a:solidFill>
                  <a:srgbClr val="DCB439"/>
                </a:solidFill>
              </a:rPr>
              <a:t>breaking them into known parts, improving robustness</a:t>
            </a:r>
            <a:r>
              <a:rPr lang="en" sz="2200"/>
              <a:t>.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200"/>
              <a:buChar char="●"/>
            </a:pPr>
            <a:r>
              <a:rPr b="1" lang="en" sz="2200">
                <a:solidFill>
                  <a:srgbClr val="002B5B"/>
                </a:solidFill>
              </a:rPr>
              <a:t>Contextual Understanding:</a:t>
            </a:r>
            <a:r>
              <a:rPr lang="en" sz="2200"/>
              <a:t> It provides granular units (tokens) for the model </a:t>
            </a:r>
            <a:r>
              <a:rPr b="1" lang="en" sz="2200">
                <a:solidFill>
                  <a:srgbClr val="DCB439"/>
                </a:solidFill>
              </a:rPr>
              <a:t>to predict the next element in a sequence</a:t>
            </a:r>
            <a:r>
              <a:rPr lang="en" sz="2200"/>
              <a:t>, forming the basis of its language generation.</a:t>
            </a:r>
            <a:endParaRPr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af4acbdf2_0_9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Byte-Pair Encoding Tokenization</a:t>
            </a:r>
            <a:endParaRPr/>
          </a:p>
        </p:txBody>
      </p:sp>
      <p:sp>
        <p:nvSpPr>
          <p:cNvPr id="117" name="Google Shape;117;g3baf4acbdf2_0_97"/>
          <p:cNvSpPr txBox="1"/>
          <p:nvPr>
            <p:ph idx="1" type="body"/>
          </p:nvPr>
        </p:nvSpPr>
        <p:spPr>
          <a:xfrm>
            <a:off x="457200" y="4963900"/>
            <a:ext cx="8229600" cy="16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By </a:t>
            </a:r>
            <a:r>
              <a:rPr b="1" lang="en">
                <a:solidFill>
                  <a:srgbClr val="002B5B"/>
                </a:solidFill>
              </a:rPr>
              <a:t>tokenizing</a:t>
            </a:r>
            <a:r>
              <a:rPr lang="en"/>
              <a:t> at the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byte</a:t>
            </a:r>
            <a:r>
              <a:rPr lang="en"/>
              <a:t> level we could theoretically process any kind of text that could be passed in as a prompt.</a:t>
            </a:r>
            <a:endParaRPr/>
          </a:p>
        </p:txBody>
      </p:sp>
      <p:sp>
        <p:nvSpPr>
          <p:cNvPr id="118" name="Google Shape;118;g3baf4acbdf2_0_97"/>
          <p:cNvSpPr txBox="1"/>
          <p:nvPr/>
        </p:nvSpPr>
        <p:spPr>
          <a:xfrm>
            <a:off x="601800" y="1858625"/>
            <a:ext cx="7940400" cy="26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6A522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500">
                <a:solidFill>
                  <a:srgbClr val="25769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5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'hello there 金'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.encode(</a:t>
            </a:r>
            <a:r>
              <a:rPr lang="en" sz="15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'utf-8'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)))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1F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 [104, 101, 108, 108, 111, 32, 116, 104, 101, 114, 101, 32, 233, 135, 145]</a:t>
            </a:r>
            <a:endParaRPr sz="1350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6A522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lang="en" sz="1500">
                <a:solidFill>
                  <a:srgbClr val="6A522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bin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(num) </a:t>
            </a:r>
            <a:r>
              <a:rPr lang="en" sz="1500">
                <a:solidFill>
                  <a:srgbClr val="9723B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num </a:t>
            </a:r>
            <a:r>
              <a:rPr lang="en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25769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5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'hello there 金'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.encode(</a:t>
            </a:r>
            <a:r>
              <a:rPr lang="en" sz="15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'utf-8'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))])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1F1F1F"/>
                </a:solidFill>
                <a:latin typeface="Consolas"/>
                <a:ea typeface="Consolas"/>
                <a:cs typeface="Consolas"/>
                <a:sym typeface="Consolas"/>
              </a:rPr>
              <a:t>&gt; ['0b1101000', '0b1100101', '0b1101100', '0b1101100', '0b1101111', '0b100000', '0b1110100', '0b1101000', '0b1100101', '0b1110010', '0b1100101', '0b100000', '0b11101001', '0b10000111', '0b10010001']</a:t>
            </a:r>
            <a:endParaRPr sz="1350">
              <a:solidFill>
                <a:srgbClr val="1F1F1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508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8409de4d6_0_10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programming</a:t>
            </a:r>
            <a:r>
              <a:rPr lang="en"/>
              <a:t>: Bytes</a:t>
            </a:r>
            <a:endParaRPr/>
          </a:p>
        </p:txBody>
      </p:sp>
      <p:sp>
        <p:nvSpPr>
          <p:cNvPr id="124" name="Google Shape;124;g3b8409de4d6_0_10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byte</a:t>
            </a:r>
            <a:r>
              <a:rPr lang="en"/>
              <a:t> is 8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bits</a:t>
            </a:r>
            <a:r>
              <a:rPr b="1" lang="en"/>
              <a:t>, </a:t>
            </a:r>
            <a:r>
              <a:rPr lang="en"/>
              <a:t>which are the 0s and 1s the computer actually “sees”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" name="Google Shape;125;g3b8409de4d6_0_103"/>
          <p:cNvSpPr txBox="1"/>
          <p:nvPr/>
        </p:nvSpPr>
        <p:spPr>
          <a:xfrm>
            <a:off x="457200" y="6002075"/>
            <a:ext cx="82296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DCB439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800">
                <a:solidFill>
                  <a:schemeClr val="dk1"/>
                </a:solidFill>
              </a:rPr>
              <a:t>An </a:t>
            </a:r>
            <a:r>
              <a:rPr b="1" lang="en" sz="18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</a:rPr>
              <a:t> in python (by default) is a </a:t>
            </a:r>
            <a:r>
              <a:rPr b="1" lang="en" sz="18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byte</a:t>
            </a:r>
            <a:r>
              <a:rPr lang="en" sz="1800">
                <a:solidFill>
                  <a:schemeClr val="dk1"/>
                </a:solidFill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g3b8409de4d6_0_103"/>
          <p:cNvPicPr preferRelativeResize="0"/>
          <p:nvPr/>
        </p:nvPicPr>
        <p:blipFill rotWithShape="1">
          <a:blip r:embed="rId3">
            <a:alphaModFix/>
          </a:blip>
          <a:srcRect b="16166" l="0" r="0" t="13266"/>
          <a:stretch/>
        </p:blipFill>
        <p:spPr>
          <a:xfrm>
            <a:off x="1077688" y="2891525"/>
            <a:ext cx="6988626" cy="2774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af4acbdf2_0_7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programming</a:t>
            </a:r>
            <a:r>
              <a:rPr lang="en"/>
              <a:t>: ASCII Values</a:t>
            </a:r>
            <a:endParaRPr/>
          </a:p>
        </p:txBody>
      </p:sp>
      <p:sp>
        <p:nvSpPr>
          <p:cNvPr id="132" name="Google Shape;132;g3baf4acbdf2_0_77"/>
          <p:cNvSpPr txBox="1"/>
          <p:nvPr/>
        </p:nvSpPr>
        <p:spPr>
          <a:xfrm>
            <a:off x="457200" y="6002075"/>
            <a:ext cx="82296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DCB439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can use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dir(class)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out the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attributes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functions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g3baf4acbdf2_0_77"/>
          <p:cNvPicPr preferRelativeResize="0"/>
          <p:nvPr/>
        </p:nvPicPr>
        <p:blipFill rotWithShape="1">
          <a:blip r:embed="rId3">
            <a:alphaModFix/>
          </a:blip>
          <a:srcRect b="13076" l="7554" r="10504" t="6401"/>
          <a:stretch/>
        </p:blipFill>
        <p:spPr>
          <a:xfrm>
            <a:off x="1572213" y="1636527"/>
            <a:ext cx="5999574" cy="414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af4acbdf2_0_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Byte-Pair Encoding Tokenization </a:t>
            </a:r>
            <a:r>
              <a:rPr lang="en" sz="1800"/>
              <a:t>(1994)</a:t>
            </a:r>
            <a:endParaRPr sz="1800"/>
          </a:p>
        </p:txBody>
      </p:sp>
      <p:pic>
        <p:nvPicPr>
          <p:cNvPr id="139" name="Google Shape;139;g3baf4acbdf2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1113" y="1720204"/>
            <a:ext cx="6581775" cy="4523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af4acbdf2_0_8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programming</a:t>
            </a:r>
            <a:r>
              <a:rPr lang="en"/>
              <a:t>: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count_pairs()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5" name="Google Shape;145;g3baf4acbdf2_0_8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Last class we wrote 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"/>
              <a:t> we called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count_consecutive_pairs()</a:t>
            </a:r>
            <a:r>
              <a:rPr lang="en"/>
              <a:t>, we can use this to find </a:t>
            </a:r>
            <a:r>
              <a:rPr b="1" lang="en">
                <a:solidFill>
                  <a:srgbClr val="002B5B"/>
                </a:solidFill>
              </a:rPr>
              <a:t>tokens</a:t>
            </a:r>
            <a:r>
              <a:rPr lang="en"/>
              <a:t> that frequently appear near each other!</a:t>
            </a:r>
            <a:endParaRPr/>
          </a:p>
        </p:txBody>
      </p:sp>
      <p:pic>
        <p:nvPicPr>
          <p:cNvPr id="146" name="Google Shape;146;g3baf4acbdf2_0_84" title="Screenshot 2026-01-20 at 10.46.28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975" y="3875150"/>
            <a:ext cx="7086051" cy="238820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af4acbdf2_0_9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programming</a:t>
            </a:r>
            <a:r>
              <a:rPr lang="en"/>
              <a:t>: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replace_pairs()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2" name="Google Shape;152;g3baf4acbdf2_0_9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Today we wrote 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"/>
              <a:t> we called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replace_pairs()</a:t>
            </a:r>
            <a:r>
              <a:rPr lang="en"/>
              <a:t> which we can use to merge the frequent pairs into new, larger </a:t>
            </a:r>
            <a:r>
              <a:rPr b="1" lang="en">
                <a:solidFill>
                  <a:srgbClr val="002B5B"/>
                </a:solidFill>
              </a:rPr>
              <a:t>tokens</a:t>
            </a:r>
            <a:r>
              <a:rPr lang="en"/>
              <a:t>!</a:t>
            </a:r>
            <a:endParaRPr/>
          </a:p>
        </p:txBody>
      </p:sp>
      <p:pic>
        <p:nvPicPr>
          <p:cNvPr id="153" name="Google Shape;153;g3baf4acbdf2_0_90" title="Screenshot 2026-01-21 at 9.48.0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938" y="3211350"/>
            <a:ext cx="5718126" cy="335655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af4acbdf2_0_10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Byte-Pair Encoding Tokenization</a:t>
            </a:r>
            <a:endParaRPr sz="1800"/>
          </a:p>
        </p:txBody>
      </p:sp>
      <p:sp>
        <p:nvSpPr>
          <p:cNvPr id="159" name="Google Shape;159;g3baf4acbdf2_0_107"/>
          <p:cNvSpPr txBox="1"/>
          <p:nvPr/>
        </p:nvSpPr>
        <p:spPr>
          <a:xfrm>
            <a:off x="457200" y="1417650"/>
            <a:ext cx="8229600" cy="49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highlight>
                  <a:srgbClr val="FFFFFF"/>
                </a:highlight>
              </a:rPr>
              <a:t>1.) Convert input to bytes</a:t>
            </a:r>
            <a:endParaRPr b="1" sz="2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CB43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string_bytes</a:t>
            </a:r>
            <a:r>
              <a:rPr lang="en">
                <a:solidFill>
                  <a:srgbClr val="6A522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>
                <a:solidFill>
                  <a:srgbClr val="5AABBC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rug pug hug pun bun hugs run gun</a:t>
            </a:r>
            <a:r>
              <a:rPr b="1" lang="en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.encode(</a:t>
            </a:r>
            <a:r>
              <a:rPr b="1" lang="en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'utf-8'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">
                <a:solidFill>
                  <a:schemeClr val="lt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[114, 117, 103, 32, 112, 117, 103, 32, 104, 117, 103, 32, 112, 117, 110, 32, 98, 117, 110, 32, 104, 117, 103, 115, 32, 114, 117, 110, 32, 103, 117, 110]</a:t>
            </a:r>
            <a:endParaRPr>
              <a:solidFill>
                <a:schemeClr val="lt2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b="1" lang="en" sz="2400">
                <a:solidFill>
                  <a:schemeClr val="dk1"/>
                </a:solidFill>
                <a:highlight>
                  <a:schemeClr val="lt1"/>
                </a:highlight>
              </a:rPr>
              <a:t>.) Find and count pairs</a:t>
            </a:r>
            <a:endParaRPr b="1" sz="2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CB43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1" lang="en">
                <a:solidFill>
                  <a:srgbClr val="DCB43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ounts</a:t>
            </a:r>
            <a:r>
              <a:rPr lang="en">
                <a:solidFill>
                  <a:srgbClr val="1F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>
                <a:solidFill>
                  <a:srgbClr val="5AABBC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count_pairs</a:t>
            </a:r>
            <a:r>
              <a:rPr lang="en">
                <a:solidFill>
                  <a:srgbClr val="1F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DCB43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string_bytes</a:t>
            </a:r>
            <a:r>
              <a:rPr lang="en">
                <a:solidFill>
                  <a:srgbClr val="1F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 {(114, 117): 2, (117, 103): 4, (103, 32): 3, (32, 112): 2, (112, 117): 2, (32, 104): 2, (104, 117): 2, (117, 110): 4, (110, 32): 3, (32, 98): 1, (98, 117): 1, (103, 115): 1, (115, 32): 1, (32, 114): 1, (32, 103): 1, (103, 117): 1}</a:t>
            </a:r>
            <a:endParaRPr>
              <a:solidFill>
                <a:schemeClr val="lt2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highlight>
                  <a:schemeClr val="lt1"/>
                </a:highlight>
              </a:rPr>
              <a:t>3</a:t>
            </a:r>
            <a:r>
              <a:rPr b="1" lang="en" sz="2400">
                <a:solidFill>
                  <a:schemeClr val="dk1"/>
                </a:solidFill>
                <a:highlight>
                  <a:schemeClr val="lt1"/>
                </a:highlight>
              </a:rPr>
              <a:t>.) Replace the most common pair with a new token</a:t>
            </a:r>
            <a:endParaRPr sz="1450">
              <a:solidFill>
                <a:schemeClr val="lt2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CB43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merged_string</a:t>
            </a:r>
            <a:r>
              <a:rPr lang="en">
                <a:solidFill>
                  <a:srgbClr val="1F1F1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>
                <a:solidFill>
                  <a:srgbClr val="5AABBC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replace_pairs</a:t>
            </a:r>
            <a:r>
              <a:rPr lang="en">
                <a:solidFill>
                  <a:srgbClr val="1F1F1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DCB43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string_bytes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>
                <a:solidFill>
                  <a:srgbClr val="DCB43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counts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>
                <a:solidFill>
                  <a:srgbClr val="5AABBC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most_common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()[0][0], </a:t>
            </a:r>
            <a:r>
              <a:rPr b="1" lang="en">
                <a:solidFill>
                  <a:srgbClr val="46551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257</a:t>
            </a:r>
            <a:r>
              <a:rPr lang="en">
                <a:solidFill>
                  <a:srgbClr val="1F1F1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rgbClr val="1F1F1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">
                <a:solidFill>
                  <a:schemeClr val="lt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[114, 257, 32, 112, 257, 32, 104, 257, 32, 112, 117, 110, 32, 98, 117, 110, 32, 104, 257, 115, 32, 114, 117, 110, 32, 103, 117, 110]</a:t>
            </a:r>
            <a:endParaRPr>
              <a:solidFill>
                <a:schemeClr val="lt2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1F1F1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508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af4acbdf2_0_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programming</a:t>
            </a:r>
            <a:r>
              <a:rPr lang="en"/>
              <a:t>: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Simple_Tokenizer()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5" name="Google Shape;165;g3baf4acbdf2_0_4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We can put all of this together in 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/>
              <a:t> to create a </a:t>
            </a:r>
            <a:r>
              <a:rPr b="1" lang="en">
                <a:solidFill>
                  <a:srgbClr val="002B5B"/>
                </a:solidFill>
              </a:rPr>
              <a:t>tokenizer</a:t>
            </a:r>
            <a:r>
              <a:rPr lang="en"/>
              <a:t> we can re-use!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af4acbdf2_0_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programming</a:t>
            </a:r>
            <a:r>
              <a:rPr lang="en"/>
              <a:t>: Classes</a:t>
            </a:r>
            <a:endParaRPr/>
          </a:p>
        </p:txBody>
      </p:sp>
      <p:sp>
        <p:nvSpPr>
          <p:cNvPr id="171" name="Google Shape;171;g3baf4acbdf2_0_1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/>
              <a:t> is a data type that defines both data, and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functions</a:t>
            </a:r>
            <a:r>
              <a:rPr lang="en"/>
              <a:t> used to manipulate the data. A Specific instances of 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/>
              <a:t> are called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objects</a:t>
            </a:r>
            <a:r>
              <a:rPr lang="en"/>
              <a:t>.</a:t>
            </a:r>
            <a:endParaRPr/>
          </a:p>
        </p:txBody>
      </p:sp>
      <p:pic>
        <p:nvPicPr>
          <p:cNvPr id="172" name="Google Shape;172;g3baf4acbdf2_0_12" title="Screenshot 2026-01-20 at 11.40.30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8643" y="3590925"/>
            <a:ext cx="5326725" cy="125960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3" name="Google Shape;173;g3baf4acbdf2_0_12" title="Screenshot 2026-01-20 at 11.41.41 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7675" y="5098875"/>
            <a:ext cx="7328650" cy="65485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4" name="Google Shape;174;g3baf4acbdf2_0_12"/>
          <p:cNvSpPr txBox="1"/>
          <p:nvPr/>
        </p:nvSpPr>
        <p:spPr>
          <a:xfrm>
            <a:off x="457200" y="6002075"/>
            <a:ext cx="82296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DCB439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can use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dir(class)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out the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attributes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functions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af4acbdf2_0_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“tonight?”</a:t>
            </a:r>
            <a:r>
              <a:rPr lang="en"/>
              <a:t> vs. </a:t>
            </a: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“tonight”</a:t>
            </a:r>
            <a:endParaRPr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" name="Google Shape;180;g3baf4acbdf2_0_6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simple tokenizer works, but it seems very silly that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“tonight?”</a:t>
            </a:r>
            <a:r>
              <a:rPr lang="en"/>
              <a:t> is a different token than </a:t>
            </a:r>
            <a:r>
              <a:rPr b="1" lang="en">
                <a:solidFill>
                  <a:srgbClr val="A31415"/>
                </a:solidFill>
              </a:rPr>
              <a:t>“tonight”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2B5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2B5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">
                <a:solidFill>
                  <a:srgbClr val="002B5B"/>
                </a:solidFill>
              </a:rPr>
              <a:t>BPE</a:t>
            </a:r>
            <a:r>
              <a:rPr lang="en"/>
              <a:t> is excellent at breaking down words statistically, but </a:t>
            </a:r>
            <a:r>
              <a:rPr b="1" lang="en">
                <a:solidFill>
                  <a:srgbClr val="A31415"/>
                </a:solidFill>
              </a:rPr>
              <a:t>it can make suboptimal merges</a:t>
            </a:r>
            <a:r>
              <a:rPr lang="en"/>
              <a:t> like combining punctuation with words.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938ea6dd9_0_9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Regex in Tokenization</a:t>
            </a:r>
            <a:endParaRPr/>
          </a:p>
        </p:txBody>
      </p:sp>
      <p:sp>
        <p:nvSpPr>
          <p:cNvPr id="186" name="Google Shape;186;g3b938ea6dd9_0_93"/>
          <p:cNvSpPr txBox="1"/>
          <p:nvPr/>
        </p:nvSpPr>
        <p:spPr>
          <a:xfrm>
            <a:off x="457200" y="1417650"/>
            <a:ext cx="8229600" cy="5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>
                <a:solidFill>
                  <a:schemeClr val="dk1"/>
                </a:solidFill>
              </a:rPr>
              <a:t>What we can do is pre-split our text based on linguistic “landmarks” like whitespace and punctuation using </a:t>
            </a:r>
            <a:r>
              <a:rPr b="1" lang="en" sz="30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regex</a:t>
            </a:r>
            <a:endParaRPr b="1" i="0" sz="3000" u="none" cap="none" strike="noStrike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30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b="1" i="0" lang="en" sz="30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egex</a:t>
            </a:r>
            <a:r>
              <a:rPr b="1" i="0" lang="en" sz="3000" u="none" cap="none" strike="noStrike">
                <a:solidFill>
                  <a:srgbClr val="465510"/>
                </a:solidFill>
                <a:latin typeface="Arial"/>
                <a:ea typeface="Arial"/>
                <a:cs typeface="Arial"/>
                <a:sym typeface="Arial"/>
              </a:rPr>
              <a:t> acts as a "pre-filter"</a:t>
            </a:r>
            <a:r>
              <a:rPr b="0" i="0" lang="e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prevent these issues, ensuring that letters, numbers, punctuation, and whitespace split.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b938ea6dd9_0_93"/>
          <p:cNvSpPr txBox="1"/>
          <p:nvPr>
            <p:ph idx="1" type="body"/>
          </p:nvPr>
        </p:nvSpPr>
        <p:spPr>
          <a:xfrm>
            <a:off x="457200" y="3270375"/>
            <a:ext cx="82296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 sz="1800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GPT4_SPLIT_PATTERN =</a:t>
            </a:r>
            <a:r>
              <a:rPr lang="en"/>
              <a:t> </a:t>
            </a:r>
            <a:r>
              <a:rPr b="1" lang="en" sz="10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r"""'(?i:[sdmt]|ll|ve|re)|[^\r\n\p{L}\p{N}]?+\p{L}+|\p{N}{1,3}|?[^\s\p{L}\p{N}]++[\r\n]*|\s*[\r\n]|\s+(?!\S)|\s+"""</a:t>
            </a:r>
            <a:endParaRPr b="1" sz="1000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8409de4d6_0_1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programming</a:t>
            </a:r>
            <a:r>
              <a:rPr lang="en"/>
              <a:t>: Regex</a:t>
            </a:r>
            <a:endParaRPr/>
          </a:p>
        </p:txBody>
      </p:sp>
      <p:sp>
        <p:nvSpPr>
          <p:cNvPr id="193" name="Google Shape;193;g3b8409de4d6_0_118"/>
          <p:cNvSpPr txBox="1"/>
          <p:nvPr>
            <p:ph idx="1" type="body"/>
          </p:nvPr>
        </p:nvSpPr>
        <p:spPr>
          <a:xfrm>
            <a:off x="457200" y="1600200"/>
            <a:ext cx="8229600" cy="12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>
                <a:solidFill>
                  <a:srgbClr val="002B5B"/>
                </a:solidFill>
              </a:rPr>
              <a:t>Regex</a:t>
            </a:r>
            <a:r>
              <a:rPr lang="en"/>
              <a:t> allows us to define patterns that we can use to filter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strings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" name="Google Shape;194;g3b8409de4d6_0_118"/>
          <p:cNvSpPr txBox="1"/>
          <p:nvPr/>
        </p:nvSpPr>
        <p:spPr>
          <a:xfrm>
            <a:off x="503850" y="5141175"/>
            <a:ext cx="82296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DCB439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800" u="none" cap="none" strike="noStrike">
                <a:solidFill>
                  <a:srgbClr val="002B5B"/>
                </a:solidFill>
                <a:latin typeface="Arial"/>
                <a:ea typeface="Arial"/>
                <a:cs typeface="Arial"/>
                <a:sym typeface="Arial"/>
              </a:rPr>
              <a:t>Regex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super confusing and almost a language unto itself, </a:t>
            </a:r>
            <a:r>
              <a:rPr b="1" i="0" lang="en" sz="1800" u="none" cap="none" strike="noStrike">
                <a:solidFill>
                  <a:srgbClr val="DCB439"/>
                </a:solidFill>
                <a:latin typeface="Arial"/>
                <a:ea typeface="Arial"/>
                <a:cs typeface="Arial"/>
                <a:sym typeface="Arial"/>
              </a:rPr>
              <a:t>only sickos have it memorized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i="0" lang="en" sz="1800" u="none" cap="none" strike="noStrike">
                <a:solidFill>
                  <a:srgbClr val="465510"/>
                </a:solidFill>
                <a:latin typeface="Arial"/>
                <a:ea typeface="Arial"/>
                <a:cs typeface="Arial"/>
                <a:sym typeface="Arial"/>
              </a:rPr>
              <a:t>Just use a cheat sheet or ask chat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g3b8409de4d6_0_118"/>
          <p:cNvPicPr preferRelativeResize="0"/>
          <p:nvPr/>
        </p:nvPicPr>
        <p:blipFill rotWithShape="1">
          <a:blip r:embed="rId3">
            <a:alphaModFix/>
          </a:blip>
          <a:srcRect b="5479" l="0" r="0" t="5860"/>
          <a:stretch/>
        </p:blipFill>
        <p:spPr>
          <a:xfrm>
            <a:off x="1764750" y="2603800"/>
            <a:ext cx="5614500" cy="253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b8409de4d6_0_118"/>
          <p:cNvSpPr txBox="1"/>
          <p:nvPr/>
        </p:nvSpPr>
        <p:spPr>
          <a:xfrm>
            <a:off x="503850" y="5840175"/>
            <a:ext cx="82296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DCB439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8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regex </a:t>
            </a:r>
            <a:r>
              <a:rPr lang="en" sz="1800">
                <a:solidFill>
                  <a:schemeClr val="dk1"/>
                </a:solidFill>
              </a:rPr>
              <a:t>is short for </a:t>
            </a:r>
            <a:r>
              <a:rPr b="1" lang="en" sz="1800">
                <a:solidFill>
                  <a:srgbClr val="002B5B"/>
                </a:solidFill>
              </a:rPr>
              <a:t>“regular expression”</a:t>
            </a:r>
            <a:r>
              <a:rPr lang="en" sz="1800">
                <a:solidFill>
                  <a:schemeClr val="dk1"/>
                </a:solidFill>
              </a:rPr>
              <a:t> (or “rational expression”) and I actually met one of the creators while interviewing at Princeton!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8409de4d6_0_10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nanochat Tokenizer</a:t>
            </a:r>
            <a:endParaRPr/>
          </a:p>
        </p:txBody>
      </p:sp>
      <p:sp>
        <p:nvSpPr>
          <p:cNvPr id="202" name="Google Shape;202;g3b8409de4d6_0_108"/>
          <p:cNvSpPr txBox="1"/>
          <p:nvPr>
            <p:ph idx="1" type="body"/>
          </p:nvPr>
        </p:nvSpPr>
        <p:spPr>
          <a:xfrm>
            <a:off x="457200" y="1600200"/>
            <a:ext cx="8229600" cy="46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 u="sng">
                <a:solidFill>
                  <a:srgbClr val="DCB439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nanochat tokenizer code</a:t>
            </a:r>
            <a:endParaRPr b="1">
              <a:solidFill>
                <a:srgbClr val="DCB439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>
              <a:solidFill>
                <a:srgbClr val="DCB439"/>
              </a:solidFill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" u="sng">
                <a:solidFill>
                  <a:srgbClr val="DCB439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tiktoken</a:t>
            </a:r>
            <a:r>
              <a:rPr b="1" lang="en" u="sng">
                <a:solidFill>
                  <a:srgbClr val="DCB439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code</a:t>
            </a:r>
            <a:endParaRPr b="1">
              <a:solidFill>
                <a:srgbClr val="DCB439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>
              <a:solidFill>
                <a:srgbClr val="DCB439"/>
              </a:solidFill>
            </a:endParaRPr>
          </a:p>
        </p:txBody>
      </p:sp>
      <p:pic>
        <p:nvPicPr>
          <p:cNvPr id="203" name="Google Shape;203;g3b8409de4d6_0_10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24574" y="4163449"/>
            <a:ext cx="2494850" cy="248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3b8409de4d6_0_108" title="IMG_0529.jpeg"/>
          <p:cNvPicPr preferRelativeResize="0"/>
          <p:nvPr/>
        </p:nvPicPr>
        <p:blipFill rotWithShape="1">
          <a:blip r:embed="rId7">
            <a:alphaModFix/>
          </a:blip>
          <a:srcRect b="0" l="37442" r="50510" t="0"/>
          <a:stretch/>
        </p:blipFill>
        <p:spPr>
          <a:xfrm rot="-5400000">
            <a:off x="4296736" y="701771"/>
            <a:ext cx="550525" cy="6092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B Them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