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guoJccp6uS29IosILh7DY7jKwCy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21" Type="http://customschemas.google.com/relationships/presentationmetadata" Target="meta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3b8409de4d6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" name="Google Shape;32;g3b8409de4d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b8409de4d6_0_6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" name="Google Shape;38;g3b8409de4d6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3b8409de4d6_0_8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" name="Google Shape;44;g3b8409de4d6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b938ea6dd9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g3b938ea6dd9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baf4acbdf2_0_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baf4acbdf2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baf4acbdf2_0_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baf4acbdf2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b938ea6dd9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" name="Google Shape;74;g3b938ea6dd9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ba79990f52_0_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" name="Google Shape;93;g3ba79990f5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b938ea6dd9_0_1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g3b938ea6dd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b938ea6dd9_0_6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g3b938ea6dd9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b8409de4d6_0_10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g3b8409de4d6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baf4acbdf2_0_1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g3baf4acbdf2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b8409de4d6_0_11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g3b8409de4d6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b938ea6dd9_0_9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b938ea6dd9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b8409de4d6_0_10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2" name="Google Shape;142;g3b8409de4d6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12" name="Google Shape;12;p20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9"/>
          <p:cNvSpPr txBox="1"/>
          <p:nvPr>
            <p:ph type="ctrTitle"/>
          </p:nvPr>
        </p:nvSpPr>
        <p:spPr>
          <a:xfrm>
            <a:off x="685800" y="2111123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19"/>
          <p:cNvSpPr txBox="1"/>
          <p:nvPr>
            <p:ph idx="1" type="subTitle"/>
          </p:nvPr>
        </p:nvSpPr>
        <p:spPr>
          <a:xfrm>
            <a:off x="685800" y="3786738"/>
            <a:ext cx="77724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B439"/>
              </a:buClr>
              <a:buSzPts val="3000"/>
              <a:buNone/>
              <a:defRPr b="1">
                <a:solidFill>
                  <a:srgbClr val="DCB439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6" name="Google Shape;16;p19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" type="body"/>
          </p:nvPr>
        </p:nvSpPr>
        <p:spPr>
          <a:xfrm>
            <a:off x="457200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E9E"/>
              </a:buClr>
              <a:buSzPts val="1800"/>
              <a:buChar char="■"/>
              <a:defRPr>
                <a:solidFill>
                  <a:srgbClr val="9E9E9E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1709"/>
              </a:buClr>
              <a:buSzPts val="1800"/>
              <a:buChar char="●"/>
              <a:defRPr>
                <a:solidFill>
                  <a:srgbClr val="5F1709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5510"/>
              </a:buClr>
              <a:buSzPts val="1800"/>
              <a:buChar char="○"/>
              <a:defRPr>
                <a:solidFill>
                  <a:srgbClr val="465510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ABBC"/>
              </a:buClr>
              <a:buSzPts val="1800"/>
              <a:buChar char="■"/>
              <a:defRPr>
                <a:solidFill>
                  <a:srgbClr val="5AABBC"/>
                </a:solidFill>
              </a:defRPr>
            </a:lvl9pPr>
          </a:lstStyle>
          <a:p/>
        </p:txBody>
      </p:sp>
      <p:sp>
        <p:nvSpPr>
          <p:cNvPr id="20" name="Google Shape;20;p23"/>
          <p:cNvSpPr txBox="1"/>
          <p:nvPr>
            <p:ph idx="2" type="body"/>
          </p:nvPr>
        </p:nvSpPr>
        <p:spPr>
          <a:xfrm>
            <a:off x="4692274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4" name="Google Shape;24;p24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5"/>
          <p:cNvSpPr txBox="1"/>
          <p:nvPr>
            <p:ph idx="1" type="body"/>
          </p:nvPr>
        </p:nvSpPr>
        <p:spPr>
          <a:xfrm>
            <a:off x="457200" y="5875079"/>
            <a:ext cx="82296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/>
            </a:lvl1pPr>
          </a:lstStyle>
          <a:p/>
        </p:txBody>
      </p:sp>
      <p:sp>
        <p:nvSpPr>
          <p:cNvPr id="27" name="Google Shape;27;p25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6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B5B"/>
              </a:buClr>
              <a:buSzPts val="3600"/>
              <a:buFont typeface="Arial"/>
              <a:buNone/>
              <a:defRPr b="1" i="0" sz="36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●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docs.python.org/3/library/collections.html#collections.Counter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github.com/karpathy/nanochat/blob/master/nanochat/tokenizer.py" TargetMode="External"/><Relationship Id="rId4" Type="http://schemas.openxmlformats.org/officeDocument/2006/relationships/hyperlink" Target="https://github.com/openai/tiktoken/blob/main/tiktoken/_educational.py" TargetMode="External"/><Relationship Id="rId5" Type="http://schemas.openxmlformats.org/officeDocument/2006/relationships/hyperlink" Target="https://github.com/openai/tiktoken/blob/main/tiktoken/_educational.py" TargetMode="External"/><Relationship Id="rId6" Type="http://schemas.openxmlformats.org/officeDocument/2006/relationships/image" Target="../media/image5.png"/><Relationship Id="rId7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b8409de4d6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Programming Practice 01</a:t>
            </a:r>
            <a:endParaRPr/>
          </a:p>
        </p:txBody>
      </p:sp>
      <p:sp>
        <p:nvSpPr>
          <p:cNvPr id="35" name="Google Shape;35;g3b8409de4d6_0_50"/>
          <p:cNvSpPr txBox="1"/>
          <p:nvPr>
            <p:ph idx="1" type="body"/>
          </p:nvPr>
        </p:nvSpPr>
        <p:spPr>
          <a:xfrm>
            <a:off x="457200" y="1600200"/>
            <a:ext cx="8229600" cy="48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In Colab, write code to do the following: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/>
              <a:t> each of the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chars</a:t>
            </a:r>
            <a:r>
              <a:rPr b="1" lang="en">
                <a:solidFill>
                  <a:srgbClr val="A31415"/>
                </a:solidFill>
              </a:rPr>
              <a:t> </a:t>
            </a:r>
            <a:r>
              <a:rPr lang="en"/>
              <a:t>in an input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en"/>
              <a:t>, count how frequently each appears and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/>
              <a:t> the counts.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(char_counter(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‘hello there’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))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&gt; {</a:t>
            </a:r>
            <a:r>
              <a:rPr b="1" lang="en" sz="26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‘h’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6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‘e’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6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‘l’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6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‘o’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6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‘t’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6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‘r’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b="1" sz="26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b8409de4d6_0_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465510"/>
                </a:solidFill>
              </a:rPr>
              <a:t>Programming Practice Solution 01</a:t>
            </a:r>
            <a:endParaRPr>
              <a:solidFill>
                <a:srgbClr val="465510"/>
              </a:solidFill>
            </a:endParaRPr>
          </a:p>
        </p:txBody>
      </p:sp>
      <p:sp>
        <p:nvSpPr>
          <p:cNvPr id="41" name="Google Shape;41;g3b8409de4d6_0_60"/>
          <p:cNvSpPr txBox="1"/>
          <p:nvPr/>
        </p:nvSpPr>
        <p:spPr>
          <a:xfrm>
            <a:off x="1218150" y="5894150"/>
            <a:ext cx="6707700" cy="7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We can read about features like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counter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using the </a:t>
            </a:r>
            <a:r>
              <a:rPr b="1" i="0" lang="en" sz="1800" u="sng" cap="none" strike="noStrike">
                <a:solidFill>
                  <a:srgbClr val="5AABBC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python documentation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 b="1" i="0" sz="18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3b8409de4d6_0_84"/>
          <p:cNvSpPr txBox="1"/>
          <p:nvPr>
            <p:ph idx="1" type="body"/>
          </p:nvPr>
        </p:nvSpPr>
        <p:spPr>
          <a:xfrm>
            <a:off x="457200" y="1600200"/>
            <a:ext cx="8229600" cy="47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Write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that, given: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/>
              <a:t> of </a:t>
            </a:r>
            <a:r>
              <a:rPr b="1" lang="en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integers</a:t>
            </a:r>
            <a:r>
              <a:rPr lang="en"/>
              <a:t>, a pair, and an id, </a:t>
            </a:r>
            <a:r>
              <a:rPr lang="en"/>
              <a:t>replaces all occurrences of the pair with the new id.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24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(replace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_pairs([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], (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),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))</a:t>
            </a:r>
            <a:endParaRPr b="1" sz="24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]</a:t>
            </a:r>
            <a:endParaRPr b="1"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" name="Google Shape;47;g3b8409de4d6_0_8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Programming Practice 02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b938ea6dd9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465510"/>
                </a:solidFill>
              </a:rPr>
              <a:t>Programming Practice Solution 02</a:t>
            </a:r>
            <a:endParaRPr>
              <a:solidFill>
                <a:srgbClr val="465510"/>
              </a:solidFill>
            </a:endParaRPr>
          </a:p>
        </p:txBody>
      </p:sp>
      <p:pic>
        <p:nvPicPr>
          <p:cNvPr id="53" name="Google Shape;53;g3b938ea6dd9_0_50" title="Screenshot 2026-01-20 at 10.46.28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8975" y="1989300"/>
            <a:ext cx="7086051" cy="23882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54" name="Google Shape;54;g3b938ea6dd9_0_50"/>
          <p:cNvSpPr txBox="1"/>
          <p:nvPr/>
        </p:nvSpPr>
        <p:spPr>
          <a:xfrm>
            <a:off x="1218150" y="4949150"/>
            <a:ext cx="67077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.get(key, default)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allows us to specify a backup value to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if the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key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doesn’t already exist in the dictionary</a:t>
            </a:r>
            <a:endParaRPr b="1" i="0" sz="18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af4acbdf2_0_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Note on the Exams</a:t>
            </a:r>
            <a:endParaRPr/>
          </a:p>
        </p:txBody>
      </p:sp>
      <p:sp>
        <p:nvSpPr>
          <p:cNvPr id="60" name="Google Shape;60;g3baf4acbdf2_0_2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465510"/>
                </a:solidFill>
              </a:rPr>
              <a:t>You will not have to hand-write code</a:t>
            </a:r>
            <a:r>
              <a:rPr lang="en"/>
              <a:t>, and any coding questions will be similar to our pre-lecture practices, NOT our end-of-lecture monstrosities.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will release many practice problems a week or two ahead but the exams will look much more like the homeworks.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af4acbdf2_0_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Note on the Class</a:t>
            </a:r>
            <a:endParaRPr/>
          </a:p>
        </p:txBody>
      </p:sp>
      <p:sp>
        <p:nvSpPr>
          <p:cNvPr id="66" name="Google Shape;66;g3baf4acbdf2_0_7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 don’t want this class to be hard for you to </a:t>
            </a:r>
            <a:r>
              <a:rPr b="1" lang="en">
                <a:solidFill>
                  <a:srgbClr val="465510"/>
                </a:solidFill>
              </a:rPr>
              <a:t>get an A in if you study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</a:rPr>
              <a:t>I do want this class to be conceptually difficult during the lectures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5AABBC"/>
                </a:solidFill>
              </a:rPr>
              <a:t>This stuff literally is the frontier</a:t>
            </a:r>
            <a:r>
              <a:rPr lang="en"/>
              <a:t>, try and keep that in mind. This is what 40 year olds with PhDs are making billions of dollars working on like for real, this is the frontier.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Tokenization 02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g3b938ea6dd9_0_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4325" y="207088"/>
            <a:ext cx="6767796" cy="5135563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g3b938ea6dd9_0_26"/>
          <p:cNvSpPr/>
          <p:nvPr/>
        </p:nvSpPr>
        <p:spPr>
          <a:xfrm>
            <a:off x="447725" y="4650825"/>
            <a:ext cx="2602200" cy="1620300"/>
          </a:xfrm>
          <a:prstGeom prst="roundRect">
            <a:avLst>
              <a:gd fmla="val 16667" name="adj"/>
            </a:avLst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b938ea6dd9_0_26"/>
          <p:cNvSpPr/>
          <p:nvPr/>
        </p:nvSpPr>
        <p:spPr>
          <a:xfrm>
            <a:off x="1524125" y="4462125"/>
            <a:ext cx="449400" cy="188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g3b938ea6dd9_0_26"/>
          <p:cNvSpPr/>
          <p:nvPr/>
        </p:nvSpPr>
        <p:spPr>
          <a:xfrm>
            <a:off x="1255775" y="4769588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Embeddings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0" name="Google Shape;80;g3b938ea6dd9_0_26"/>
          <p:cNvCxnSpPr>
            <a:stCxn id="79" idx="0"/>
          </p:cNvCxnSpPr>
          <p:nvPr/>
        </p:nvCxnSpPr>
        <p:spPr>
          <a:xfrm flipH="1" rot="10800000">
            <a:off x="1750025" y="4259588"/>
            <a:ext cx="2700" cy="5100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" name="Google Shape;81;g3b938ea6dd9_0_26"/>
          <p:cNvSpPr/>
          <p:nvPr/>
        </p:nvSpPr>
        <p:spPr>
          <a:xfrm>
            <a:off x="1255775" y="5268200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FFF9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Tokenizer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2" name="Google Shape;82;g3b938ea6dd9_0_26"/>
          <p:cNvCxnSpPr>
            <a:stCxn id="81" idx="0"/>
            <a:endCxn id="79" idx="2"/>
          </p:cNvCxnSpPr>
          <p:nvPr/>
        </p:nvCxnSpPr>
        <p:spPr>
          <a:xfrm rot="10800000">
            <a:off x="1750025" y="5075000"/>
            <a:ext cx="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3" name="Google Shape;83;g3b938ea6dd9_0_26"/>
          <p:cNvSpPr txBox="1"/>
          <p:nvPr>
            <p:ph type="title"/>
          </p:nvPr>
        </p:nvSpPr>
        <p:spPr>
          <a:xfrm>
            <a:off x="4048400" y="5766800"/>
            <a:ext cx="4578300" cy="8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 sz="4800"/>
              <a:t>Where are we?</a:t>
            </a:r>
            <a:endParaRPr sz="4800"/>
          </a:p>
        </p:txBody>
      </p:sp>
      <p:sp>
        <p:nvSpPr>
          <p:cNvPr id="84" name="Google Shape;84;g3b938ea6dd9_0_26"/>
          <p:cNvSpPr/>
          <p:nvPr/>
        </p:nvSpPr>
        <p:spPr>
          <a:xfrm>
            <a:off x="559425" y="5766800"/>
            <a:ext cx="2379000" cy="305400"/>
          </a:xfrm>
          <a:prstGeom prst="roundRect">
            <a:avLst>
              <a:gd fmla="val 16667" name="adj"/>
            </a:avLst>
          </a:prstGeom>
          <a:solidFill>
            <a:srgbClr val="95DCF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“Please help me with my homework!!”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" name="Google Shape;85;g3b938ea6dd9_0_26"/>
          <p:cNvCxnSpPr>
            <a:stCxn id="84" idx="0"/>
            <a:endCxn id="81" idx="2"/>
          </p:cNvCxnSpPr>
          <p:nvPr/>
        </p:nvCxnSpPr>
        <p:spPr>
          <a:xfrm flipH="1" rot="10800000">
            <a:off x="1748925" y="5573600"/>
            <a:ext cx="120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6" name="Google Shape;86;g3b938ea6dd9_0_26"/>
          <p:cNvSpPr/>
          <p:nvPr/>
        </p:nvSpPr>
        <p:spPr>
          <a:xfrm>
            <a:off x="1475375" y="1022900"/>
            <a:ext cx="546900" cy="3492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g3b938ea6dd9_0_26"/>
          <p:cNvSpPr/>
          <p:nvPr/>
        </p:nvSpPr>
        <p:spPr>
          <a:xfrm>
            <a:off x="202775" y="207100"/>
            <a:ext cx="3092100" cy="9345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b938ea6dd9_0_26"/>
          <p:cNvSpPr/>
          <p:nvPr/>
        </p:nvSpPr>
        <p:spPr>
          <a:xfrm>
            <a:off x="447725" y="361750"/>
            <a:ext cx="2602200" cy="6252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Response: “Certainly, as a large language model I’d be happy to help you cheat on your homework assignment”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9" name="Google Shape;89;g3b938ea6dd9_0_26"/>
          <p:cNvCxnSpPr>
            <a:endCxn id="88" idx="2"/>
          </p:cNvCxnSpPr>
          <p:nvPr/>
        </p:nvCxnSpPr>
        <p:spPr>
          <a:xfrm rot="10800000">
            <a:off x="1748825" y="986950"/>
            <a:ext cx="4800" cy="4515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0" name="Google Shape;90;g3b938ea6dd9_0_26"/>
          <p:cNvSpPr/>
          <p:nvPr/>
        </p:nvSpPr>
        <p:spPr>
          <a:xfrm>
            <a:off x="279925" y="5169150"/>
            <a:ext cx="2911200" cy="12318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ba79990f52_0_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Last Class - Tokenization 01</a:t>
            </a:r>
            <a:endParaRPr/>
          </a:p>
        </p:txBody>
      </p:sp>
      <p:pic>
        <p:nvPicPr>
          <p:cNvPr id="96" name="Google Shape;96;g3ba79990f52_0_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696538"/>
            <a:ext cx="8839200" cy="3464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b938ea6dd9_0_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Why do we Tokenize?</a:t>
            </a:r>
            <a:endParaRPr/>
          </a:p>
        </p:txBody>
      </p:sp>
      <p:sp>
        <p:nvSpPr>
          <p:cNvPr id="102" name="Google Shape;102;g3b938ea6dd9_0_16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Machine Readability:</a:t>
            </a:r>
            <a:r>
              <a:rPr lang="en" sz="2200"/>
              <a:t> Models work with numbers, not letters; </a:t>
            </a:r>
            <a:r>
              <a:rPr b="1" lang="en" sz="2200">
                <a:solidFill>
                  <a:srgbClr val="DCB439"/>
                </a:solidFill>
              </a:rPr>
              <a:t>tokens become numerical IDs</a:t>
            </a:r>
            <a:r>
              <a:rPr lang="en" sz="2200"/>
              <a:t> for the model to understand relationships and context.</a:t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Efficiency &amp; Scalability:</a:t>
            </a:r>
            <a:r>
              <a:rPr lang="en" sz="2200"/>
              <a:t> Breaking text into subwords (like "help" + "ful") </a:t>
            </a:r>
            <a:r>
              <a:rPr b="1" lang="en" sz="2200">
                <a:solidFill>
                  <a:srgbClr val="DCB439"/>
                </a:solidFill>
              </a:rPr>
              <a:t>reduces the vocabulary size</a:t>
            </a:r>
            <a:r>
              <a:rPr lang="en" sz="2200"/>
              <a:t>, meaning fewer unique items to learn, </a:t>
            </a:r>
            <a:r>
              <a:rPr b="1" lang="en" sz="2200">
                <a:solidFill>
                  <a:srgbClr val="465510"/>
                </a:solidFill>
              </a:rPr>
              <a:t>making models smaller and faster</a:t>
            </a:r>
            <a:r>
              <a:rPr lang="en" sz="2200"/>
              <a:t> than word-based methods.</a:t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Handling Novelty:</a:t>
            </a:r>
            <a:r>
              <a:rPr lang="en" sz="2200"/>
              <a:t> Subword tokenization (like BPE) helps models understand new or misspelled words by </a:t>
            </a:r>
            <a:r>
              <a:rPr b="1" lang="en" sz="2200">
                <a:solidFill>
                  <a:srgbClr val="DCB439"/>
                </a:solidFill>
              </a:rPr>
              <a:t>breaking them into known parts, improving robustness</a:t>
            </a:r>
            <a:r>
              <a:rPr lang="en" sz="2200"/>
              <a:t>.</a:t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Contextual Understanding:</a:t>
            </a:r>
            <a:r>
              <a:rPr lang="en" sz="2200"/>
              <a:t> It provides granular units (tokens) for the model </a:t>
            </a:r>
            <a:r>
              <a:rPr b="1" lang="en" sz="2200">
                <a:solidFill>
                  <a:srgbClr val="DCB439"/>
                </a:solidFill>
              </a:rPr>
              <a:t>to predict the next element in a sequence</a:t>
            </a:r>
            <a:r>
              <a:rPr lang="en" sz="2200"/>
              <a:t>, forming the basis of its language generation.</a:t>
            </a:r>
            <a:endParaRPr sz="22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b938ea6dd9_0_6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Byte-Pair Encoding Tokenization </a:t>
            </a:r>
            <a:r>
              <a:rPr lang="en" sz="1800"/>
              <a:t>(1994)</a:t>
            </a:r>
            <a:endParaRPr sz="1800"/>
          </a:p>
        </p:txBody>
      </p:sp>
      <p:pic>
        <p:nvPicPr>
          <p:cNvPr id="108" name="Google Shape;108;g3b938ea6dd9_0_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1113" y="1720204"/>
            <a:ext cx="6581775" cy="45233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b8409de4d6_0_10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Bytes</a:t>
            </a:r>
            <a:endParaRPr/>
          </a:p>
        </p:txBody>
      </p:sp>
      <p:sp>
        <p:nvSpPr>
          <p:cNvPr id="114" name="Google Shape;114;g3b8409de4d6_0_103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is a data type that defines both data, and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lang="en"/>
              <a:t> used to manipulate the data. A Specific instances of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are called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objects</a:t>
            </a:r>
            <a:r>
              <a:rPr lang="en"/>
              <a:t>.</a:t>
            </a:r>
            <a:endParaRPr/>
          </a:p>
        </p:txBody>
      </p:sp>
      <p:sp>
        <p:nvSpPr>
          <p:cNvPr id="115" name="Google Shape;115;g3b8409de4d6_0_103"/>
          <p:cNvSpPr txBox="1"/>
          <p:nvPr/>
        </p:nvSpPr>
        <p:spPr>
          <a:xfrm>
            <a:off x="457200" y="60020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We can use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dir(class)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out the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has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baf4acbdf2_0_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Classes</a:t>
            </a:r>
            <a:endParaRPr/>
          </a:p>
        </p:txBody>
      </p:sp>
      <p:sp>
        <p:nvSpPr>
          <p:cNvPr id="121" name="Google Shape;121;g3baf4acbdf2_0_12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is a data type that defines both data, and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lang="en"/>
              <a:t> used to manipulate the data. A Specific instances of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are called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objects</a:t>
            </a:r>
            <a:r>
              <a:rPr lang="en"/>
              <a:t>.</a:t>
            </a:r>
            <a:endParaRPr/>
          </a:p>
        </p:txBody>
      </p:sp>
      <p:pic>
        <p:nvPicPr>
          <p:cNvPr id="122" name="Google Shape;122;g3baf4acbdf2_0_12" title="Screenshot 2026-01-20 at 11.40.30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08643" y="3590925"/>
            <a:ext cx="5326725" cy="12596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23" name="Google Shape;123;g3baf4acbdf2_0_12" title="Screenshot 2026-01-20 at 11.41.41 AM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7675" y="5098875"/>
            <a:ext cx="7328650" cy="6548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24" name="Google Shape;124;g3baf4acbdf2_0_12"/>
          <p:cNvSpPr txBox="1"/>
          <p:nvPr/>
        </p:nvSpPr>
        <p:spPr>
          <a:xfrm>
            <a:off x="457200" y="60020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We can use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dir(class)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out the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has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b8409de4d6_0_1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Regex</a:t>
            </a:r>
            <a:endParaRPr/>
          </a:p>
        </p:txBody>
      </p:sp>
      <p:sp>
        <p:nvSpPr>
          <p:cNvPr id="130" name="Google Shape;130;g3b8409de4d6_0_118"/>
          <p:cNvSpPr txBox="1"/>
          <p:nvPr>
            <p:ph idx="1" type="body"/>
          </p:nvPr>
        </p:nvSpPr>
        <p:spPr>
          <a:xfrm>
            <a:off x="457200" y="1600200"/>
            <a:ext cx="8229600" cy="12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002B5B"/>
                </a:solidFill>
              </a:rPr>
              <a:t>Regex</a:t>
            </a:r>
            <a:r>
              <a:rPr lang="en"/>
              <a:t> allows us to define patterns that we can use to filter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endParaRPr b="1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" name="Google Shape;131;g3b8409de4d6_0_118"/>
          <p:cNvSpPr txBox="1"/>
          <p:nvPr/>
        </p:nvSpPr>
        <p:spPr>
          <a:xfrm>
            <a:off x="457200" y="60132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" sz="18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rPr>
              <a:t>Regex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super confusing and almost a language unto itself, </a:t>
            </a: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only sickos have it memorized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b="1" i="0" lang="en" sz="1800" u="none" cap="none" strike="noStrike">
                <a:solidFill>
                  <a:srgbClr val="465510"/>
                </a:solidFill>
                <a:latin typeface="Arial"/>
                <a:ea typeface="Arial"/>
                <a:cs typeface="Arial"/>
                <a:sym typeface="Arial"/>
              </a:rPr>
              <a:t>Just use a cheat sheet or ask chat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Google Shape;132;g3b8409de4d6_0_1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64750" y="2846400"/>
            <a:ext cx="5614492" cy="286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938ea6dd9_0_9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Regex in Tokenization</a:t>
            </a:r>
            <a:endParaRPr/>
          </a:p>
        </p:txBody>
      </p:sp>
      <p:sp>
        <p:nvSpPr>
          <p:cNvPr id="138" name="Google Shape;138;g3b938ea6dd9_0_93"/>
          <p:cNvSpPr txBox="1"/>
          <p:nvPr>
            <p:ph idx="1" type="body"/>
          </p:nvPr>
        </p:nvSpPr>
        <p:spPr>
          <a:xfrm>
            <a:off x="457200" y="1600200"/>
            <a:ext cx="8229600" cy="98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18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GPT4_SPLIT_PATTERN =</a:t>
            </a:r>
            <a:r>
              <a:rPr lang="en"/>
              <a:t> </a:t>
            </a:r>
            <a:r>
              <a:rPr b="1" lang="en" sz="10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r"""'(?i:[sdmt]|ll|ve|re)|[^\r\n\p{L}\p{N}]?+\p{L}+|\p{N}{1,3}|?[^\s\p{L}\p{N}]++[\r\n]*|\s*[\r\n]|\s+(?!\S)|\s+"""</a:t>
            </a:r>
            <a:endParaRPr b="1" sz="10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</p:txBody>
      </p:sp>
      <p:sp>
        <p:nvSpPr>
          <p:cNvPr id="139" name="Google Shape;139;g3b938ea6dd9_0_93"/>
          <p:cNvSpPr txBox="1"/>
          <p:nvPr/>
        </p:nvSpPr>
        <p:spPr>
          <a:xfrm>
            <a:off x="457200" y="2588400"/>
            <a:ext cx="8229600" cy="385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rPr>
              <a:t>BPE</a:t>
            </a:r>
            <a:r>
              <a:rPr b="0" i="0" lang="en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excellent at breaking down words statistically, but </a:t>
            </a:r>
            <a:r>
              <a:rPr b="1" i="0" lang="en" sz="3000" u="none" cap="none" strike="noStrike">
                <a:solidFill>
                  <a:srgbClr val="A31415"/>
                </a:solidFill>
                <a:latin typeface="Arial"/>
                <a:ea typeface="Arial"/>
                <a:cs typeface="Arial"/>
                <a:sym typeface="Arial"/>
              </a:rPr>
              <a:t>it can make suboptimal merges</a:t>
            </a:r>
            <a:r>
              <a:rPr b="0" i="0" lang="en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like combining punctuation with words. 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465510"/>
                </a:solidFill>
                <a:latin typeface="Arial"/>
                <a:ea typeface="Arial"/>
                <a:cs typeface="Arial"/>
                <a:sym typeface="Arial"/>
              </a:rPr>
              <a:t>Regex acts as a "pre-filter"</a:t>
            </a:r>
            <a:r>
              <a:rPr b="0" i="0" lang="en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prevent these issues, ensuring that letters, numbers, punctuation, and whitespace split.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b8409de4d6_0_10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nanochat Tokenizer</a:t>
            </a:r>
            <a:endParaRPr/>
          </a:p>
        </p:txBody>
      </p:sp>
      <p:sp>
        <p:nvSpPr>
          <p:cNvPr id="145" name="Google Shape;145;g3b8409de4d6_0_108"/>
          <p:cNvSpPr txBox="1"/>
          <p:nvPr>
            <p:ph idx="1" type="body"/>
          </p:nvPr>
        </p:nvSpPr>
        <p:spPr>
          <a:xfrm>
            <a:off x="457200" y="1600200"/>
            <a:ext cx="8229600" cy="46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u="sng">
                <a:solidFill>
                  <a:srgbClr val="DCB439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nanochat tokenizer code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DCB439"/>
              </a:solidFill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lang="en" u="sng">
                <a:solidFill>
                  <a:srgbClr val="DCB439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tiktoken</a:t>
            </a:r>
            <a:r>
              <a:rPr b="1" lang="en" u="sng">
                <a:solidFill>
                  <a:srgbClr val="DCB439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code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DCB439"/>
              </a:solidFill>
            </a:endParaRPr>
          </a:p>
        </p:txBody>
      </p:sp>
      <p:pic>
        <p:nvPicPr>
          <p:cNvPr id="146" name="Google Shape;146;g3b8409de4d6_0_10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3021" y="3503921"/>
            <a:ext cx="3231975" cy="32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g3b8409de4d6_0_108" title="IMG_0529.jpe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000250" y="0"/>
            <a:ext cx="5143500" cy="6857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B Them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