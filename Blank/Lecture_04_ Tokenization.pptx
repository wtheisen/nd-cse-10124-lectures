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j05/nJwIKYM6vSm27n3Z9IKDRe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af4acbdf2_0_5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g3baf4acbdf2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af4acbdf2_0_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af4acbdf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af4acbdf2_0_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af4acbdf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af4acbdf2_0_2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baf4acbdf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af4acbdf2_0_7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g3baf4acbdf2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af4acbdf2_0_2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3baf4acbdf2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af4acbdf2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g3baf4acbdf2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af4acbdf2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baf4acbdf2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af4acbdf2_0_4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baf4acbdf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af4acbdf2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af4acbdf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ocs.python.org/3/library/collections.html#collections.Counter" TargetMode="External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hyperlink" Target="https://github.com/openai/tiktoken/blob/main/tiktoken/_educational.py" TargetMode="External"/><Relationship Id="rId6" Type="http://schemas.openxmlformats.org/officeDocument/2006/relationships/image" Target="../media/image11.pn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code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chars</a:t>
            </a:r>
            <a:r>
              <a:rPr b="1" lang="en">
                <a:solidFill>
                  <a:srgbClr val="A31415"/>
                </a:solidFill>
              </a:rPr>
              <a:t> </a:t>
            </a:r>
            <a:r>
              <a:rPr lang="en"/>
              <a:t>in an input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/>
              <a:t>, count how frequently each appears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the counts.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char_counter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‘hello there’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{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‘e’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‘l’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‘o’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‘t’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‘r’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sp>
        <p:nvSpPr>
          <p:cNvPr id="41" name="Google Shape;41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read about features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Counter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the </a:t>
            </a:r>
            <a:r>
              <a:rPr b="1" i="0" lang="en" sz="1800" u="sng" cap="none" strike="noStrike">
                <a:solidFill>
                  <a:srgbClr val="5AABBC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" name="Google Shape;42;g3b8409de4d6_0_60" title="Screenshot 2026-01-21 at 9.52.5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1417646"/>
            <a:ext cx="4783499" cy="24337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3" name="Google Shape;43;g3b8409de4d6_0_60" title="Screenshot 2026-01-21 at 9.51.40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61450" y="4003771"/>
            <a:ext cx="4325346" cy="1737979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Write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that, given: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integers</a:t>
            </a:r>
            <a:r>
              <a:rPr lang="en"/>
              <a:t>, a pair, and an id, </a:t>
            </a:r>
            <a:r>
              <a:rPr lang="en"/>
              <a:t>replaces all occurrences of the pair with the new id.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</a:t>
            </a: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_pairs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], (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" name="Google Shape;49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sp>
        <p:nvSpPr>
          <p:cNvPr id="55" name="Google Shape;55;g3b938ea6dd9_0_50"/>
          <p:cNvSpPr txBox="1"/>
          <p:nvPr/>
        </p:nvSpPr>
        <p:spPr>
          <a:xfrm>
            <a:off x="1218150" y="6012825"/>
            <a:ext cx="6707700" cy="73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800">
                <a:solidFill>
                  <a:schemeClr val="dk1"/>
                </a:solidFill>
              </a:rPr>
              <a:t>We use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while</a:t>
            </a:r>
            <a:r>
              <a:rPr lang="en" sz="1800">
                <a:solidFill>
                  <a:schemeClr val="dk1"/>
                </a:solidFill>
              </a:rPr>
              <a:t> loop here instead of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800">
                <a:solidFill>
                  <a:schemeClr val="dk1"/>
                </a:solidFill>
              </a:rPr>
              <a:t> loop because when we replace a pair we need to “jump” ahead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pic>
        <p:nvPicPr>
          <p:cNvPr id="56" name="Google Shape;56;g3b938ea6dd9_0_50" title="Screenshot 2026-01-21 at 9.48.0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7513" y="1570038"/>
            <a:ext cx="7308980" cy="4290387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af4acbdf2_0_5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tuples</a:t>
            </a:r>
            <a:endParaRPr/>
          </a:p>
        </p:txBody>
      </p:sp>
      <p:sp>
        <p:nvSpPr>
          <p:cNvPr id="62" name="Google Shape;62;g3baf4acbdf2_0_5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tuple</a:t>
            </a:r>
            <a:r>
              <a:rPr lang="en"/>
              <a:t> is a data type that </a:t>
            </a:r>
            <a:endParaRPr/>
          </a:p>
        </p:txBody>
      </p:sp>
      <p:sp>
        <p:nvSpPr>
          <p:cNvPr id="63" name="Google Shape;63;g3baf4acbdf2_0_54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baf4acbdf2_0_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Exams</a:t>
            </a:r>
            <a:endParaRPr/>
          </a:p>
        </p:txBody>
      </p:sp>
      <p:sp>
        <p:nvSpPr>
          <p:cNvPr id="69" name="Google Shape;69;g3baf4acbdf2_0_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65510"/>
                </a:solidFill>
              </a:rPr>
              <a:t>You will not have to hand-write code</a:t>
            </a:r>
            <a:r>
              <a:rPr lang="en"/>
              <a:t>, and any coding related questions will be more similar to our pre-lecture practices and </a:t>
            </a:r>
            <a:r>
              <a:rPr b="1" lang="en">
                <a:solidFill>
                  <a:srgbClr val="A31415"/>
                </a:solidFill>
              </a:rPr>
              <a:t>NOT our end-of-lecture monstrosities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will release many practice problems a week or two ahead, but </a:t>
            </a:r>
            <a:r>
              <a:rPr b="1" lang="en">
                <a:solidFill>
                  <a:srgbClr val="DCB439"/>
                </a:solidFill>
              </a:rPr>
              <a:t>the exams will look primarily like the homeworks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af4acbdf2_0_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Class</a:t>
            </a:r>
            <a:endParaRPr/>
          </a:p>
        </p:txBody>
      </p:sp>
      <p:sp>
        <p:nvSpPr>
          <p:cNvPr id="75" name="Google Shape;75;g3baf4acbdf2_0_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don’t want this class to be hard for you to </a:t>
            </a:r>
            <a:r>
              <a:rPr b="1" lang="en">
                <a:solidFill>
                  <a:srgbClr val="465510"/>
                </a:solidFill>
              </a:rPr>
              <a:t>get an A in if you study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</a:rPr>
              <a:t>I do want this class to be conceptually difficult during the lectures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AABBC"/>
                </a:solidFill>
              </a:rPr>
              <a:t>This stuff literally is the frontier</a:t>
            </a:r>
            <a:r>
              <a:rPr lang="en"/>
              <a:t>, try and keep that in mind. This is what 40 year olds with PhDs are making billions of dollars working on like for real, this is the frontier.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02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" name="Google Shape;89;g3b938ea6dd9_0_26"/>
          <p:cNvCxnSpPr>
            <a:stCxn id="88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1" name="Google Shape;91;g3b938ea6dd9_0_26"/>
          <p:cNvCxnSpPr>
            <a:stCxn id="90" idx="0"/>
            <a:endCxn id="88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2" name="Google Shape;92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93" name="Google Shape;93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Google Shape;94;g3b938ea6dd9_0_26"/>
          <p:cNvCxnSpPr>
            <a:stCxn id="93" idx="0"/>
            <a:endCxn id="90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" name="Google Shape;98;g3b938ea6dd9_0_26"/>
          <p:cNvCxnSpPr>
            <a:endCxn id="97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01</a:t>
            </a:r>
            <a:endParaRPr/>
          </a:p>
        </p:txBody>
      </p:sp>
      <p:pic>
        <p:nvPicPr>
          <p:cNvPr id="105" name="Google Shape;105;g3ba79990f52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6538"/>
            <a:ext cx="8839200" cy="3464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11" name="Google Shape;111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af4acbdf2_0_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Byte Encoding Tokenization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Bytes</a:t>
            </a:r>
            <a:endParaRPr/>
          </a:p>
        </p:txBody>
      </p:sp>
      <p:sp>
        <p:nvSpPr>
          <p:cNvPr id="122" name="Google Shape;122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byte</a:t>
            </a:r>
            <a:r>
              <a:rPr lang="en"/>
              <a:t> is a data type </a:t>
            </a:r>
            <a:endParaRPr/>
          </a:p>
        </p:txBody>
      </p:sp>
      <p:sp>
        <p:nvSpPr>
          <p:cNvPr id="123" name="Google Shape;123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af4acbdf2_0_7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ASCII Values</a:t>
            </a:r>
            <a:endParaRPr/>
          </a:p>
        </p:txBody>
      </p:sp>
      <p:sp>
        <p:nvSpPr>
          <p:cNvPr id="129" name="Google Shape;129;g3baf4acbdf2_0_77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0" name="Google Shape;130;g3baf4acbdf2_0_77"/>
          <p:cNvPicPr preferRelativeResize="0"/>
          <p:nvPr/>
        </p:nvPicPr>
        <p:blipFill rotWithShape="1">
          <a:blip r:embed="rId3">
            <a:alphaModFix/>
          </a:blip>
          <a:srcRect b="13076" l="7554" r="10504" t="6401"/>
          <a:stretch/>
        </p:blipFill>
        <p:spPr>
          <a:xfrm>
            <a:off x="1572213" y="1636527"/>
            <a:ext cx="5999574" cy="414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baf4acbdf2_0_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36" name="Google Shape;136;g3baf4acbdf2_0_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af4acbdf2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2" name="Google Shape;142;g3baf4acbdf2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count_consecutive_pairs()</a:t>
            </a:r>
            <a:r>
              <a:rPr lang="en"/>
              <a:t>, we can use this to find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that frequently appear near each other!</a:t>
            </a:r>
            <a:endParaRPr/>
          </a:p>
        </p:txBody>
      </p:sp>
      <p:pic>
        <p:nvPicPr>
          <p:cNvPr id="143" name="Google Shape;143;g3baf4acbdf2_0_84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387515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af4acbdf2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9" name="Google Shape;149;g3baf4acbdf2_0_9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Today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155" name="Google Shape;155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56" name="Google Shape;156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7" name="Google Shape;157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8" name="Google Shape;158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af4acbdf2_0_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Simple_Tokenizer()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g3baf4acbdf2_0_4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can put all of this together in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to create a </a:t>
            </a:r>
            <a:r>
              <a:rPr b="1" lang="en">
                <a:solidFill>
                  <a:srgbClr val="002B5B"/>
                </a:solidFill>
              </a:rPr>
              <a:t>tokenizer</a:t>
            </a:r>
            <a:r>
              <a:rPr lang="en"/>
              <a:t> we can re-use!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baf4acbdf2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vs. 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“tonight”</a:t>
            </a:r>
            <a:endParaRPr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g3baf4acbdf2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simple tokenizer works, but it seems very silly that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is a different token than </a:t>
            </a:r>
            <a:r>
              <a:rPr b="1" lang="en">
                <a:solidFill>
                  <a:srgbClr val="A31415"/>
                </a:solidFill>
              </a:rPr>
              <a:t>“tonight”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excellent at breaking down words statistically, but </a:t>
            </a:r>
            <a:r>
              <a:rPr b="1" lang="en">
                <a:solidFill>
                  <a:srgbClr val="A31415"/>
                </a:solidFill>
              </a:rPr>
              <a:t>it can make suboptimal merges</a:t>
            </a:r>
            <a:r>
              <a:rPr lang="en"/>
              <a:t> like combining punctuation with words.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76" name="Google Shape;176;g3b938ea6dd9_0_93"/>
          <p:cNvSpPr txBox="1"/>
          <p:nvPr/>
        </p:nvSpPr>
        <p:spPr>
          <a:xfrm>
            <a:off x="457200" y="1417650"/>
            <a:ext cx="8229600" cy="5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>
                <a:solidFill>
                  <a:schemeClr val="dk1"/>
                </a:solidFill>
              </a:rPr>
              <a:t>What we can do is pre-split our text based on linguistic “landmarks” like whitespace and punctuation using </a:t>
            </a:r>
            <a:r>
              <a:rPr b="1" lang="en" sz="3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" sz="3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egex</a:t>
            </a: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g3b938ea6dd9_0_93"/>
          <p:cNvSpPr txBox="1"/>
          <p:nvPr>
            <p:ph idx="1" type="body"/>
          </p:nvPr>
        </p:nvSpPr>
        <p:spPr>
          <a:xfrm>
            <a:off x="457200" y="3270375"/>
            <a:ext cx="8229600" cy="98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83" name="Google Shape;183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" name="Google Shape;184;g3b8409de4d6_0_118"/>
          <p:cNvSpPr txBox="1"/>
          <p:nvPr/>
        </p:nvSpPr>
        <p:spPr>
          <a:xfrm>
            <a:off x="503850" y="5141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5" name="Google Shape;185;g3b8409de4d6_0_118"/>
          <p:cNvPicPr preferRelativeResize="0"/>
          <p:nvPr/>
        </p:nvPicPr>
        <p:blipFill rotWithShape="1">
          <a:blip r:embed="rId3">
            <a:alphaModFix/>
          </a:blip>
          <a:srcRect b="5479" l="0" r="0" t="5860"/>
          <a:stretch/>
        </p:blipFill>
        <p:spPr>
          <a:xfrm>
            <a:off x="1764750" y="2603800"/>
            <a:ext cx="5614500" cy="25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g3b8409de4d6_0_118"/>
          <p:cNvSpPr txBox="1"/>
          <p:nvPr/>
        </p:nvSpPr>
        <p:spPr>
          <a:xfrm>
            <a:off x="503850" y="5840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 </a:t>
            </a:r>
            <a:r>
              <a:rPr lang="en" sz="1800">
                <a:solidFill>
                  <a:schemeClr val="dk1"/>
                </a:solidFill>
              </a:rPr>
              <a:t>is short for </a:t>
            </a:r>
            <a:r>
              <a:rPr b="1" lang="en" sz="1800">
                <a:solidFill>
                  <a:srgbClr val="002B5B"/>
                </a:solidFill>
              </a:rPr>
              <a:t>“regular expression”</a:t>
            </a:r>
            <a:r>
              <a:rPr lang="en" sz="1800">
                <a:solidFill>
                  <a:schemeClr val="dk1"/>
                </a:solidFill>
              </a:rPr>
              <a:t> (or “rational expression”) and I actually met one of the creators while interviewing at Princeton!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92" name="Google Shape;192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</a:t>
            </a:r>
            <a:r>
              <a:rPr b="1" lang="en" u="sng">
                <a:solidFill>
                  <a:srgbClr val="DCB439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193" name="Google Shape;193;g3b8409de4d6_0_10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24574" y="4163449"/>
            <a:ext cx="2494850" cy="248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g3b8409de4d6_0_108" title="IMG_0529.jpeg"/>
          <p:cNvPicPr preferRelativeResize="0"/>
          <p:nvPr/>
        </p:nvPicPr>
        <p:blipFill rotWithShape="1">
          <a:blip r:embed="rId7">
            <a:alphaModFix/>
          </a:blip>
          <a:srcRect b="0" l="37442" r="50510" t="0"/>
          <a:stretch/>
        </p:blipFill>
        <p:spPr>
          <a:xfrm rot="-5400000">
            <a:off x="4296736" y="701771"/>
            <a:ext cx="550525" cy="60929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