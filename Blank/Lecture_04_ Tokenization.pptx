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9" roundtripDataSignature="AMtx7miKI4Hs82p/NbVAD798T3cr0bMV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af4acbdf2_0_5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g3baf4acbdf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af4acbdf2_0_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af4acbdf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af4acbdf2_0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af4acbdf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af4acbdf2_0_9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baf4acbdf2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af4acbdf2_0_7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baf4acbdf2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af4acbdf2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af4acbdf2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af4acbdf2_0_10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baf4acbdf2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ocs.python.org/3/library/collections.html#collections.Counter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hyperlink" Target="https://github.com/openai/tiktoken/blob/main/tiktoken/_educational.py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code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chars</a:t>
            </a:r>
            <a:r>
              <a:rPr b="1" lang="en">
                <a:solidFill>
                  <a:srgbClr val="A31415"/>
                </a:solidFill>
              </a:rPr>
              <a:t> </a:t>
            </a:r>
            <a:r>
              <a:rPr lang="en"/>
              <a:t>in an input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/>
              <a:t>, count how frequently each appears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the counts.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char_counter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‘hello there’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{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‘e’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‘l’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‘o’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‘t’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‘r’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41" name="Google Shape;41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read about features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Counter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the </a:t>
            </a:r>
            <a:r>
              <a:rPr b="1" i="0" lang="en" sz="1800" u="sng" cap="none" strike="noStrike">
                <a:solidFill>
                  <a:srgbClr val="5AABBC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" name="Google Shape;42;g3b8409de4d6_0_60" title="Screenshot 2026-01-21 at 9.52.5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417646"/>
            <a:ext cx="4783499" cy="24337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3" name="Google Shape;43;g3b8409de4d6_0_60" title="Screenshot 2026-01-21 at 9.51.40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61450" y="4003771"/>
            <a:ext cx="4325346" cy="1737979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Write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that, given: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integers</a:t>
            </a:r>
            <a:r>
              <a:rPr lang="en"/>
              <a:t>, a pair, and an id, </a:t>
            </a:r>
            <a:r>
              <a:rPr lang="en"/>
              <a:t>replaces all occurrences of the pair with the new id.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_pairs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], (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" name="Google Shape;49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55" name="Google Shape;55;g3b938ea6dd9_0_50"/>
          <p:cNvSpPr txBox="1"/>
          <p:nvPr/>
        </p:nvSpPr>
        <p:spPr>
          <a:xfrm>
            <a:off x="1218150" y="6012825"/>
            <a:ext cx="6707700" cy="7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800">
                <a:solidFill>
                  <a:schemeClr val="dk1"/>
                </a:solidFill>
              </a:rPr>
              <a:t>We use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lang="en" sz="1800">
                <a:solidFill>
                  <a:schemeClr val="dk1"/>
                </a:solidFill>
              </a:rPr>
              <a:t> loop here instead of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800">
                <a:solidFill>
                  <a:schemeClr val="dk1"/>
                </a:solidFill>
              </a:rPr>
              <a:t> loop because when we replace a pair we need to “jump” ahead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pic>
        <p:nvPicPr>
          <p:cNvPr id="56" name="Google Shape;56;g3b938ea6dd9_0_50" title="Screenshot 2026-01-21 at 9.48.0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7513" y="1570038"/>
            <a:ext cx="7308980" cy="4290387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af4acbdf2_0_5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tuples</a:t>
            </a:r>
            <a:endParaRPr/>
          </a:p>
        </p:txBody>
      </p:sp>
      <p:sp>
        <p:nvSpPr>
          <p:cNvPr id="62" name="Google Shape;62;g3baf4acbdf2_0_5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tuple</a:t>
            </a:r>
            <a:r>
              <a:rPr lang="en"/>
              <a:t> is a data type that is </a:t>
            </a:r>
            <a:r>
              <a:rPr b="1" lang="en">
                <a:solidFill>
                  <a:srgbClr val="DCB439"/>
                </a:solidFill>
              </a:rPr>
              <a:t>ordered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immutable,</a:t>
            </a:r>
            <a:r>
              <a:rPr lang="en"/>
              <a:t> meaning that it cannot be changed once created. We can access items using square brackets much like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.</a:t>
            </a:r>
            <a:endParaRPr/>
          </a:p>
        </p:txBody>
      </p:sp>
      <p:sp>
        <p:nvSpPr>
          <p:cNvPr id="63" name="Google Shape;63;g3baf4acbdf2_0_54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</a:t>
            </a:r>
            <a:r>
              <a:rPr lang="en" sz="1800">
                <a:solidFill>
                  <a:schemeClr val="dk1"/>
                </a:solidFill>
              </a:rPr>
              <a:t>have to use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tuples</a:t>
            </a:r>
            <a:r>
              <a:rPr lang="en" sz="1800">
                <a:solidFill>
                  <a:schemeClr val="dk1"/>
                </a:solidFill>
              </a:rPr>
              <a:t> as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800">
                <a:solidFill>
                  <a:schemeClr val="dk1"/>
                </a:solidFill>
              </a:rPr>
              <a:t> for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4" name="Google Shape;64;g3baf4acbdf2_0_54" title="Screenshot 2026-01-22 at 11.26.3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375" y="3760230"/>
            <a:ext cx="3853249" cy="20008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af4acbdf2_0_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Exams</a:t>
            </a:r>
            <a:endParaRPr/>
          </a:p>
        </p:txBody>
      </p:sp>
      <p:sp>
        <p:nvSpPr>
          <p:cNvPr id="70" name="Google Shape;70;g3baf4acbdf2_0_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65510"/>
                </a:solidFill>
              </a:rPr>
              <a:t>You will not have to hand-write code</a:t>
            </a:r>
            <a:r>
              <a:rPr lang="en"/>
              <a:t>, and any coding related questions will be more similar to our pre-lecture practices and </a:t>
            </a:r>
            <a:r>
              <a:rPr b="1" lang="en">
                <a:solidFill>
                  <a:srgbClr val="A31415"/>
                </a:solidFill>
              </a:rPr>
              <a:t>NOT our end-of-lecture monstrosities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will release many practice problems a week or two ahead, but </a:t>
            </a:r>
            <a:r>
              <a:rPr b="1" lang="en">
                <a:solidFill>
                  <a:srgbClr val="DCB439"/>
                </a:solidFill>
              </a:rPr>
              <a:t>the exams will look primarily like the homeworks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f4acbdf2_0_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Class</a:t>
            </a:r>
            <a:endParaRPr/>
          </a:p>
        </p:txBody>
      </p:sp>
      <p:sp>
        <p:nvSpPr>
          <p:cNvPr id="76" name="Google Shape;76;g3baf4acbdf2_0_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don’t want this class to be hard for you to </a:t>
            </a:r>
            <a:r>
              <a:rPr b="1" lang="en">
                <a:solidFill>
                  <a:srgbClr val="465510"/>
                </a:solidFill>
              </a:rPr>
              <a:t>get an A in if you study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</a:rPr>
              <a:t>I do want this class to be conceptually difficult during the lectures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AABBC"/>
                </a:solidFill>
              </a:rPr>
              <a:t>This stuff literally is the frontier</a:t>
            </a:r>
            <a:r>
              <a:rPr lang="en"/>
              <a:t>, try and keep that in mind. This is what 40 year olds with PhDs are making billions of dollars working on like for real, this is the frontier.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g3b938ea6dd9_0_26"/>
          <p:cNvCxnSpPr>
            <a:stCxn id="89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" name="Google Shape;91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2" name="Google Shape;92;g3b938ea6dd9_0_26"/>
          <p:cNvCxnSpPr>
            <a:stCxn id="91" idx="0"/>
            <a:endCxn id="89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94" name="Google Shape;94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g3b938ea6dd9_0_26"/>
          <p:cNvCxnSpPr>
            <a:stCxn id="94" idx="0"/>
            <a:endCxn id="91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" name="Google Shape;99;g3b938ea6dd9_0_26"/>
          <p:cNvCxnSpPr>
            <a:endCxn id="98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01</a:t>
            </a:r>
            <a:endParaRPr/>
          </a:p>
        </p:txBody>
      </p:sp>
      <p:pic>
        <p:nvPicPr>
          <p:cNvPr id="106" name="Google Shape;106;g3ba79990f52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6538"/>
            <a:ext cx="8839200" cy="346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12" name="Google Shape;112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af4acbdf2_0_9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</a:t>
            </a:r>
            <a:endParaRPr/>
          </a:p>
        </p:txBody>
      </p:sp>
      <p:sp>
        <p:nvSpPr>
          <p:cNvPr id="118" name="Google Shape;118;g3baf4acbdf2_0_97"/>
          <p:cNvSpPr txBox="1"/>
          <p:nvPr>
            <p:ph idx="1" type="body"/>
          </p:nvPr>
        </p:nvSpPr>
        <p:spPr>
          <a:xfrm>
            <a:off x="457200" y="4963900"/>
            <a:ext cx="8229600" cy="163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By </a:t>
            </a:r>
            <a:r>
              <a:rPr b="1" lang="en">
                <a:solidFill>
                  <a:srgbClr val="002B5B"/>
                </a:solidFill>
              </a:rPr>
              <a:t>tokenizing</a:t>
            </a:r>
            <a:r>
              <a:rPr lang="en"/>
              <a:t> at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en"/>
              <a:t> level we could theoretically process any kind of text that could be passed in as a prompt.</a:t>
            </a:r>
            <a:endParaRPr/>
          </a:p>
        </p:txBody>
      </p:sp>
      <p:sp>
        <p:nvSpPr>
          <p:cNvPr id="119" name="Google Shape;119;g3baf4acbdf2_0_97"/>
          <p:cNvSpPr txBox="1"/>
          <p:nvPr/>
        </p:nvSpPr>
        <p:spPr>
          <a:xfrm>
            <a:off x="601800" y="1858625"/>
            <a:ext cx="7940400" cy="26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500">
                <a:solidFill>
                  <a:srgbClr val="257693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5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'hello there 金'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lang="en" sz="15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 sz="15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[104, 101, 108, 108, 111, 32, 116, 104, 101, 114, 101, 32, 233, 135, 145]</a:t>
            </a:r>
            <a:endParaRPr sz="13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500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bin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(num) </a:t>
            </a:r>
            <a:r>
              <a:rPr lang="en" sz="1500">
                <a:solidFill>
                  <a:srgbClr val="9723B4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num </a:t>
            </a:r>
            <a:r>
              <a:rPr lang="en" sz="1500">
                <a:solidFill>
                  <a:srgbClr val="0000F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500">
                <a:solidFill>
                  <a:srgbClr val="257693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5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'hello there 金'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lang="en" sz="1500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lang="en" sz="1500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))])</a:t>
            </a:r>
            <a:endParaRPr sz="15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1F1F1F"/>
                </a:solidFill>
                <a:latin typeface="Consolas"/>
                <a:ea typeface="Consolas"/>
                <a:cs typeface="Consolas"/>
                <a:sym typeface="Consolas"/>
              </a:rPr>
              <a:t>&gt; ['0b1101000', '0b1100101', '0b1101100', '0b1101100', '0b1101111', '0b100000', '0b1110100', '0b1101000', '0b1100101', '0b1110010', '0b1100101', '0b100000', '0b11101001', '0b10000111', '0b10010001']</a:t>
            </a:r>
            <a:endParaRPr sz="1350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af4acbdf2_0_7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ASCII Values</a:t>
            </a:r>
            <a:endParaRPr/>
          </a:p>
        </p:txBody>
      </p:sp>
      <p:sp>
        <p:nvSpPr>
          <p:cNvPr id="125" name="Google Shape;125;g3baf4acbdf2_0_77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baf4acbdf2_0_77"/>
          <p:cNvPicPr preferRelativeResize="0"/>
          <p:nvPr/>
        </p:nvPicPr>
        <p:blipFill rotWithShape="1">
          <a:blip r:embed="rId3">
            <a:alphaModFix/>
          </a:blip>
          <a:srcRect b="13076" l="7554" r="10504" t="6401"/>
          <a:stretch/>
        </p:blipFill>
        <p:spPr>
          <a:xfrm>
            <a:off x="1572213" y="1636527"/>
            <a:ext cx="5999574" cy="414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Bytes</a:t>
            </a:r>
            <a:endParaRPr/>
          </a:p>
        </p:txBody>
      </p:sp>
      <p:sp>
        <p:nvSpPr>
          <p:cNvPr id="132" name="Google Shape;132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en"/>
              <a:t> is 8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bits</a:t>
            </a:r>
            <a:r>
              <a:rPr b="1" lang="en"/>
              <a:t>, </a:t>
            </a:r>
            <a:r>
              <a:rPr lang="en"/>
              <a:t>which are the 0s and 1s the computer actually “sees”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" name="Google Shape;133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800">
                <a:solidFill>
                  <a:schemeClr val="dk1"/>
                </a:solidFill>
              </a:rPr>
              <a:t>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in python (by default) is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g3b8409de4d6_0_103"/>
          <p:cNvPicPr preferRelativeResize="0"/>
          <p:nvPr/>
        </p:nvPicPr>
        <p:blipFill rotWithShape="1">
          <a:blip r:embed="rId3">
            <a:alphaModFix/>
          </a:blip>
          <a:srcRect b="16166" l="0" r="0" t="13266"/>
          <a:stretch/>
        </p:blipFill>
        <p:spPr>
          <a:xfrm>
            <a:off x="1077688" y="2891525"/>
            <a:ext cx="6988626" cy="2774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af4acbdf2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a BPE Tokenizer</a:t>
            </a:r>
            <a:endParaRPr/>
          </a:p>
        </p:txBody>
      </p:sp>
      <p:sp>
        <p:nvSpPr>
          <p:cNvPr id="140" name="Google Shape;140;g3baf4acbdf2_0_1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Broadly speaking, we can train our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by </a:t>
            </a:r>
            <a:r>
              <a:rPr b="1" lang="en">
                <a:solidFill>
                  <a:srgbClr val="DCB439"/>
                </a:solidFill>
              </a:rPr>
              <a:t>repeatedly looking for common pairings of tokens</a:t>
            </a:r>
            <a:r>
              <a:rPr lang="en"/>
              <a:t> and </a:t>
            </a:r>
            <a:r>
              <a:rPr b="1" lang="en">
                <a:solidFill>
                  <a:srgbClr val="465510"/>
                </a:solidFill>
              </a:rPr>
              <a:t>merging them to create a new token</a:t>
            </a:r>
            <a:endParaRPr b="1">
              <a:solidFill>
                <a:srgbClr val="46551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46551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46551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46551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46551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untrained tokenizer is effectively just our character-level model.</a:t>
            </a:r>
            <a:endParaRPr/>
          </a:p>
        </p:txBody>
      </p:sp>
      <p:pic>
        <p:nvPicPr>
          <p:cNvPr id="141" name="Google Shape;141;g3baf4acbdf2_0_118"/>
          <p:cNvPicPr preferRelativeResize="0"/>
          <p:nvPr/>
        </p:nvPicPr>
        <p:blipFill rotWithShape="1">
          <a:blip r:embed="rId3">
            <a:alphaModFix/>
          </a:blip>
          <a:srcRect b="3967" l="0" r="0" t="24027"/>
          <a:stretch/>
        </p:blipFill>
        <p:spPr>
          <a:xfrm>
            <a:off x="2239777" y="3368350"/>
            <a:ext cx="4664451" cy="211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" name="Google Shape;147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148" name="Google Shape;148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" name="Google Shape;154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Today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  <p:pic>
        <p:nvPicPr>
          <p:cNvPr id="155" name="Google Shape;155;g3baf4acbdf2_0_90" title="Screenshot 2026-01-21 at 9.48.0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938" y="3211350"/>
            <a:ext cx="5718126" cy="33565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af4acbdf2_0_10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</a:t>
            </a:r>
            <a:endParaRPr sz="1800"/>
          </a:p>
        </p:txBody>
      </p:sp>
      <p:sp>
        <p:nvSpPr>
          <p:cNvPr id="161" name="Google Shape;161;g3baf4acbdf2_0_107"/>
          <p:cNvSpPr txBox="1"/>
          <p:nvPr/>
        </p:nvSpPr>
        <p:spPr>
          <a:xfrm>
            <a:off x="457200" y="1417650"/>
            <a:ext cx="8229600" cy="49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highlight>
                  <a:srgbClr val="FFFFFF"/>
                </a:highlight>
              </a:rPr>
              <a:t>1.) Convert input to bytes</a:t>
            </a:r>
            <a:endParaRPr b="1"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lang="en">
                <a:solidFill>
                  <a:srgbClr val="6A522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lang="en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</a:t>
            </a:r>
            <a:r>
              <a:rPr b="1" lang="en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rug pug hug pun bun hugs run gun</a:t>
            </a:r>
            <a:r>
              <a:rPr b="1" lang="en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</a:t>
            </a:r>
            <a:r>
              <a:rPr lang="en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.encode(</a:t>
            </a:r>
            <a:r>
              <a:rPr b="1" lang="en">
                <a:solidFill>
                  <a:srgbClr val="A31515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'utf-8'</a:t>
            </a:r>
            <a:r>
              <a:rPr lang="en">
                <a:solidFill>
                  <a:schemeClr val="dk1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)))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117, 103, 32, 112, 117, 103, 32, 104, 117, 103, 32, 112, 117, 110, 32, 98, 117, 110, 32, 104, 117, 103, 115, 32, 114, 117, 110, 32, 103, 117, 110]</a:t>
            </a:r>
            <a:endParaRPr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  <a:highlight>
                  <a:schemeClr val="lt1"/>
                </a:highlight>
              </a:rPr>
              <a:t>2</a:t>
            </a:r>
            <a:r>
              <a:rPr b="1" lang="en" sz="2400">
                <a:solidFill>
                  <a:schemeClr val="dk1"/>
                </a:solidFill>
                <a:highlight>
                  <a:schemeClr val="lt1"/>
                </a:highlight>
              </a:rPr>
              <a:t>.) Find and count pairs</a:t>
            </a:r>
            <a:endParaRPr b="1" sz="2400">
              <a:solidFill>
                <a:srgbClr val="1F1F1F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</a:t>
            </a:r>
            <a:r>
              <a:rPr b="1" lang="en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ounts</a:t>
            </a:r>
            <a:r>
              <a:rPr lang="en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lang="en">
                <a:solidFill>
                  <a:srgbClr val="5AABBC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count_pairs</a:t>
            </a:r>
            <a:r>
              <a:rPr lang="en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DCB439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lang="en">
                <a:solidFill>
                  <a:srgbClr val="1F1F1F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&gt; {(114, 117): 2, (117, 103): 4, (103, 32): 3, (32, 112): 2, (112, 117): 2, (32, 104): 2, (104, 117): 2, (117, 110): 4, (110, 32): 3, (32, 98): 1, (98, 117): 1, (103, 115): 1, (115, 32): 1, (32, 114): 1, (32, 103): 1, (103, 117): 1}</a:t>
            </a:r>
            <a:endParaRPr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  <a:highlight>
                  <a:schemeClr val="lt1"/>
                </a:highlight>
              </a:rPr>
              <a:t>3</a:t>
            </a:r>
            <a:r>
              <a:rPr b="1" lang="en" sz="2400">
                <a:solidFill>
                  <a:schemeClr val="dk1"/>
                </a:solidFill>
                <a:highlight>
                  <a:schemeClr val="lt1"/>
                </a:highlight>
              </a:rPr>
              <a:t>.) Replace the most common pair with a new token</a:t>
            </a:r>
            <a:endParaRPr sz="1450"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merged_string</a:t>
            </a:r>
            <a:r>
              <a:rPr lang="en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1" lang="en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replace_pairs</a:t>
            </a:r>
            <a:r>
              <a:rPr lang="en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string_bytes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>
                <a:solidFill>
                  <a:srgbClr val="DCB439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counts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lang="en">
                <a:solidFill>
                  <a:srgbClr val="5AABBC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most_common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()[0][0], </a:t>
            </a:r>
            <a:r>
              <a:rPr b="1" lang="en">
                <a:solidFill>
                  <a:srgbClr val="46551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257</a:t>
            </a:r>
            <a:r>
              <a:rPr lang="en">
                <a:solidFill>
                  <a:srgbClr val="1F1F1F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>
              <a:solidFill>
                <a:srgbClr val="1F1F1F"/>
              </a:solidFill>
              <a:highlight>
                <a:schemeClr val="lt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>
                <a:solidFill>
                  <a:schemeClr val="lt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[114, 257, 32, 112, 257, 32, 104, 257, 32, 112, 117, 110, 32, 98, 117, 110, 32, 104, 257, 115, 32, 114, 117, 110, 32, 103, 117, 110]</a:t>
            </a:r>
            <a:endParaRPr>
              <a:solidFill>
                <a:schemeClr val="lt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1F1F1F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1F1F1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50800" marR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167" name="Google Shape;167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68" name="Google Shape;168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9" name="Google Shape;169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0" name="Google Shape;170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6" name="Google Shape;176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  <p:pic>
        <p:nvPicPr>
          <p:cNvPr id="177" name="Google Shape;177;g3baf4acbdf2_0_49" title="Screenshot 2026-01-22 at 11.30.09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50" y="3510199"/>
            <a:ext cx="7595100" cy="7454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" name="Google Shape;183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89" name="Google Shape;189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>
                <a:solidFill>
                  <a:schemeClr val="dk1"/>
                </a:solidFill>
              </a:rPr>
              <a:t>What we can do is pre-split our text based on linguistic “landmarks” like whitespace and punctuation using </a:t>
            </a: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sz="3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3b938ea6dd9_0_93"/>
          <p:cNvSpPr txBox="1"/>
          <p:nvPr/>
        </p:nvSpPr>
        <p:spPr>
          <a:xfrm>
            <a:off x="331200" y="3200400"/>
            <a:ext cx="8481600" cy="15675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(r_t.chunk(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"No cap are u rolling the party tonight?"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'(?i:[sdmt]|ll|ve|re)|[^\r\n\p{L}\p{N}]?+\p{L}+|\p{N}{1,3}| ?[^\s\p{L}\p{N}]++[\r\n]*|\s*[\r\n]|\s+(?!\S)|\s+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'No'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cap'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are'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u'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rolling'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the'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party'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 tonight'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15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'?'</a:t>
            </a: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96" name="Google Shape;196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lang="en" sz="1800">
                <a:solidFill>
                  <a:schemeClr val="dk1"/>
                </a:solidFill>
              </a:rPr>
              <a:t>is short for </a:t>
            </a:r>
            <a:r>
              <a:rPr b="1" lang="en" sz="1800">
                <a:solidFill>
                  <a:srgbClr val="002B5B"/>
                </a:solidFill>
              </a:rPr>
              <a:t>“regular expression”</a:t>
            </a:r>
            <a:r>
              <a:rPr lang="en" sz="1800">
                <a:solidFill>
                  <a:schemeClr val="dk1"/>
                </a:solidFill>
              </a:rPr>
              <a:t> (or “rational expression”) and I actually met one of the creators while interviewing at Princeton!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205" name="Google Shape;205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</a:t>
            </a:r>
            <a:r>
              <a:rPr b="1" lang="en" u="sng">
                <a:solidFill>
                  <a:srgbClr val="DCB439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206" name="Google Shape;206;g3b8409de4d6_0_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g3b8409de4d6_0_108" title="IMG_0529.jpeg"/>
          <p:cNvPicPr preferRelativeResize="0"/>
          <p:nvPr/>
        </p:nvPicPr>
        <p:blipFill rotWithShape="1">
          <a:blip r:embed="rId7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