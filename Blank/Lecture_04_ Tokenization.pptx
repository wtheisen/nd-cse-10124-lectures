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hojkRUEqH9SBc+jp2jVsSfkpgq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g3b8409de4d6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" name="Google Shape;32;g3b8409de4d6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b8409de4d6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" name="Google Shape;38;g3b8409de4d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b8409de4d6_0_6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" name="Google Shape;46;g3b8409de4d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b8409de4d6_0_7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" name="Google Shape;56;g3b8409de4d6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b8409de4d6_0_84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g3b8409de4d6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b938ea6dd9_0_5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g3b938ea6dd9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b938ea6dd9_0_60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" name="Google Shape;79;g3b938ea6dd9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b938ea6dd9_0_2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b938ea6dd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ba79990f52_0_5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g3ba79990f52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b938ea6dd9_0_16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" name="Google Shape;117;g3b938ea6dd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b938ea6dd9_0_6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g3b938ea6dd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409de4d6_0_10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b8409de4d6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409de4d6_0_11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g3b8409de4d6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938ea6dd9_0_93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g3b938ea6dd9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409de4d6_0_108:notes"/>
          <p:cNvSpPr/>
          <p:nvPr>
            <p:ph idx="2" type="sldImg"/>
          </p:nvPr>
        </p:nvSpPr>
        <p:spPr>
          <a:xfrm>
            <a:off x="1143309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3b8409de4d6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12" name="Google Shape;12;p20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9"/>
          <p:cNvSpPr txBox="1"/>
          <p:nvPr>
            <p:ph type="ctrTitle"/>
          </p:nvPr>
        </p:nvSpPr>
        <p:spPr>
          <a:xfrm>
            <a:off x="685800" y="2111123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19"/>
          <p:cNvSpPr txBox="1"/>
          <p:nvPr>
            <p:ph idx="1" type="subTitle"/>
          </p:nvPr>
        </p:nvSpPr>
        <p:spPr>
          <a:xfrm>
            <a:off x="685800" y="3786738"/>
            <a:ext cx="7772400" cy="10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CB439"/>
              </a:buClr>
              <a:buSzPts val="3000"/>
              <a:buNone/>
              <a:defRPr b="1">
                <a:solidFill>
                  <a:srgbClr val="DCB439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None/>
              <a:defRPr sz="30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19" name="Google Shape;19;p23"/>
          <p:cNvSpPr txBox="1"/>
          <p:nvPr>
            <p:ph idx="1" type="body"/>
          </p:nvPr>
        </p:nvSpPr>
        <p:spPr>
          <a:xfrm>
            <a:off x="457200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E9E"/>
              </a:buClr>
              <a:buSzPts val="1800"/>
              <a:buChar char="■"/>
              <a:defRPr>
                <a:solidFill>
                  <a:srgbClr val="9E9E9E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1709"/>
              </a:buClr>
              <a:buSzPts val="1800"/>
              <a:buChar char="●"/>
              <a:defRPr>
                <a:solidFill>
                  <a:srgbClr val="5F1709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65510"/>
              </a:buClr>
              <a:buSzPts val="1800"/>
              <a:buChar char="○"/>
              <a:defRPr>
                <a:solidFill>
                  <a:srgbClr val="465510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ABBC"/>
              </a:buClr>
              <a:buSzPts val="1800"/>
              <a:buChar char="■"/>
              <a:defRPr>
                <a:solidFill>
                  <a:srgbClr val="5AABBC"/>
                </a:solidFill>
              </a:defRPr>
            </a:lvl9pPr>
          </a:lstStyle>
          <a:p/>
        </p:txBody>
      </p:sp>
      <p:sp>
        <p:nvSpPr>
          <p:cNvPr id="20" name="Google Shape;20;p23"/>
          <p:cNvSpPr txBox="1"/>
          <p:nvPr>
            <p:ph idx="2" type="body"/>
          </p:nvPr>
        </p:nvSpPr>
        <p:spPr>
          <a:xfrm>
            <a:off x="4692274" y="1600200"/>
            <a:ext cx="39945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Char char="●"/>
              <a:defRPr/>
            </a:lvl1pPr>
            <a:lvl2pPr indent="-3810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/>
            </a:lvl3pPr>
            <a:lvl4pPr indent="-3429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21" name="Google Shape;21;p23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4" name="Google Shape;24;p24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/>
          <p:nvPr>
            <p:ph idx="1" type="body"/>
          </p:nvPr>
        </p:nvSpPr>
        <p:spPr>
          <a:xfrm>
            <a:off x="457200" y="5875079"/>
            <a:ext cx="82296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None/>
              <a:defRPr sz="1800"/>
            </a:lvl1pPr>
          </a:lstStyle>
          <a:p/>
        </p:txBody>
      </p:sp>
      <p:sp>
        <p:nvSpPr>
          <p:cNvPr id="27" name="Google Shape;27;p25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6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B5B"/>
              </a:buClr>
              <a:buSzPts val="3600"/>
              <a:buFont typeface="Arial"/>
              <a:buNone/>
              <a:defRPr b="1" i="0" sz="36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b="1" i="0" sz="3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419100" lvl="0" marL="45720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Char char="●"/>
              <a:defRPr b="0" i="0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○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■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○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■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8556791" y="6333134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hyperlink" Target="https://docs.python.org/3/library/stdtypes.html#typesseq-rang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github.com/karpathy/nanochat/blob/master/nanochat/tokenizer.py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3b8409de4d6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01</a:t>
            </a:r>
            <a:endParaRPr/>
          </a:p>
        </p:txBody>
      </p:sp>
      <p:sp>
        <p:nvSpPr>
          <p:cNvPr id="35" name="Google Shape;35;g3b8409de4d6_0_50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In a Colab Cell, write code to do the following: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	for</a:t>
            </a:r>
            <a:r>
              <a:rPr lang="en"/>
              <a:t> each of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egers 0-9,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lang="en"/>
              <a:t> out the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/>
              <a:t> 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plus 5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DCB439"/>
                </a:solidFill>
              </a:rPr>
              <a:t>Challenge:</a:t>
            </a:r>
            <a:endParaRPr b="1">
              <a:solidFill>
                <a:srgbClr val="DCB439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would accept any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lang="en"/>
              <a:t>highest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eger, instead of only going to 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3b8409de4d6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01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41" name="Google Shape;41;g3b8409de4d6_0_60" title="Screenshot 2026-01-20 at 10.37.4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71600" y="1417638"/>
            <a:ext cx="6400800" cy="17716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2" name="Google Shape;42;g3b8409de4d6_0_60" title="Screenshot 2026-01-20 at 10.38.27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05075" y="3649175"/>
            <a:ext cx="4133850" cy="20764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43" name="Google Shape;43;g3b8409de4d6_0_60"/>
          <p:cNvSpPr txBox="1"/>
          <p:nvPr/>
        </p:nvSpPr>
        <p:spPr>
          <a:xfrm>
            <a:off x="1218150" y="5894150"/>
            <a:ext cx="6707700" cy="7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read about built-in features like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range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using the </a:t>
            </a:r>
            <a:r>
              <a:rPr b="1" i="0" lang="en" sz="1800" u="sng" cap="none" strike="noStrike">
                <a:solidFill>
                  <a:srgbClr val="5AABBC"/>
                </a:solidFill>
                <a:latin typeface="Arial"/>
                <a:ea typeface="Arial"/>
                <a:cs typeface="Arial"/>
                <a:sym typeface="Arial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python documentation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b8409de4d6_0_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Type Errors</a:t>
            </a:r>
            <a:endParaRPr/>
          </a:p>
        </p:txBody>
      </p:sp>
      <p:sp>
        <p:nvSpPr>
          <p:cNvPr id="49" name="Google Shape;49;g3b8409de4d6_0_65"/>
          <p:cNvSpPr txBox="1"/>
          <p:nvPr>
            <p:ph idx="1" type="body"/>
          </p:nvPr>
        </p:nvSpPr>
        <p:spPr>
          <a:xfrm>
            <a:off x="457200" y="141765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Last class we saw an error when we tried to add an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/>
              <a:t> and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lang="en"/>
              <a:t> together.</a:t>
            </a:r>
            <a:endParaRPr/>
          </a:p>
        </p:txBody>
      </p:sp>
      <p:pic>
        <p:nvPicPr>
          <p:cNvPr id="50" name="Google Shape;50;g3b8409de4d6_0_65" title="Screenshot 2026-01-16 at 8.22.4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777400"/>
            <a:ext cx="8229599" cy="19296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g3b8409de4d6_0_65"/>
          <p:cNvSpPr/>
          <p:nvPr/>
        </p:nvSpPr>
        <p:spPr>
          <a:xfrm>
            <a:off x="5097875" y="4372875"/>
            <a:ext cx="2952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g3b8409de4d6_0_65"/>
          <p:cNvSpPr/>
          <p:nvPr/>
        </p:nvSpPr>
        <p:spPr>
          <a:xfrm>
            <a:off x="546127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g3b8409de4d6_0_65"/>
          <p:cNvSpPr/>
          <p:nvPr/>
        </p:nvSpPr>
        <p:spPr>
          <a:xfrm>
            <a:off x="6536025" y="4372875"/>
            <a:ext cx="555300" cy="334200"/>
          </a:xfrm>
          <a:prstGeom prst="rect">
            <a:avLst/>
          </a:prstGeom>
          <a:noFill/>
          <a:ln cap="flat" cmpd="sng" w="38100">
            <a:solidFill>
              <a:srgbClr val="A3141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b8409de4d6_0_7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Typecasting</a:t>
            </a:r>
            <a:endParaRPr/>
          </a:p>
        </p:txBody>
      </p:sp>
      <p:sp>
        <p:nvSpPr>
          <p:cNvPr id="59" name="Google Shape;59;g3b8409de4d6_0_74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Typecasting</a:t>
            </a:r>
            <a:r>
              <a:rPr lang="en"/>
              <a:t> allows us to </a:t>
            </a:r>
            <a:r>
              <a:rPr b="1" lang="en">
                <a:solidFill>
                  <a:srgbClr val="465510"/>
                </a:solidFill>
              </a:rPr>
              <a:t>change a variable or value to a different </a:t>
            </a:r>
            <a:r>
              <a:rPr b="1" lang="en" sz="1400">
                <a:solidFill>
                  <a:srgbClr val="465510"/>
                </a:solidFill>
              </a:rPr>
              <a:t>(supported)</a:t>
            </a:r>
            <a:r>
              <a:rPr b="1" lang="en">
                <a:solidFill>
                  <a:srgbClr val="465510"/>
                </a:solidFill>
              </a:rPr>
              <a:t> type!</a:t>
            </a:r>
            <a:endParaRPr b="1">
              <a:solidFill>
                <a:srgbClr val="465510"/>
              </a:solidFill>
            </a:endParaRPr>
          </a:p>
        </p:txBody>
      </p:sp>
      <p:pic>
        <p:nvPicPr>
          <p:cNvPr id="60" name="Google Shape;60;g3b8409de4d6_0_74" title="Screenshot 2026-01-16 at 8.26.27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2175" y="2822813"/>
            <a:ext cx="3678575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1" name="Google Shape;61;g3b8409de4d6_0_74" title="Screenshot 2026-01-16 at 8.27.07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44225" y="2822825"/>
            <a:ext cx="3377609" cy="1906175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2" name="Google Shape;62;g3b8409de4d6_0_74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It is especially useful to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typecast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into an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because usually when we read in data from a file, it all comes in as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b8409de4d6_0_84"/>
          <p:cNvSpPr txBox="1"/>
          <p:nvPr>
            <p:ph idx="1" type="body"/>
          </p:nvPr>
        </p:nvSpPr>
        <p:spPr>
          <a:xfrm>
            <a:off x="457200" y="1600200"/>
            <a:ext cx="8229600" cy="477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def</a:t>
            </a:r>
            <a:r>
              <a:rPr lang="en"/>
              <a:t>ine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</a:t>
            </a:r>
            <a:r>
              <a:rPr lang="en"/>
              <a:t> that can, given a list of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ints</a:t>
            </a:r>
            <a:r>
              <a:rPr lang="en"/>
              <a:t>,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/>
              <a:t>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dictionary</a:t>
            </a:r>
            <a:r>
              <a:rPr lang="en"/>
              <a:t> of counts of consecutive pairs.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For example: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pairs = count_consecutive_pairs([1, 2, 3, 1, 2])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print(pairs)</a:t>
            </a:r>
            <a:endParaRPr b="1" sz="24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24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&gt; </a:t>
            </a:r>
            <a:r>
              <a:rPr b="1" lang="en" sz="2400">
                <a:latin typeface="Consolas"/>
                <a:ea typeface="Consolas"/>
                <a:cs typeface="Consolas"/>
                <a:sym typeface="Consolas"/>
              </a:rPr>
              <a:t>{(1, 2): 2, (2, 3): 1, (3, 1): 1}</a:t>
            </a:r>
            <a:endParaRPr b="1" sz="240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g3b8409de4d6_0_8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Programming Practice 02</a:t>
            </a:r>
            <a:endParaRPr/>
          </a:p>
        </p:txBody>
      </p:sp>
      <p:sp>
        <p:nvSpPr>
          <p:cNvPr id="69" name="Google Shape;69;g3b8409de4d6_0_84"/>
          <p:cNvSpPr/>
          <p:nvPr/>
        </p:nvSpPr>
        <p:spPr>
          <a:xfrm>
            <a:off x="420225" y="4720475"/>
            <a:ext cx="8266500" cy="14847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938ea6dd9_0_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465510"/>
                </a:solidFill>
              </a:rPr>
              <a:t>Programming Practice Solution 02</a:t>
            </a:r>
            <a:endParaRPr>
              <a:solidFill>
                <a:srgbClr val="465510"/>
              </a:solidFill>
            </a:endParaRPr>
          </a:p>
        </p:txBody>
      </p:sp>
      <p:pic>
        <p:nvPicPr>
          <p:cNvPr id="75" name="Google Shape;75;g3b938ea6dd9_0_50" title="Screenshot 2026-01-20 at 10.46.28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8975" y="1989300"/>
            <a:ext cx="7086051" cy="23882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6" name="Google Shape;76;g3b938ea6dd9_0_50"/>
          <p:cNvSpPr txBox="1"/>
          <p:nvPr/>
        </p:nvSpPr>
        <p:spPr>
          <a:xfrm>
            <a:off x="1218150" y="4949150"/>
            <a:ext cx="67077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.get(key, default)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allows us to specify a backup value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if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key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doesn’t already exist in the dictionary</a:t>
            </a:r>
            <a:endParaRPr b="1" i="0" sz="1800" u="none" cap="none" strike="noStrike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b938ea6dd9_0_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List Slices</a:t>
            </a:r>
            <a:endParaRPr/>
          </a:p>
        </p:txBody>
      </p:sp>
      <p:sp>
        <p:nvSpPr>
          <p:cNvPr id="82" name="Google Shape;82;g3b938ea6dd9_0_60"/>
          <p:cNvSpPr txBox="1"/>
          <p:nvPr>
            <p:ph idx="1" type="body"/>
          </p:nvPr>
        </p:nvSpPr>
        <p:spPr>
          <a:xfrm>
            <a:off x="457200" y="16002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List slices allow us to access regions of the list instead of just individual values.</a:t>
            </a:r>
            <a:endParaRPr/>
          </a:p>
        </p:txBody>
      </p:sp>
      <p:sp>
        <p:nvSpPr>
          <p:cNvPr id="83" name="Google Shape;83;g3b938ea6dd9_0_60"/>
          <p:cNvSpPr txBox="1"/>
          <p:nvPr/>
        </p:nvSpPr>
        <p:spPr>
          <a:xfrm>
            <a:off x="1068450" y="6181800"/>
            <a:ext cx="70071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In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list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slice, the first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index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inclusive, the second isn’t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g3b938ea6dd9_0_60" title="Screenshot 2026-01-20 at 10.53.11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28963" y="2895600"/>
            <a:ext cx="7286085" cy="31338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>
            <p:ph type="ctrTitle"/>
          </p:nvPr>
        </p:nvSpPr>
        <p:spPr>
          <a:xfrm>
            <a:off x="685800" y="2655750"/>
            <a:ext cx="7772400" cy="15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>
                <a:solidFill>
                  <a:srgbClr val="002B5B"/>
                </a:solidFill>
              </a:rPr>
              <a:t>CSE </a:t>
            </a:r>
            <a:r>
              <a:rPr lang="en"/>
              <a:t>1</a:t>
            </a:r>
            <a:r>
              <a:rPr lang="en">
                <a:solidFill>
                  <a:srgbClr val="002B5B"/>
                </a:solidFill>
              </a:rPr>
              <a:t>0124</a:t>
            </a:r>
            <a:br>
              <a:rPr lang="en">
                <a:solidFill>
                  <a:srgbClr val="002B5B"/>
                </a:solidFill>
              </a:rPr>
            </a:br>
            <a:r>
              <a:rPr lang="en">
                <a:solidFill>
                  <a:srgbClr val="DCB439"/>
                </a:solidFill>
              </a:rPr>
              <a:t>Tokenization 02</a:t>
            </a:r>
            <a:endParaRPr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g3b938ea6dd9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4325" y="207088"/>
            <a:ext cx="6767796" cy="5135563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g3b938ea6dd9_0_26"/>
          <p:cNvSpPr/>
          <p:nvPr/>
        </p:nvSpPr>
        <p:spPr>
          <a:xfrm>
            <a:off x="447725" y="4650825"/>
            <a:ext cx="2602200" cy="1620300"/>
          </a:xfrm>
          <a:prstGeom prst="roundRect">
            <a:avLst>
              <a:gd fmla="val 16667" name="adj"/>
            </a:avLst>
          </a:prstGeom>
          <a:solidFill>
            <a:srgbClr val="CFE2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b938ea6dd9_0_26"/>
          <p:cNvSpPr/>
          <p:nvPr/>
        </p:nvSpPr>
        <p:spPr>
          <a:xfrm>
            <a:off x="1524125" y="4462125"/>
            <a:ext cx="449400" cy="188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g3b938ea6dd9_0_26"/>
          <p:cNvSpPr/>
          <p:nvPr/>
        </p:nvSpPr>
        <p:spPr>
          <a:xfrm>
            <a:off x="1255775" y="4769588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Embeddings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8" name="Google Shape;98;g3b938ea6dd9_0_26"/>
          <p:cNvCxnSpPr>
            <a:stCxn id="97" idx="0"/>
          </p:cNvCxnSpPr>
          <p:nvPr/>
        </p:nvCxnSpPr>
        <p:spPr>
          <a:xfrm flipH="1" rot="10800000">
            <a:off x="1750025" y="4259588"/>
            <a:ext cx="2700" cy="5100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" name="Google Shape;99;g3b938ea6dd9_0_26"/>
          <p:cNvSpPr/>
          <p:nvPr/>
        </p:nvSpPr>
        <p:spPr>
          <a:xfrm>
            <a:off x="1255775" y="5268200"/>
            <a:ext cx="988500" cy="305400"/>
          </a:xfrm>
          <a:prstGeom prst="roundRect">
            <a:avLst>
              <a:gd fmla="val 16667" name="adj"/>
            </a:avLst>
          </a:prstGeom>
          <a:solidFill>
            <a:srgbClr val="FFF9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Tokenizer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0" name="Google Shape;100;g3b938ea6dd9_0_26"/>
          <p:cNvCxnSpPr>
            <a:stCxn id="99" idx="0"/>
            <a:endCxn id="97" idx="2"/>
          </p:cNvCxnSpPr>
          <p:nvPr/>
        </p:nvCxnSpPr>
        <p:spPr>
          <a:xfrm rot="10800000">
            <a:off x="1750025" y="5075000"/>
            <a:ext cx="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1" name="Google Shape;101;g3b938ea6dd9_0_26"/>
          <p:cNvSpPr txBox="1"/>
          <p:nvPr>
            <p:ph type="title"/>
          </p:nvPr>
        </p:nvSpPr>
        <p:spPr>
          <a:xfrm>
            <a:off x="4048400" y="5766800"/>
            <a:ext cx="4578300" cy="808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sz="4800"/>
              <a:t>Where are we?</a:t>
            </a:r>
            <a:endParaRPr sz="4800"/>
          </a:p>
        </p:txBody>
      </p:sp>
      <p:sp>
        <p:nvSpPr>
          <p:cNvPr id="102" name="Google Shape;102;g3b938ea6dd9_0_26"/>
          <p:cNvSpPr/>
          <p:nvPr/>
        </p:nvSpPr>
        <p:spPr>
          <a:xfrm>
            <a:off x="559425" y="5766800"/>
            <a:ext cx="2379000" cy="305400"/>
          </a:xfrm>
          <a:prstGeom prst="roundRect">
            <a:avLst>
              <a:gd fmla="val 16667" name="adj"/>
            </a:avLst>
          </a:prstGeom>
          <a:solidFill>
            <a:srgbClr val="95DCFF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“Please help me with my homework!!”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" name="Google Shape;103;g3b938ea6dd9_0_26"/>
          <p:cNvCxnSpPr>
            <a:stCxn id="102" idx="0"/>
            <a:endCxn id="99" idx="2"/>
          </p:cNvCxnSpPr>
          <p:nvPr/>
        </p:nvCxnSpPr>
        <p:spPr>
          <a:xfrm flipH="1" rot="10800000">
            <a:off x="1748925" y="5573600"/>
            <a:ext cx="1200" cy="1932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" name="Google Shape;104;g3b938ea6dd9_0_26"/>
          <p:cNvSpPr/>
          <p:nvPr/>
        </p:nvSpPr>
        <p:spPr>
          <a:xfrm>
            <a:off x="1475375" y="1022900"/>
            <a:ext cx="546900" cy="3492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g3b938ea6dd9_0_26"/>
          <p:cNvSpPr/>
          <p:nvPr/>
        </p:nvSpPr>
        <p:spPr>
          <a:xfrm>
            <a:off x="202775" y="207100"/>
            <a:ext cx="3092100" cy="9345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t/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b938ea6dd9_0_26"/>
          <p:cNvSpPr/>
          <p:nvPr/>
        </p:nvSpPr>
        <p:spPr>
          <a:xfrm>
            <a:off x="447725" y="361750"/>
            <a:ext cx="2602200" cy="625200"/>
          </a:xfrm>
          <a:prstGeom prst="roundRect">
            <a:avLst>
              <a:gd fmla="val 16667" name="adj"/>
            </a:avLst>
          </a:prstGeom>
          <a:solidFill>
            <a:srgbClr val="ABFF95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" sz="1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Response: “Certainly, as a large language model I’d be happy to help you cheat on your homework assignment”</a:t>
            </a:r>
            <a:endParaRPr b="0" i="0" sz="1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7" name="Google Shape;107;g3b938ea6dd9_0_26"/>
          <p:cNvCxnSpPr>
            <a:endCxn id="106" idx="2"/>
          </p:cNvCxnSpPr>
          <p:nvPr/>
        </p:nvCxnSpPr>
        <p:spPr>
          <a:xfrm rot="10800000">
            <a:off x="1748825" y="986950"/>
            <a:ext cx="4800" cy="451500"/>
          </a:xfrm>
          <a:prstGeom prst="straightConnector1">
            <a:avLst/>
          </a:prstGeom>
          <a:noFill/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g3b938ea6dd9_0_26"/>
          <p:cNvSpPr/>
          <p:nvPr/>
        </p:nvSpPr>
        <p:spPr>
          <a:xfrm>
            <a:off x="279925" y="5169150"/>
            <a:ext cx="2911200" cy="1231800"/>
          </a:xfrm>
          <a:prstGeom prst="rect">
            <a:avLst/>
          </a:prstGeom>
          <a:noFill/>
          <a:ln cap="flat" cmpd="sng" w="381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ba79990f52_0_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Last Class - Tokenization 01</a:t>
            </a:r>
            <a:endParaRPr/>
          </a:p>
        </p:txBody>
      </p:sp>
      <p:pic>
        <p:nvPicPr>
          <p:cNvPr id="114" name="Google Shape;114;g3ba79990f52_0_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696538"/>
            <a:ext cx="8839200" cy="3464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b938ea6dd9_0_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Why do we Tokenize?</a:t>
            </a:r>
            <a:endParaRPr/>
          </a:p>
        </p:txBody>
      </p:sp>
      <p:sp>
        <p:nvSpPr>
          <p:cNvPr id="120" name="Google Shape;120;g3b938ea6dd9_0_16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68300" lvl="0" marL="45720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Machine Readability:</a:t>
            </a:r>
            <a:r>
              <a:rPr lang="en" sz="2200"/>
              <a:t> Models work with numbers, not letters; </a:t>
            </a:r>
            <a:r>
              <a:rPr b="1" lang="en" sz="2200">
                <a:solidFill>
                  <a:srgbClr val="DCB439"/>
                </a:solidFill>
              </a:rPr>
              <a:t>tokens become numerical IDs</a:t>
            </a:r>
            <a:r>
              <a:rPr lang="en" sz="2200"/>
              <a:t> for the model to understand relationships and context.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Efficiency &amp; Scalability:</a:t>
            </a:r>
            <a:r>
              <a:rPr lang="en" sz="2200"/>
              <a:t> Breaking text into subwords (like "help" + "ful") </a:t>
            </a:r>
            <a:r>
              <a:rPr b="1" lang="en" sz="2200">
                <a:solidFill>
                  <a:srgbClr val="DCB439"/>
                </a:solidFill>
              </a:rPr>
              <a:t>reduces the vocabulary size</a:t>
            </a:r>
            <a:r>
              <a:rPr lang="en" sz="2200"/>
              <a:t>, meaning fewer unique items to learn, </a:t>
            </a:r>
            <a:r>
              <a:rPr b="1" lang="en" sz="2200">
                <a:solidFill>
                  <a:srgbClr val="465510"/>
                </a:solidFill>
              </a:rPr>
              <a:t>making models smaller and faster</a:t>
            </a:r>
            <a:r>
              <a:rPr lang="en" sz="2200"/>
              <a:t> than word-based methods.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Handling Novelty:</a:t>
            </a:r>
            <a:r>
              <a:rPr lang="en" sz="2200"/>
              <a:t> Subword tokenization (like BPE) helps models understand new or misspelled words by </a:t>
            </a:r>
            <a:r>
              <a:rPr b="1" lang="en" sz="2200">
                <a:solidFill>
                  <a:srgbClr val="DCB439"/>
                </a:solidFill>
              </a:rPr>
              <a:t>breaking them into known parts, improving robustness</a:t>
            </a:r>
            <a:r>
              <a:rPr lang="en" sz="2200"/>
              <a:t>.</a:t>
            </a:r>
            <a:endParaRPr sz="2200"/>
          </a:p>
          <a:p>
            <a:pPr indent="-3683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SzPts val="2200"/>
              <a:buChar char="●"/>
            </a:pPr>
            <a:r>
              <a:rPr b="1" lang="en" sz="2200">
                <a:solidFill>
                  <a:srgbClr val="002B5B"/>
                </a:solidFill>
              </a:rPr>
              <a:t>Contextual Understanding:</a:t>
            </a:r>
            <a:r>
              <a:rPr lang="en" sz="2200"/>
              <a:t> It provides granular units (tokens) for the model </a:t>
            </a:r>
            <a:r>
              <a:rPr b="1" lang="en" sz="2200">
                <a:solidFill>
                  <a:srgbClr val="DCB439"/>
                </a:solidFill>
              </a:rPr>
              <a:t>to predict the next element in a sequence</a:t>
            </a:r>
            <a:r>
              <a:rPr lang="en" sz="2200"/>
              <a:t>, forming the basis of its language generation.</a:t>
            </a:r>
            <a:endParaRPr sz="2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b938ea6dd9_0_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Byte-Pair Encoding Tokenization </a:t>
            </a:r>
            <a:r>
              <a:rPr lang="en" sz="1800"/>
              <a:t>(1994)</a:t>
            </a:r>
            <a:endParaRPr sz="1800"/>
          </a:p>
        </p:txBody>
      </p:sp>
      <p:pic>
        <p:nvPicPr>
          <p:cNvPr id="126" name="Google Shape;126;g3b938ea6dd9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81113" y="1720204"/>
            <a:ext cx="6581775" cy="45233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b8409de4d6_0_10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Classes</a:t>
            </a:r>
            <a:endParaRPr/>
          </a:p>
        </p:txBody>
      </p:sp>
      <p:sp>
        <p:nvSpPr>
          <p:cNvPr id="132" name="Google Shape;132;g3b8409de4d6_0_103"/>
          <p:cNvSpPr txBox="1"/>
          <p:nvPr>
            <p:ph idx="1" type="body"/>
          </p:nvPr>
        </p:nvSpPr>
        <p:spPr>
          <a:xfrm>
            <a:off x="457200" y="1600200"/>
            <a:ext cx="8229600" cy="496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lang="en"/>
              <a:t>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is a data type that defines both data, and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lang="en"/>
              <a:t> used to manipulate the data. A Specific instances of a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/>
              <a:t> are called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objects</a:t>
            </a:r>
            <a:r>
              <a:rPr lang="en"/>
              <a:t>.</a:t>
            </a:r>
            <a:endParaRPr/>
          </a:p>
        </p:txBody>
      </p:sp>
      <p:pic>
        <p:nvPicPr>
          <p:cNvPr id="133" name="Google Shape;133;g3b8409de4d6_0_103" title="Screenshot 2026-01-20 at 11.40.30 AM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08643" y="3590925"/>
            <a:ext cx="5326725" cy="125960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34" name="Google Shape;134;g3b8409de4d6_0_103" title="Screenshot 2026-01-20 at 11.41.41 A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07675" y="5098875"/>
            <a:ext cx="7328650" cy="654850"/>
          </a:xfrm>
          <a:prstGeom prst="rect">
            <a:avLst/>
          </a:prstGeom>
          <a:noFill/>
          <a:ln cap="flat" cmpd="sng" w="38100">
            <a:solidFill>
              <a:srgbClr val="002B5B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5" name="Google Shape;135;g3b8409de4d6_0_103"/>
          <p:cNvSpPr txBox="1"/>
          <p:nvPr/>
        </p:nvSpPr>
        <p:spPr>
          <a:xfrm>
            <a:off x="457200" y="60020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We can use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dir(class)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out the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attributes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functions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 </a:t>
            </a:r>
            <a:r>
              <a:rPr b="1" i="0" lang="en" sz="1800" u="none" cap="none" strike="noStrike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has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b8409de4d6_0_1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programming</a:t>
            </a:r>
            <a:r>
              <a:rPr lang="en"/>
              <a:t>: Regex</a:t>
            </a:r>
            <a:endParaRPr/>
          </a:p>
        </p:txBody>
      </p:sp>
      <p:sp>
        <p:nvSpPr>
          <p:cNvPr id="141" name="Google Shape;141;g3b8409de4d6_0_118"/>
          <p:cNvSpPr txBox="1"/>
          <p:nvPr>
            <p:ph idx="1" type="body"/>
          </p:nvPr>
        </p:nvSpPr>
        <p:spPr>
          <a:xfrm>
            <a:off x="457200" y="1600200"/>
            <a:ext cx="8229600" cy="12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>
                <a:solidFill>
                  <a:srgbClr val="002B5B"/>
                </a:solidFill>
              </a:rPr>
              <a:t>Regex</a:t>
            </a:r>
            <a:r>
              <a:rPr lang="en"/>
              <a:t> allows us to define patterns that we can use to filter </a:t>
            </a:r>
            <a:r>
              <a:rPr b="1" lang="en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strings</a:t>
            </a:r>
            <a:endParaRPr b="1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2" name="Google Shape;142;g3b8409de4d6_0_118"/>
          <p:cNvSpPr txBox="1"/>
          <p:nvPr/>
        </p:nvSpPr>
        <p:spPr>
          <a:xfrm>
            <a:off x="457200" y="6013275"/>
            <a:ext cx="8229600" cy="6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NOTE: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i="0" lang="en" sz="18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Regex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super confusing and almost a language unto itself, </a:t>
            </a:r>
            <a:r>
              <a:rPr b="1" i="0" lang="en" sz="1800" u="none" cap="none" strike="noStrike">
                <a:solidFill>
                  <a:srgbClr val="DCB439"/>
                </a:solidFill>
                <a:latin typeface="Arial"/>
                <a:ea typeface="Arial"/>
                <a:cs typeface="Arial"/>
                <a:sym typeface="Arial"/>
              </a:rPr>
              <a:t>only sickos have it memorized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b="1" i="0" lang="en" sz="18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Just use a cheat sheet or ask chat</a:t>
            </a:r>
            <a:r>
              <a:rPr b="0" i="0" lang="en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g3b8409de4d6_0_1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4750" y="2846400"/>
            <a:ext cx="5614492" cy="2862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938ea6dd9_0_9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Regex in Tokenization</a:t>
            </a:r>
            <a:endParaRPr/>
          </a:p>
        </p:txBody>
      </p:sp>
      <p:sp>
        <p:nvSpPr>
          <p:cNvPr id="149" name="Google Shape;149;g3b938ea6dd9_0_93"/>
          <p:cNvSpPr txBox="1"/>
          <p:nvPr>
            <p:ph idx="1" type="body"/>
          </p:nvPr>
        </p:nvSpPr>
        <p:spPr>
          <a:xfrm>
            <a:off x="457200" y="1600200"/>
            <a:ext cx="8229600" cy="988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sz="1800">
                <a:solidFill>
                  <a:srgbClr val="DCB439"/>
                </a:solidFill>
                <a:latin typeface="Consolas"/>
                <a:ea typeface="Consolas"/>
                <a:cs typeface="Consolas"/>
                <a:sym typeface="Consolas"/>
              </a:rPr>
              <a:t>GPT4_SPLIT_PATTERN =</a:t>
            </a:r>
            <a:r>
              <a:rPr lang="en"/>
              <a:t> </a:t>
            </a:r>
            <a:r>
              <a:rPr b="1" lang="en" sz="1000">
                <a:solidFill>
                  <a:srgbClr val="A31415"/>
                </a:solidFill>
                <a:latin typeface="Consolas"/>
                <a:ea typeface="Consolas"/>
                <a:cs typeface="Consolas"/>
                <a:sym typeface="Consolas"/>
              </a:rPr>
              <a:t>r"""'(?i:[sdmt]|ll|ve|re)|[^\r\n\p{L}\p{N}]?+\p{L}+|\p{N}{1,3}|?[^\s\p{L}\p{N}]++[\r\n]*|\s*[\r\n]|\s+(?!\S)|\s+"""</a:t>
            </a:r>
            <a:endParaRPr b="1" sz="1000">
              <a:solidFill>
                <a:srgbClr val="A31415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/>
          </a:p>
        </p:txBody>
      </p:sp>
      <p:sp>
        <p:nvSpPr>
          <p:cNvPr id="150" name="Google Shape;150;g3b938ea6dd9_0_93"/>
          <p:cNvSpPr txBox="1"/>
          <p:nvPr/>
        </p:nvSpPr>
        <p:spPr>
          <a:xfrm>
            <a:off x="457200" y="2588400"/>
            <a:ext cx="8229600" cy="385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002B5B"/>
                </a:solidFill>
                <a:latin typeface="Arial"/>
                <a:ea typeface="Arial"/>
                <a:cs typeface="Arial"/>
                <a:sym typeface="Arial"/>
              </a:rPr>
              <a:t>BPE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excellent at breaking down words statistically, but </a:t>
            </a:r>
            <a:r>
              <a:rPr b="1" i="0" lang="en" sz="3000" u="none" cap="none" strike="noStrike">
                <a:solidFill>
                  <a:srgbClr val="A31415"/>
                </a:solidFill>
                <a:latin typeface="Arial"/>
                <a:ea typeface="Arial"/>
                <a:cs typeface="Arial"/>
                <a:sym typeface="Arial"/>
              </a:rPr>
              <a:t>it can make suboptimal merges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like combining punctuation with words. 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t/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" sz="3000" u="none" cap="none" strike="noStrike">
                <a:solidFill>
                  <a:srgbClr val="465510"/>
                </a:solidFill>
                <a:latin typeface="Arial"/>
                <a:ea typeface="Arial"/>
                <a:cs typeface="Arial"/>
                <a:sym typeface="Arial"/>
              </a:rPr>
              <a:t>Regex acts as a "pre-filter"</a:t>
            </a:r>
            <a:r>
              <a:rPr b="0" i="0" lang="en" sz="3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to prevent these issues, ensuring that letters, numbers, punctuation, and whitespace split.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8409de4d6_0_10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nanochat Tokenizer</a:t>
            </a:r>
            <a:endParaRPr/>
          </a:p>
        </p:txBody>
      </p:sp>
      <p:sp>
        <p:nvSpPr>
          <p:cNvPr id="156" name="Google Shape;156;g3b8409de4d6_0_108"/>
          <p:cNvSpPr txBox="1"/>
          <p:nvPr>
            <p:ph idx="1" type="body"/>
          </p:nvPr>
        </p:nvSpPr>
        <p:spPr>
          <a:xfrm>
            <a:off x="457200" y="160020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rPr b="1" lang="en" u="sng">
                <a:solidFill>
                  <a:srgbClr val="DCB439"/>
                </a:solidFill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nanochat tokenizer code</a:t>
            </a:r>
            <a:endParaRPr b="1">
              <a:solidFill>
                <a:srgbClr val="DCB439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B Them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