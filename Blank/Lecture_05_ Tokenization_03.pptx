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hDxOqICIGUZTSBr0XGPAmfEZ5O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bbeee67e43_0_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g3bbeee67e43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a2debe53a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g3ba2debe5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af4acbdf2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baf4acbdf2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af4acbdf2_0_9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baf4acbdf2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af4acbdf2_0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g3baf4acbdf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af4acbdf2_0_4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baf4acbdf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af4acbdf2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g3baf4acbdf2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bbeee67e43_0_3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bbeee67e43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beee67e43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3bbeee67e4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beee67e43_0_4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beee67e4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beee67e43_0_5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beee67e43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beee67e43_0_9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bbeee67e43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beee67e43_0_14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g3bbeee67e43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bbeee67e43_0_14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g3bbeee67e43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bbeee67e43_0_1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g3bbeee67e43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bbeee67e43_0_13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g3bbeee67e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bbeee67e43_0_1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g3bbeee67e43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bbeee67e43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bbeee67e43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openai/tiktoken/blob/main/tiktoken/_educational.py" TargetMode="External"/><Relationship Id="rId5" Type="http://schemas.openxmlformats.org/officeDocument/2006/relationships/image" Target="../media/image10.png"/><Relationship Id="rId6" Type="http://schemas.openxmlformats.org/officeDocument/2006/relationships/image" Target="../media/image9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Relationship Id="rId6" Type="http://schemas.openxmlformats.org/officeDocument/2006/relationships/image" Target="../media/image19.png"/><Relationship Id="rId7" Type="http://schemas.openxmlformats.org/officeDocument/2006/relationships/image" Target="../media/image1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8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Colab, write a function to do the following: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Given two </a:t>
            </a:r>
            <a:r>
              <a:rPr b="1" lang="en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integer</a:t>
            </a:r>
            <a:r>
              <a:rPr lang="en"/>
              <a:t> arguments: </a:t>
            </a:r>
            <a:r>
              <a:rPr b="1" lang="en">
                <a:solidFill>
                  <a:srgbClr val="002B5B"/>
                </a:solidFill>
              </a:rPr>
              <a:t>rows</a:t>
            </a:r>
            <a:r>
              <a:rPr lang="en"/>
              <a:t> and </a:t>
            </a:r>
            <a:r>
              <a:rPr b="1" lang="en">
                <a:solidFill>
                  <a:srgbClr val="002B5B"/>
                </a:solidFill>
              </a:rPr>
              <a:t>cols</a:t>
            </a:r>
            <a:r>
              <a:rPr lang="en"/>
              <a:t> create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of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lists</a:t>
            </a:r>
            <a:r>
              <a:rPr lang="en"/>
              <a:t> of size (rows, cols) full of </a:t>
            </a:r>
            <a:r>
              <a:rPr b="1" lang="en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/>
              <a:t>s and return it.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create_matrix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2, 2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[[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, 0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], 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0, 0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]]</a:t>
            </a:r>
            <a:endParaRPr b="1" sz="26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8409de4d6_0_60" title="Screenshot 2026-01-27 at 10.49.34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7650"/>
            <a:ext cx="4102350" cy="31310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8409de4d6_0_60" title="Screenshot 2026-01-27 at 10.52.50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5475" y="4802151"/>
            <a:ext cx="4730599" cy="12413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bbeee67e43_0_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 comprehensions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" name="Google Shape;48;g3bbeee67e43_0_3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ist comprehensions</a:t>
            </a:r>
            <a:r>
              <a:rPr lang="en"/>
              <a:t> are a compact </a:t>
            </a:r>
            <a:r>
              <a:rPr b="1" lang="en">
                <a:solidFill>
                  <a:srgbClr val="DCB439"/>
                </a:solidFill>
              </a:rPr>
              <a:t>way to create a new</a:t>
            </a:r>
            <a:r>
              <a:rPr lang="en"/>
              <a:t>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, and are frequently used to show off</a:t>
            </a:r>
            <a:endParaRPr/>
          </a:p>
        </p:txBody>
      </p:sp>
      <p:pic>
        <p:nvPicPr>
          <p:cNvPr id="49" name="Google Shape;49;g3bbeee67e43_0_37"/>
          <p:cNvPicPr preferRelativeResize="0"/>
          <p:nvPr/>
        </p:nvPicPr>
        <p:blipFill rotWithShape="1">
          <a:blip r:embed="rId3">
            <a:alphaModFix/>
          </a:blip>
          <a:srcRect b="21491" l="11833" r="12551" t="7299"/>
          <a:stretch/>
        </p:blipFill>
        <p:spPr>
          <a:xfrm>
            <a:off x="1115012" y="3265700"/>
            <a:ext cx="6913974" cy="313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03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g3b938ea6dd9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" name="Google Shape;63;g3b938ea6dd9_0_26"/>
          <p:cNvCxnSpPr>
            <a:stCxn id="62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" name="Google Shape;65;g3b938ea6dd9_0_26"/>
          <p:cNvCxnSpPr>
            <a:stCxn id="64" idx="0"/>
            <a:endCxn id="62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67" name="Google Shape;67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" name="Google Shape;68;g3b938ea6dd9_0_26"/>
          <p:cNvCxnSpPr>
            <a:stCxn id="67" idx="0"/>
            <a:endCxn id="64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" name="Google Shape;72;g3b938ea6dd9_0_26"/>
          <p:cNvCxnSpPr>
            <a:endCxn id="71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g3b938ea6dd9_0_26"/>
          <p:cNvSpPr/>
          <p:nvPr/>
        </p:nvSpPr>
        <p:spPr>
          <a:xfrm>
            <a:off x="279925" y="5169150"/>
            <a:ext cx="2911200" cy="1231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a2debe53a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Tokenization 02</a:t>
            </a:r>
            <a:endParaRPr sz="1800"/>
          </a:p>
        </p:txBody>
      </p:sp>
      <p:sp>
        <p:nvSpPr>
          <p:cNvPr id="79" name="Google Shape;79;g3ba2debe53a_0_0"/>
          <p:cNvSpPr txBox="1"/>
          <p:nvPr/>
        </p:nvSpPr>
        <p:spPr>
          <a:xfrm>
            <a:off x="457200" y="1417650"/>
            <a:ext cx="8229600" cy="497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1.) Convert input to bytes</a:t>
            </a:r>
            <a:endParaRPr b="1" i="0" sz="2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rgbClr val="6A522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'rug pug hug pun bun hugs run gun'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.encode(</a:t>
            </a:r>
            <a:r>
              <a:rPr b="1" i="0" lang="en" sz="1400" u="none" cap="none" strike="noStrike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'utf-8'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)))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[114, 117, 103, 32, 112, 117, 103, 32, 104, 117, 103, 32, 112, 117, 110, 32, 98, 117, 110, 32, 104, 117, 103, 115, 32, 114, 117, 110, 32, 103, 117, 110]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t/>
            </a:r>
            <a:endParaRPr b="0" i="0" sz="14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t/>
            </a:r>
            <a:endParaRPr b="0" i="0" sz="14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2.) Find and count pairs</a:t>
            </a:r>
            <a:endParaRPr b="1" i="0" sz="2400" u="none" cap="none" strike="noStrike">
              <a:solidFill>
                <a:srgbClr val="1F1F1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counts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count_pairs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b="0" i="0" sz="140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{(114, 117): 2, (117, 103): 4, (103, 32): 3, (32, 112): 2, (112, 117): 2, (32, 104): 2, (104, 117): 2, (117, 110): 4, (110, 32): 3, (32, 98): 1, (98, 117): 1, (103, 115): 1, (115, 32): 1, (32, 114): 1, (32, 103): 1, (103, 117): 1}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3.) Replace the most common pair with a new token</a:t>
            </a:r>
            <a:endParaRPr b="0" i="0" sz="145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merged_string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replace_pairs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counts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most_common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()[0][0], </a:t>
            </a:r>
            <a:r>
              <a:rPr b="1" i="0" lang="en" sz="1400" u="none" cap="none" strike="noStrike">
                <a:solidFill>
                  <a:srgbClr val="46551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257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b="0" i="0" sz="1400" u="none" cap="none" strike="noStrike">
              <a:solidFill>
                <a:srgbClr val="1F1F1F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[114, 257, 32, 112, 257, 32, 104, 257, 32, 112, 117, 110, 32, 98, 117, 110, 32, 104, 257, 115, 32, 114, 117, 110, 32, 103, 117, 110]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50800" marR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0" i="0" sz="3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af4acbdf2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" name="Google Shape;85;g3baf4acbdf2_0_8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Two classes ago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count_consecutive_pairs()</a:t>
            </a:r>
            <a:r>
              <a:rPr lang="en"/>
              <a:t>, we can use this to find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that frequently appear near each other!</a:t>
            </a:r>
            <a:endParaRPr/>
          </a:p>
        </p:txBody>
      </p:sp>
      <p:pic>
        <p:nvPicPr>
          <p:cNvPr id="86" name="Google Shape;86;g3baf4acbdf2_0_84" title="Screenshot 2026-01-20 at 10.46.2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975" y="387515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af4acbdf2_0_9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merge_pair()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" name="Google Shape;92;g3baf4acbdf2_0_9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Last class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r>
              <a:rPr lang="en"/>
              <a:t> which we can use to merge the frequent pairs into new, larger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!</a:t>
            </a:r>
            <a:endParaRPr/>
          </a:p>
        </p:txBody>
      </p:sp>
      <p:pic>
        <p:nvPicPr>
          <p:cNvPr id="93" name="Google Shape;93;g3baf4acbdf2_0_90" title="Screenshot 2026-01-21 at 9.48.06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2938" y="3211350"/>
            <a:ext cx="5718126" cy="33565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af4acbdf2_0_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Classes</a:t>
            </a:r>
            <a:endParaRPr/>
          </a:p>
        </p:txBody>
      </p:sp>
      <p:sp>
        <p:nvSpPr>
          <p:cNvPr id="99" name="Google Shape;99;g3baf4acbdf2_0_1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00" name="Google Shape;100;g3baf4acbdf2_0_12" title="Screenshot 2026-01-20 at 11.40.3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01" name="Google Shape;101;g3baf4acbdf2_0_12" title="Screenshot 2026-01-20 at 11.41.4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2" name="Google Shape;102;g3baf4acbdf2_0_12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af4acbdf2_0_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Simple_Tokenizer()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" name="Google Shape;108;g3baf4acbdf2_0_49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can put all of this together in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to create a </a:t>
            </a:r>
            <a:r>
              <a:rPr b="1" lang="en">
                <a:solidFill>
                  <a:srgbClr val="002B5B"/>
                </a:solidFill>
              </a:rPr>
              <a:t>tokenizer</a:t>
            </a:r>
            <a:r>
              <a:rPr lang="en"/>
              <a:t> we can re-use!</a:t>
            </a:r>
            <a:endParaRPr/>
          </a:p>
        </p:txBody>
      </p:sp>
      <p:pic>
        <p:nvPicPr>
          <p:cNvPr id="109" name="Google Shape;109;g3baf4acbdf2_0_49" title="Screenshot 2026-01-22 at 11.30.09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4450" y="3510199"/>
            <a:ext cx="7595100" cy="7454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baf4acbdf2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vs. 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“tonight”</a:t>
            </a:r>
            <a:endParaRPr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" name="Google Shape;115;g3baf4acbdf2_0_6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This simple tokenizer works, but it seems very silly that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is a different token than </a:t>
            </a:r>
            <a:r>
              <a:rPr b="1" lang="en">
                <a:solidFill>
                  <a:srgbClr val="A31415"/>
                </a:solidFill>
              </a:rPr>
              <a:t>“tonight”</a:t>
            </a:r>
            <a:r>
              <a:rPr lang="en"/>
              <a:t>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excellent at breaking down words statistically, but </a:t>
            </a:r>
            <a:r>
              <a:rPr b="1" lang="en">
                <a:solidFill>
                  <a:srgbClr val="A31415"/>
                </a:solidFill>
              </a:rPr>
              <a:t>it can make suboptimal merges</a:t>
            </a:r>
            <a:r>
              <a:rPr lang="en"/>
              <a:t> like combining punctuation with words.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21" name="Google Shape;121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g3b8409de4d6_0_118"/>
          <p:cNvSpPr txBox="1"/>
          <p:nvPr/>
        </p:nvSpPr>
        <p:spPr>
          <a:xfrm>
            <a:off x="503850" y="5141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Regex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super confusing and almost a language unto itself, </a:t>
            </a: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only sickos have it memorized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en" sz="18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Just use a cheat sheet or ask chat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b8409de4d6_0_118"/>
          <p:cNvPicPr preferRelativeResize="0"/>
          <p:nvPr/>
        </p:nvPicPr>
        <p:blipFill rotWithShape="1">
          <a:blip r:embed="rId3">
            <a:alphaModFix/>
          </a:blip>
          <a:srcRect b="5479" l="0" r="0" t="5860"/>
          <a:stretch/>
        </p:blipFill>
        <p:spPr>
          <a:xfrm>
            <a:off x="1764750" y="2603800"/>
            <a:ext cx="5614500" cy="25373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b8409de4d6_0_118"/>
          <p:cNvSpPr txBox="1"/>
          <p:nvPr/>
        </p:nvSpPr>
        <p:spPr>
          <a:xfrm>
            <a:off x="503850" y="5840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 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short for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“regular expression”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(or “rational expression”) and I actually met one of the creators while interviewing at Princeton!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130" name="Google Shape;130;g3b938ea6dd9_0_93"/>
          <p:cNvSpPr txBox="1"/>
          <p:nvPr/>
        </p:nvSpPr>
        <p:spPr>
          <a:xfrm>
            <a:off x="457200" y="1417650"/>
            <a:ext cx="8229600" cy="5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we can do is pre-split our text based on linguistic “landmarks” like whitespace and punctuation using </a:t>
            </a: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r>
              <a:rPr b="1" i="0" lang="en" sz="30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 acts as a "pre-filter"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prevent these issues, ensuring that letters, numbers, punctuation, and whitespace split.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g3b938ea6dd9_0_93"/>
          <p:cNvSpPr txBox="1"/>
          <p:nvPr/>
        </p:nvSpPr>
        <p:spPr>
          <a:xfrm>
            <a:off x="331200" y="3200400"/>
            <a:ext cx="8481600" cy="15675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(r_t.chunk(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"No cap are u rolling the party tonight?"</a:t>
            </a: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))</a:t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i="0" lang="en" sz="1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'(?i:[sdmt]|ll|ve|re)|[^\r\n\p{L}\p{N}]?+\p{L}+|\p{N}{1,3}| ?[^\s\p{L}\p{N}]++[\r\n]*|\s*[\r\n]|\s+(?!\S)|\s+</a:t>
            </a:r>
            <a:endParaRPr b="1" i="0" sz="1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'No'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cap'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are'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u'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rolling'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the'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party'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tonight'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'?'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b="0" i="0" sz="15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beee67e43_0_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2B5B"/>
                </a:solidFill>
              </a:rPr>
              <a:t>Code Copy →</a:t>
            </a:r>
            <a:r>
              <a:rPr lang="en">
                <a:solidFill>
                  <a:srgbClr val="DCB439"/>
                </a:solidFill>
              </a:rPr>
              <a:t> </a:t>
            </a:r>
            <a:r>
              <a:rPr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01</a:t>
            </a:r>
            <a:endParaRPr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g3bbeee67e43_0_3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43" name="Google Shape;143;g3b8409de4d6_0_108"/>
          <p:cNvSpPr txBox="1"/>
          <p:nvPr>
            <p:ph idx="1" type="body"/>
          </p:nvPr>
        </p:nvSpPr>
        <p:spPr>
          <a:xfrm>
            <a:off x="457200" y="1600200"/>
            <a:ext cx="8229600" cy="46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nanochat tokenizer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tiktoken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</p:txBody>
      </p:sp>
      <p:pic>
        <p:nvPicPr>
          <p:cNvPr id="144" name="Google Shape;144;g3b8409de4d6_0_10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4574" y="4163449"/>
            <a:ext cx="2494850" cy="248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3b8409de4d6_0_108" title="IMG_0529.jpeg"/>
          <p:cNvPicPr preferRelativeResize="0"/>
          <p:nvPr/>
        </p:nvPicPr>
        <p:blipFill rotWithShape="1">
          <a:blip r:embed="rId6">
            <a:alphaModFix/>
          </a:blip>
          <a:srcRect b="0" l="37442" r="50510" t="0"/>
          <a:stretch/>
        </p:blipFill>
        <p:spPr>
          <a:xfrm rot="-5400000">
            <a:off x="4296736" y="701771"/>
            <a:ext cx="550525" cy="60929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beee67e43_0_26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Embeddings</a:t>
            </a:r>
            <a:r>
              <a:rPr lang="en">
                <a:solidFill>
                  <a:srgbClr val="DCB439"/>
                </a:solidFill>
              </a:rPr>
              <a:t> 01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beee67e43_0_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56" name="Google Shape;156;g3bbeee67e43_0_44"/>
          <p:cNvSpPr txBox="1"/>
          <p:nvPr>
            <p:ph idx="1" type="body"/>
          </p:nvPr>
        </p:nvSpPr>
        <p:spPr>
          <a:xfrm>
            <a:off x="457200" y="1600200"/>
            <a:ext cx="8229600" cy="69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515"/>
                </a:solidFill>
              </a:rPr>
              <a:t>Are we actually gaining anything from this?</a:t>
            </a:r>
            <a:endParaRPr b="1">
              <a:solidFill>
                <a:srgbClr val="A31515"/>
              </a:solidFill>
            </a:endParaRPr>
          </a:p>
        </p:txBody>
      </p:sp>
      <p:pic>
        <p:nvPicPr>
          <p:cNvPr id="157" name="Google Shape;157;g3bbeee67e43_0_44" title="Screenshot 2026-01-27 at 11.03.21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4588" y="2292300"/>
            <a:ext cx="6274823" cy="3843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g3bbeee67e43_0_44" title="Screenshot 2026-01-27 at 11.04.18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34602" y="6135868"/>
            <a:ext cx="6274799" cy="48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beee67e43_0_5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pic>
        <p:nvPicPr>
          <p:cNvPr id="164" name="Google Shape;164;g3bbeee67e43_0_53" title="Screenshot 2026-01-27 at 11.06.13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98" y="1417650"/>
            <a:ext cx="5444989" cy="4072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g3bbeee67e43_0_53" title="Screenshot 2026-01-27 at 11.06.43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9" y="5489746"/>
            <a:ext cx="5444989" cy="248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g3bbeee67e43_0_53" title="Screenshot 2026-01-27 at 11.12.02 A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34681" y="274650"/>
            <a:ext cx="4300518" cy="1709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g3bbeee67e43_0_53" title="Screenshot 2026-01-27 at 11.12.43 A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34673" y="1988409"/>
            <a:ext cx="4300518" cy="26328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g3bbeee67e43_0_53" title="Screenshot 2026-01-27 at 11.12.59 AM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34675" y="4625225"/>
            <a:ext cx="4300525" cy="21991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g3bbeee67e43_0_53"/>
          <p:cNvSpPr/>
          <p:nvPr/>
        </p:nvSpPr>
        <p:spPr>
          <a:xfrm>
            <a:off x="557725" y="4869025"/>
            <a:ext cx="4200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bbeee67e43_0_53"/>
          <p:cNvSpPr/>
          <p:nvPr/>
        </p:nvSpPr>
        <p:spPr>
          <a:xfrm>
            <a:off x="2088750" y="5503900"/>
            <a:ext cx="5055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1" name="Google Shape;171;g3bbeee67e43_0_53"/>
          <p:cNvCxnSpPr>
            <a:stCxn id="169" idx="3"/>
            <a:endCxn id="170" idx="0"/>
          </p:cNvCxnSpPr>
          <p:nvPr/>
        </p:nvCxnSpPr>
        <p:spPr>
          <a:xfrm>
            <a:off x="977725" y="4978975"/>
            <a:ext cx="1363800" cy="525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2" name="Google Shape;172;g3bbeee67e43_0_53"/>
          <p:cNvSpPr/>
          <p:nvPr/>
        </p:nvSpPr>
        <p:spPr>
          <a:xfrm>
            <a:off x="4538675" y="4384350"/>
            <a:ext cx="839400" cy="4848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g3bbeee67e43_0_53"/>
          <p:cNvSpPr/>
          <p:nvPr/>
        </p:nvSpPr>
        <p:spPr>
          <a:xfrm>
            <a:off x="8327950" y="804000"/>
            <a:ext cx="3588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bbeee67e43_0_53"/>
          <p:cNvSpPr/>
          <p:nvPr/>
        </p:nvSpPr>
        <p:spPr>
          <a:xfrm>
            <a:off x="5543400" y="1316800"/>
            <a:ext cx="16005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5" name="Google Shape;175;g3bbeee67e43_0_53"/>
          <p:cNvCxnSpPr>
            <a:endCxn id="173" idx="2"/>
          </p:cNvCxnSpPr>
          <p:nvPr/>
        </p:nvCxnSpPr>
        <p:spPr>
          <a:xfrm flipH="1" rot="10800000">
            <a:off x="7143850" y="1119900"/>
            <a:ext cx="1363500" cy="3549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g3bbeee67e43_0_53"/>
          <p:cNvCxnSpPr>
            <a:stCxn id="172" idx="3"/>
            <a:endCxn id="174" idx="2"/>
          </p:cNvCxnSpPr>
          <p:nvPr/>
        </p:nvCxnSpPr>
        <p:spPr>
          <a:xfrm flipH="1" rot="10800000">
            <a:off x="5378075" y="1632750"/>
            <a:ext cx="965700" cy="2994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g3bbeee67e43_0_53"/>
          <p:cNvSpPr/>
          <p:nvPr/>
        </p:nvSpPr>
        <p:spPr>
          <a:xfrm>
            <a:off x="4617275" y="1738925"/>
            <a:ext cx="420000" cy="315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bbeee67e43_0_53"/>
          <p:cNvSpPr/>
          <p:nvPr/>
        </p:nvSpPr>
        <p:spPr>
          <a:xfrm>
            <a:off x="2594250" y="5503900"/>
            <a:ext cx="420000" cy="219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9" name="Google Shape;179;g3bbeee67e43_0_53"/>
          <p:cNvCxnSpPr>
            <a:stCxn id="178" idx="0"/>
            <a:endCxn id="177" idx="1"/>
          </p:cNvCxnSpPr>
          <p:nvPr/>
        </p:nvCxnSpPr>
        <p:spPr>
          <a:xfrm rot="-5400000">
            <a:off x="1907250" y="2794000"/>
            <a:ext cx="3606900" cy="1812900"/>
          </a:xfrm>
          <a:prstGeom prst="curvedConnector2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0" name="Google Shape;180;g3bbeee67e43_0_53"/>
          <p:cNvCxnSpPr>
            <a:stCxn id="170" idx="0"/>
            <a:endCxn id="172" idx="1"/>
          </p:cNvCxnSpPr>
          <p:nvPr/>
        </p:nvCxnSpPr>
        <p:spPr>
          <a:xfrm rot="-5400000">
            <a:off x="3001500" y="3966700"/>
            <a:ext cx="877200" cy="21972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beee67e43_0_9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GPA Predicting Dataset</a:t>
            </a:r>
            <a:endParaRPr/>
          </a:p>
        </p:txBody>
      </p:sp>
      <p:sp>
        <p:nvSpPr>
          <p:cNvPr id="186" name="Google Shape;186;g3bbeee67e43_0_9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Lets design a dataset to </a:t>
            </a:r>
            <a:r>
              <a:rPr b="1" lang="en">
                <a:solidFill>
                  <a:srgbClr val="A31515"/>
                </a:solidFill>
              </a:rPr>
              <a:t>predict whether incoming students will graduate or not</a:t>
            </a:r>
            <a:endParaRPr b="1">
              <a:solidFill>
                <a:srgbClr val="A31515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bbeee67e43_0_1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</a:t>
            </a:r>
            <a:r>
              <a:rPr lang="en">
                <a:solidFill>
                  <a:srgbClr val="A31415"/>
                </a:solidFill>
              </a:rPr>
              <a:t>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g3bbeee67e43_0_147"/>
          <p:cNvSpPr txBox="1"/>
          <p:nvPr>
            <p:ph idx="1" type="body"/>
          </p:nvPr>
        </p:nvSpPr>
        <p:spPr>
          <a:xfrm>
            <a:off x="457200" y="1600200"/>
            <a:ext cx="8229600" cy="4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machine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r>
              <a:rPr b="1" lang="en"/>
              <a:t> </a:t>
            </a:r>
            <a:r>
              <a:rPr lang="en"/>
              <a:t>task</a:t>
            </a:r>
            <a:r>
              <a:rPr lang="en"/>
              <a:t> is one in which we’re </a:t>
            </a:r>
            <a:r>
              <a:rPr lang="en"/>
              <a:t>trying</a:t>
            </a:r>
            <a:r>
              <a:rPr lang="en"/>
              <a:t> to </a:t>
            </a:r>
            <a:r>
              <a:rPr b="1" lang="en">
                <a:solidFill>
                  <a:srgbClr val="465510"/>
                </a:solidFill>
              </a:rPr>
              <a:t>predict a category or label</a:t>
            </a:r>
            <a:r>
              <a:rPr lang="en"/>
              <a:t> given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For our student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our categories are: </a:t>
            </a:r>
            <a:r>
              <a:rPr b="1" lang="en">
                <a:solidFill>
                  <a:srgbClr val="DCB439"/>
                </a:solidFill>
              </a:rPr>
              <a:t>“Will Graduate”</a:t>
            </a:r>
            <a:r>
              <a:rPr lang="en"/>
              <a:t> and </a:t>
            </a:r>
            <a:r>
              <a:rPr b="1" lang="en">
                <a:solidFill>
                  <a:srgbClr val="DCB439"/>
                </a:solidFill>
              </a:rPr>
              <a:t>“Will not graduate”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bbeee67e43_0_1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</a:t>
            </a:r>
            <a:r>
              <a:rPr lang="en">
                <a:solidFill>
                  <a:srgbClr val="A31415"/>
                </a:solidFill>
              </a:rPr>
              <a:t>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" name="Google Shape;198;g3bbeee67e43_0_142"/>
          <p:cNvSpPr txBox="1"/>
          <p:nvPr>
            <p:ph idx="1" type="body"/>
          </p:nvPr>
        </p:nvSpPr>
        <p:spPr>
          <a:xfrm>
            <a:off x="457200" y="1600200"/>
            <a:ext cx="8229600" cy="24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call it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r>
              <a:rPr lang="en"/>
              <a:t> when we have examples of the correct answer in our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because we can tell our model if it guessed correctly or not. We call these correct answers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ground truth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beee67e43_0_1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" name="Google Shape;204;g3bbeee67e43_0_1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deep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</a:t>
            </a:r>
            <a:r>
              <a:rPr lang="en"/>
              <a:t> is a way to describe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 is one individual “thing” in our dataset. Maybe a bird, a flower, or a person.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beee67e43_0_1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g3bbeee67e43_0_13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r>
              <a:rPr lang="en"/>
              <a:t> then is a representation of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 </a:t>
            </a:r>
            <a:r>
              <a:rPr lang="en"/>
              <a:t>in some high-dimensional space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bbeee67e43_0_1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g3bbeee67e43_0_137"/>
          <p:cNvSpPr txBox="1"/>
          <p:nvPr>
            <p:ph idx="1" type="body"/>
          </p:nvPr>
        </p:nvSpPr>
        <p:spPr>
          <a:xfrm>
            <a:off x="457200" y="1600200"/>
            <a:ext cx="8229600" cy="17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 </a:t>
            </a:r>
            <a:r>
              <a:rPr lang="en"/>
              <a:t>is a collection of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vectors</a:t>
            </a:r>
            <a:r>
              <a:rPr lang="en"/>
              <a:t> for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samples</a:t>
            </a:r>
            <a:r>
              <a:rPr lang="en"/>
              <a:t> that are </a:t>
            </a:r>
            <a:r>
              <a:rPr b="1" lang="en">
                <a:solidFill>
                  <a:srgbClr val="DCB439"/>
                </a:solidFill>
              </a:rPr>
              <a:t>ideally representative of the population</a:t>
            </a:r>
            <a:r>
              <a:rPr lang="en"/>
              <a:t> we’re interested in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bbeee67e43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Space - Embeddings</a:t>
            </a:r>
            <a:endParaRPr/>
          </a:p>
        </p:txBody>
      </p:sp>
      <p:sp>
        <p:nvSpPr>
          <p:cNvPr id="222" name="Google Shape;222;g3bbeee67e43_0_9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