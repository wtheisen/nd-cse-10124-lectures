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BcaVylMX+7tKAflK6s1IQ3s5N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beee67e43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bbeee67e4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38ea6dd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938ea6d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2debe53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ba2debe5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f4acbdf2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af4acbd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af4acbdf2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baf4acbd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f4acbdf2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baf4acbd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af4acbdf2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af4acbdf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f4acbdf2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af4acbdf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409de4d6_0_1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8409de4d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38ea6dd9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938ea6dd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eee67e43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beee67e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8409de4d6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8409de4d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beee67e43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beee67e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beee67e43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beee67e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beee67e43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beee67e4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beee67e43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bbeee67e4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beee67e43_0_1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bbeee67e4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beee67e43_0_1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bbeee67e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beee67e43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bbeee67e4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beee67e43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bbeee67e4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beee67e43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beee67e4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karpathy/nanochat/blob/master/nanochat/tokenizer.py" TargetMode="External"/><Relationship Id="rId4" Type="http://schemas.openxmlformats.org/officeDocument/2006/relationships/hyperlink" Target="https://github.com/openai/tiktoken/blob/main/tiktoken/_educational.py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4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Colab, write a function to do the following: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Given two </a:t>
            </a:r>
            <a:r>
              <a:rPr b="1" lang="e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"/>
              <a:t> arguments: </a:t>
            </a:r>
            <a:r>
              <a:rPr b="1" lang="en">
                <a:solidFill>
                  <a:srgbClr val="002B5B"/>
                </a:solidFill>
              </a:rPr>
              <a:t>rows</a:t>
            </a:r>
            <a:r>
              <a:rPr lang="en"/>
              <a:t> and </a:t>
            </a:r>
            <a:r>
              <a:rPr b="1" lang="en">
                <a:solidFill>
                  <a:srgbClr val="002B5B"/>
                </a:solidFill>
              </a:rPr>
              <a:t>cols</a:t>
            </a:r>
            <a:r>
              <a:rPr lang="en"/>
              <a:t> create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of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  <a:r>
              <a:rPr lang="en"/>
              <a:t> of size (rows, cols) full of </a:t>
            </a:r>
            <a:r>
              <a:rPr b="1" lang="en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/>
              <a:t>s and return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create_matrix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[[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, 0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0, 0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]]</a:t>
            </a:r>
            <a:endParaRPr b="1"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Solution 01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1" name="Google Shape;41;g3b8409de4d6_0_60" title="Screenshot 2026-01-27 at 10.49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50"/>
            <a:ext cx="4102350" cy="31310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" name="Google Shape;42;g3b8409de4d6_0_60" title="Screenshot 2026-01-27 at 10.52.5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5475" y="4802151"/>
            <a:ext cx="4730599" cy="1241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beee67e43_0_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 comprehensions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" name="Google Shape;48;g3bbeee67e43_0_3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ist comprehensions</a:t>
            </a:r>
            <a:r>
              <a:rPr lang="en"/>
              <a:t> are a compact </a:t>
            </a:r>
            <a:r>
              <a:rPr b="1" lang="en">
                <a:solidFill>
                  <a:srgbClr val="DCB439"/>
                </a:solidFill>
              </a:rPr>
              <a:t>way to create a new</a:t>
            </a:r>
            <a:r>
              <a:rPr lang="en"/>
              <a:t>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, and are frequently used to show off</a:t>
            </a:r>
            <a:endParaRPr/>
          </a:p>
        </p:txBody>
      </p:sp>
      <p:pic>
        <p:nvPicPr>
          <p:cNvPr id="49" name="Google Shape;49;g3bbeee67e43_0_37"/>
          <p:cNvPicPr preferRelativeResize="0"/>
          <p:nvPr/>
        </p:nvPicPr>
        <p:blipFill rotWithShape="1">
          <a:blip r:embed="rId3">
            <a:alphaModFix/>
          </a:blip>
          <a:srcRect b="21491" l="11833" r="12551" t="7299"/>
          <a:stretch/>
        </p:blipFill>
        <p:spPr>
          <a:xfrm>
            <a:off x="1115012" y="3265700"/>
            <a:ext cx="6913974" cy="31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Tokenization 03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g3b938ea6dd9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b938ea6dd9_0_26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b938ea6dd9_0_26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b938ea6dd9_0_26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b938ea6dd9_0_26"/>
          <p:cNvCxnSpPr>
            <a:stCxn id="62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g3b938ea6dd9_0_26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g3b938ea6dd9_0_26"/>
          <p:cNvCxnSpPr>
            <a:stCxn id="64" idx="0"/>
            <a:endCxn id="62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b938ea6dd9_0_26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67" name="Google Shape;67;g3b938ea6dd9_0_26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g3b938ea6dd9_0_26"/>
          <p:cNvCxnSpPr>
            <a:stCxn id="67" idx="0"/>
            <a:endCxn id="64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g3b938ea6dd9_0_26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b938ea6dd9_0_26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b938ea6dd9_0_26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g3b938ea6dd9_0_26"/>
          <p:cNvCxnSpPr>
            <a:endCxn id="71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g3b938ea6dd9_0_26"/>
          <p:cNvSpPr/>
          <p:nvPr/>
        </p:nvSpPr>
        <p:spPr>
          <a:xfrm>
            <a:off x="279925" y="5169150"/>
            <a:ext cx="2911200" cy="1231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a2debe53a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 - Tokenization 02</a:t>
            </a:r>
            <a:endParaRPr sz="1800"/>
          </a:p>
        </p:txBody>
      </p:sp>
      <p:sp>
        <p:nvSpPr>
          <p:cNvPr id="79" name="Google Shape;79;g3ba2debe53a_0_0"/>
          <p:cNvSpPr txBox="1"/>
          <p:nvPr/>
        </p:nvSpPr>
        <p:spPr>
          <a:xfrm>
            <a:off x="457200" y="1417650"/>
            <a:ext cx="82296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1.) Convert input to bytes</a:t>
            </a:r>
            <a:endParaRPr b="1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b="0" i="0" lang="en" sz="1400" u="none" cap="none" strike="noStrike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14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'rug pug hug pun bun hugs run gun'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b="1" i="0" lang="en" sz="14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[114, 117, 103, 32, 112, 117, 103, 32, 104, 117, 103, 32, 112, 117, 110, 32, 98, 117, 110, 32, 104, 117, 103, 115, 32, 114, 117, 110, 32, 103, 117, 110]</a:t>
            </a:r>
            <a:endParaRPr b="0" i="0" sz="140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2.) Find and count pairs</a:t>
            </a:r>
            <a:endParaRPr b="1" i="0" sz="24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count_pairs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1400" u="none" cap="none" strike="noStrike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{(114, 117): 2, (117, 103): 4, (103, 32): 3, (32, 112): 2, (112, 117): 2, (32, 104): 2, (104, 117): 2, (117, 110): 4, (110, 32): 3, (32, 98): 1, (98, 117): 1, (103, 115): 1, (115, 32): 1, (32, 114): 1, (32, 103): 1, (103, 117): 1}</a:t>
            </a:r>
            <a:endParaRPr b="0" i="0" sz="140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3.) Replace the most common pair with a new token</a:t>
            </a:r>
            <a:endParaRPr b="0" i="0" sz="145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merged_string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replace_pairs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1400" u="none" cap="none" strike="noStrike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400" u="none" cap="none" strike="noStrike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most_common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()[0][0], </a:t>
            </a:r>
            <a:r>
              <a:rPr b="1" i="0" lang="en" sz="1400" u="none" cap="none" strike="noStrike">
                <a:solidFill>
                  <a:srgbClr val="46551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257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1F1F1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en" sz="1400" u="none" cap="none" strike="noStrike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[114, 257, 32, 112, 257, 32, 104, 257, 32, 112, 117, 110, 32, 98, 117, 110, 32, 104, 257, 115, 32, 114, 117, 110, 32, 103, 117, 110]</a:t>
            </a:r>
            <a:endParaRPr b="0" i="0" sz="140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F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af4acbdf2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count_pairs()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g3baf4acbdf2_0_8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Two classes ago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count_consecutive_pairs()</a:t>
            </a:r>
            <a:r>
              <a:rPr lang="en"/>
              <a:t>, we can use this to find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that frequently appear near each other!</a:t>
            </a:r>
            <a:endParaRPr/>
          </a:p>
        </p:txBody>
      </p:sp>
      <p:pic>
        <p:nvPicPr>
          <p:cNvPr id="86" name="Google Shape;86;g3baf4acbdf2_0_84" title="Screenshot 2026-01-20 at 10.46.2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75" y="3875150"/>
            <a:ext cx="7086051" cy="23882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f4acbdf2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merge_pair()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g3baf4acbdf2_0_9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Last class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replace_pairs()</a:t>
            </a:r>
            <a:r>
              <a:rPr lang="en"/>
              <a:t> which we can use to merge the frequent pairs into new, larger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!</a:t>
            </a:r>
            <a:endParaRPr/>
          </a:p>
        </p:txBody>
      </p:sp>
      <p:pic>
        <p:nvPicPr>
          <p:cNvPr id="93" name="Google Shape;93;g3baf4acbdf2_0_90" title="Screenshot 2026-01-21 at 9.48.0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938" y="3211350"/>
            <a:ext cx="5718126" cy="33565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af4acbdf2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Classes</a:t>
            </a:r>
            <a:endParaRPr/>
          </a:p>
        </p:txBody>
      </p:sp>
      <p:sp>
        <p:nvSpPr>
          <p:cNvPr id="99" name="Google Shape;99;g3baf4acbdf2_0_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is a data type that defines both data, and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lang="en"/>
              <a:t> used to manipulate the data. A Specific instances of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are called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objects</a:t>
            </a:r>
            <a:r>
              <a:rPr lang="en"/>
              <a:t>.</a:t>
            </a:r>
            <a:endParaRPr/>
          </a:p>
        </p:txBody>
      </p:sp>
      <p:pic>
        <p:nvPicPr>
          <p:cNvPr id="100" name="Google Shape;100;g3baf4acbdf2_0_12" title="Screenshot 2026-01-20 at 11.40.30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643" y="3590925"/>
            <a:ext cx="5326725" cy="12596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g3baf4acbdf2_0_12" title="Screenshot 2026-01-20 at 11.41.41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675" y="5098875"/>
            <a:ext cx="7328650" cy="6548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g3baf4acbdf2_0_12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use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dir(class)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the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af4acbdf2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Simple_Tokenizer()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" name="Google Shape;108;g3baf4acbdf2_0_4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can put all of this together in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to create a </a:t>
            </a:r>
            <a:r>
              <a:rPr b="1" lang="en">
                <a:solidFill>
                  <a:srgbClr val="002B5B"/>
                </a:solidFill>
              </a:rPr>
              <a:t>tokenizer</a:t>
            </a:r>
            <a:r>
              <a:rPr lang="en"/>
              <a:t> we can re-use!</a:t>
            </a:r>
            <a:endParaRPr/>
          </a:p>
        </p:txBody>
      </p:sp>
      <p:pic>
        <p:nvPicPr>
          <p:cNvPr id="109" name="Google Shape;109;g3baf4acbdf2_0_49" title="Screenshot 2026-01-22 at 11.30.09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50" y="3510199"/>
            <a:ext cx="7595100" cy="7454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f4acbdf2_0_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“tonight?”</a:t>
            </a:r>
            <a:r>
              <a:rPr lang="en"/>
              <a:t> vs. </a:t>
            </a: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“tonight”</a:t>
            </a:r>
            <a:endParaRPr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g3baf4acbdf2_0_6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This simple tokenizer works, but it seems very silly that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“tonight?”</a:t>
            </a:r>
            <a:r>
              <a:rPr lang="en"/>
              <a:t> is a different token than </a:t>
            </a:r>
            <a:r>
              <a:rPr b="1" lang="en">
                <a:solidFill>
                  <a:srgbClr val="A31415"/>
                </a:solidFill>
              </a:rPr>
              <a:t>“tonight”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002B5B"/>
                </a:solidFill>
              </a:rPr>
              <a:t>BPE</a:t>
            </a:r>
            <a:r>
              <a:rPr lang="en"/>
              <a:t> is excellent at breaking down words statistically, but </a:t>
            </a:r>
            <a:r>
              <a:rPr b="1" lang="en">
                <a:solidFill>
                  <a:srgbClr val="A31415"/>
                </a:solidFill>
              </a:rPr>
              <a:t>it can make suboptimal merges</a:t>
            </a:r>
            <a:r>
              <a:rPr lang="en"/>
              <a:t> like combining punctuation with words.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409de4d6_0_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Regex</a:t>
            </a:r>
            <a:endParaRPr/>
          </a:p>
        </p:txBody>
      </p:sp>
      <p:sp>
        <p:nvSpPr>
          <p:cNvPr id="121" name="Google Shape;121;g3b8409de4d6_0_118"/>
          <p:cNvSpPr txBox="1"/>
          <p:nvPr>
            <p:ph idx="1" type="body"/>
          </p:nvPr>
        </p:nvSpPr>
        <p:spPr>
          <a:xfrm>
            <a:off x="457200" y="1600200"/>
            <a:ext cx="8229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002B5B"/>
                </a:solidFill>
              </a:rPr>
              <a:t>Regex</a:t>
            </a:r>
            <a:r>
              <a:rPr lang="en"/>
              <a:t> allows us to define patterns that we can use to filter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g3b8409de4d6_0_118"/>
          <p:cNvSpPr txBox="1"/>
          <p:nvPr/>
        </p:nvSpPr>
        <p:spPr>
          <a:xfrm>
            <a:off x="503850" y="51411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super confusing and almost a language unto itself, </a:t>
            </a: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only sickos have it memorized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" sz="1800" u="none" cap="none" strike="noStrike">
                <a:solidFill>
                  <a:srgbClr val="465510"/>
                </a:solidFill>
                <a:latin typeface="Arial"/>
                <a:ea typeface="Arial"/>
                <a:cs typeface="Arial"/>
                <a:sym typeface="Arial"/>
              </a:rPr>
              <a:t>Just use a cheat sheet or ask chat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b8409de4d6_0_118"/>
          <p:cNvPicPr preferRelativeResize="0"/>
          <p:nvPr/>
        </p:nvPicPr>
        <p:blipFill rotWithShape="1">
          <a:blip r:embed="rId3">
            <a:alphaModFix/>
          </a:blip>
          <a:srcRect b="5479" l="0" r="0" t="5860"/>
          <a:stretch/>
        </p:blipFill>
        <p:spPr>
          <a:xfrm>
            <a:off x="1764750" y="2603800"/>
            <a:ext cx="5614500" cy="25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8409de4d6_0_118"/>
          <p:cNvSpPr txBox="1"/>
          <p:nvPr/>
        </p:nvSpPr>
        <p:spPr>
          <a:xfrm>
            <a:off x="503850" y="58401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short for </a:t>
            </a:r>
            <a:r>
              <a:rPr b="1" i="0" lang="en" sz="18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“regular expression”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“rational expression”) and I actually met one of the creators while interviewing at Princeton!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38ea6dd9_0_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Regex in Tokenization</a:t>
            </a:r>
            <a:endParaRPr/>
          </a:p>
        </p:txBody>
      </p:sp>
      <p:sp>
        <p:nvSpPr>
          <p:cNvPr id="130" name="Google Shape;130;g3b938ea6dd9_0_93"/>
          <p:cNvSpPr txBox="1"/>
          <p:nvPr/>
        </p:nvSpPr>
        <p:spPr>
          <a:xfrm>
            <a:off x="457200" y="1417650"/>
            <a:ext cx="8229600" cy="5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can do is pre-split our text based on linguistic “landmarks” like whitespace and punctuation using </a:t>
            </a:r>
            <a:r>
              <a:rPr b="1" i="0" lang="en" sz="3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</a:t>
            </a:r>
            <a:endParaRPr b="1" i="0" sz="3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</a:t>
            </a:r>
            <a:r>
              <a:rPr b="1" i="0" lang="en" sz="3000" u="none" cap="none" strike="noStrike">
                <a:solidFill>
                  <a:srgbClr val="465510"/>
                </a:solidFill>
                <a:latin typeface="Arial"/>
                <a:ea typeface="Arial"/>
                <a:cs typeface="Arial"/>
                <a:sym typeface="Arial"/>
              </a:rPr>
              <a:t> acts as a "pre-filter"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prevent these issues, ensuring that letters, numbers, punctuation, and whitespace split.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b938ea6dd9_0_93"/>
          <p:cNvSpPr txBox="1"/>
          <p:nvPr/>
        </p:nvSpPr>
        <p:spPr>
          <a:xfrm>
            <a:off x="331200" y="3200400"/>
            <a:ext cx="8481600" cy="15675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(r_t.chunk(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"No cap are u rolling the party tonight?"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i="0" lang="en" sz="1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'(?i:[sdmt]|ll|ve|re)|[^\r\n\p{L}\p{N}]?+\p{L}+|\p{N}{1,3}| ?[^\s\p{L}\p{N}]++[\r\n]*|\s*[\r\n]|\s+(?!\S)|\s+</a:t>
            </a:r>
            <a:endParaRPr b="1" i="0" sz="1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'No'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cap'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are'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u'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rolling'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the'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party'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tonight'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'?'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eee67e43_0_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B5B"/>
                </a:solidFill>
              </a:rPr>
              <a:t>Code Copy →</a:t>
            </a:r>
            <a:r>
              <a:rPr lang="en">
                <a:solidFill>
                  <a:srgbClr val="DCB439"/>
                </a:solidFill>
              </a:rPr>
              <a:t> </a:t>
            </a:r>
            <a:r>
              <a:rPr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ab 01</a:t>
            </a:r>
            <a:endParaRPr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g3bbeee67e43_0_30"/>
          <p:cNvSpPr txBox="1"/>
          <p:nvPr>
            <p:ph idx="1" type="body"/>
          </p:nvPr>
        </p:nvSpPr>
        <p:spPr>
          <a:xfrm>
            <a:off x="457200" y="1600200"/>
            <a:ext cx="8229600" cy="20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01</a:t>
            </a:r>
            <a:r>
              <a:rPr lang="en"/>
              <a:t> will be a guided walkthrough of programming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RegexTokenizer() class </a:t>
            </a:r>
            <a:r>
              <a:rPr lang="en"/>
              <a:t>which will be the first piece of code for our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r>
              <a:rPr lang="en"/>
              <a:t> we’re building this semester.</a:t>
            </a:r>
            <a:endParaRPr/>
          </a:p>
        </p:txBody>
      </p:sp>
      <p:pic>
        <p:nvPicPr>
          <p:cNvPr id="138" name="Google Shape;138;g3bbeee67e43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7037" y="3766943"/>
            <a:ext cx="3010832" cy="22846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beee67e43_0_30"/>
          <p:cNvSpPr/>
          <p:nvPr/>
        </p:nvSpPr>
        <p:spPr>
          <a:xfrm>
            <a:off x="3055086" y="5743857"/>
            <a:ext cx="1157700" cy="720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t/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bbeee67e43_0_30"/>
          <p:cNvSpPr/>
          <p:nvPr/>
        </p:nvSpPr>
        <p:spPr>
          <a:xfrm>
            <a:off x="3533953" y="5659908"/>
            <a:ext cx="199800" cy="84000"/>
          </a:xfrm>
          <a:prstGeom prst="rect">
            <a:avLst/>
          </a:prstGeom>
          <a:solidFill>
            <a:schemeClr val="lt1"/>
          </a:solidFill>
          <a:ln cap="flat" cmpd="sng" w="4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bbeee67e43_0_30"/>
          <p:cNvSpPr/>
          <p:nvPr/>
        </p:nvSpPr>
        <p:spPr>
          <a:xfrm>
            <a:off x="3414570" y="5796691"/>
            <a:ext cx="439800" cy="1359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g3bbeee67e43_0_30"/>
          <p:cNvCxnSpPr>
            <a:stCxn id="141" idx="0"/>
          </p:cNvCxnSpPr>
          <p:nvPr/>
        </p:nvCxnSpPr>
        <p:spPr>
          <a:xfrm flipH="1" rot="10800000">
            <a:off x="3634470" y="5569891"/>
            <a:ext cx="1200" cy="2268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g3bbeee67e43_0_30"/>
          <p:cNvSpPr/>
          <p:nvPr/>
        </p:nvSpPr>
        <p:spPr>
          <a:xfrm>
            <a:off x="3414570" y="6018512"/>
            <a:ext cx="439800" cy="1359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3bbeee67e43_0_30"/>
          <p:cNvCxnSpPr>
            <a:stCxn id="143" idx="0"/>
            <a:endCxn id="141" idx="2"/>
          </p:cNvCxnSpPr>
          <p:nvPr/>
        </p:nvCxnSpPr>
        <p:spPr>
          <a:xfrm rot="10800000">
            <a:off x="3634470" y="5932712"/>
            <a:ext cx="0" cy="858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g3bbeee67e43_0_30"/>
          <p:cNvSpPr/>
          <p:nvPr/>
        </p:nvSpPr>
        <p:spPr>
          <a:xfrm>
            <a:off x="3104778" y="6240327"/>
            <a:ext cx="1058400" cy="1359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bbeee67e43_0_30"/>
          <p:cNvCxnSpPr>
            <a:stCxn id="145" idx="0"/>
            <a:endCxn id="143" idx="2"/>
          </p:cNvCxnSpPr>
          <p:nvPr/>
        </p:nvCxnSpPr>
        <p:spPr>
          <a:xfrm flipH="1" rot="10800000">
            <a:off x="3633978" y="6154527"/>
            <a:ext cx="600" cy="858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g3bbeee67e43_0_30"/>
          <p:cNvSpPr/>
          <p:nvPr/>
        </p:nvSpPr>
        <p:spPr>
          <a:xfrm>
            <a:off x="3512265" y="4129879"/>
            <a:ext cx="243300" cy="155400"/>
          </a:xfrm>
          <a:prstGeom prst="rect">
            <a:avLst/>
          </a:prstGeom>
          <a:solidFill>
            <a:schemeClr val="lt1"/>
          </a:solidFill>
          <a:ln cap="flat" cmpd="sng" w="4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bbeee67e43_0_30"/>
          <p:cNvSpPr/>
          <p:nvPr/>
        </p:nvSpPr>
        <p:spPr>
          <a:xfrm>
            <a:off x="2946113" y="3766949"/>
            <a:ext cx="1375500" cy="415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t/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bbeee67e43_0_30"/>
          <p:cNvSpPr/>
          <p:nvPr/>
        </p:nvSpPr>
        <p:spPr>
          <a:xfrm>
            <a:off x="3055086" y="3835749"/>
            <a:ext cx="1157700" cy="2781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bbeee67e43_0_30"/>
          <p:cNvCxnSpPr>
            <a:endCxn id="149" idx="2"/>
          </p:cNvCxnSpPr>
          <p:nvPr/>
        </p:nvCxnSpPr>
        <p:spPr>
          <a:xfrm rot="10800000">
            <a:off x="3633936" y="4113849"/>
            <a:ext cx="2100" cy="2010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g3bbeee67e43_0_30"/>
          <p:cNvSpPr/>
          <p:nvPr/>
        </p:nvSpPr>
        <p:spPr>
          <a:xfrm>
            <a:off x="3302300" y="5974450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bbeee67e43_0_30"/>
          <p:cNvSpPr txBox="1"/>
          <p:nvPr/>
        </p:nvSpPr>
        <p:spPr>
          <a:xfrm>
            <a:off x="2086125" y="5974450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01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g3bbeee67e43_0_30"/>
          <p:cNvSpPr/>
          <p:nvPr/>
        </p:nvSpPr>
        <p:spPr>
          <a:xfrm>
            <a:off x="3302300" y="5751250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beee67e43_0_30"/>
          <p:cNvSpPr txBox="1"/>
          <p:nvPr/>
        </p:nvSpPr>
        <p:spPr>
          <a:xfrm>
            <a:off x="2086125" y="5751250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02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g3bbeee67e43_0_30"/>
          <p:cNvSpPr/>
          <p:nvPr/>
        </p:nvSpPr>
        <p:spPr>
          <a:xfrm>
            <a:off x="3302300" y="4285275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bbeee67e43_0_30"/>
          <p:cNvSpPr txBox="1"/>
          <p:nvPr/>
        </p:nvSpPr>
        <p:spPr>
          <a:xfrm>
            <a:off x="2111200" y="4285275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03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7" name="Google Shape;157;g3bbeee67e43_0_30"/>
          <p:cNvCxnSpPr>
            <a:stCxn id="156" idx="3"/>
            <a:endCxn id="155" idx="1"/>
          </p:cNvCxnSpPr>
          <p:nvPr/>
        </p:nvCxnSpPr>
        <p:spPr>
          <a:xfrm>
            <a:off x="2836600" y="4398675"/>
            <a:ext cx="4656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g3bbeee67e43_0_30"/>
          <p:cNvCxnSpPr>
            <a:stCxn id="154" idx="3"/>
            <a:endCxn id="153" idx="1"/>
          </p:cNvCxnSpPr>
          <p:nvPr/>
        </p:nvCxnSpPr>
        <p:spPr>
          <a:xfrm>
            <a:off x="2811525" y="5864650"/>
            <a:ext cx="4908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g3bbeee67e43_0_30"/>
          <p:cNvCxnSpPr>
            <a:stCxn id="152" idx="3"/>
            <a:endCxn id="151" idx="1"/>
          </p:cNvCxnSpPr>
          <p:nvPr/>
        </p:nvCxnSpPr>
        <p:spPr>
          <a:xfrm>
            <a:off x="2811525" y="6087850"/>
            <a:ext cx="4908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g3bbeee67e43_0_30"/>
          <p:cNvSpPr/>
          <p:nvPr/>
        </p:nvSpPr>
        <p:spPr>
          <a:xfrm>
            <a:off x="3277225" y="5186563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bbeee67e43_0_30"/>
          <p:cNvSpPr txBox="1"/>
          <p:nvPr/>
        </p:nvSpPr>
        <p:spPr>
          <a:xfrm>
            <a:off x="2086125" y="5186563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04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2" name="Google Shape;162;g3bbeee67e43_0_30"/>
          <p:cNvCxnSpPr>
            <a:stCxn id="161" idx="3"/>
            <a:endCxn id="160" idx="1"/>
          </p:cNvCxnSpPr>
          <p:nvPr/>
        </p:nvCxnSpPr>
        <p:spPr>
          <a:xfrm>
            <a:off x="2811525" y="5299963"/>
            <a:ext cx="4656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g3bbeee67e43_0_30"/>
          <p:cNvSpPr/>
          <p:nvPr/>
        </p:nvSpPr>
        <p:spPr>
          <a:xfrm>
            <a:off x="2946125" y="3766950"/>
            <a:ext cx="1375500" cy="415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bbeee67e43_0_30"/>
          <p:cNvSpPr txBox="1"/>
          <p:nvPr/>
        </p:nvSpPr>
        <p:spPr>
          <a:xfrm>
            <a:off x="1949775" y="3861450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05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5" name="Google Shape;165;g3bbeee67e43_0_30"/>
          <p:cNvCxnSpPr>
            <a:stCxn id="164" idx="3"/>
            <a:endCxn id="163" idx="1"/>
          </p:cNvCxnSpPr>
          <p:nvPr/>
        </p:nvCxnSpPr>
        <p:spPr>
          <a:xfrm>
            <a:off x="2675175" y="3974850"/>
            <a:ext cx="2709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8409de4d6_0_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nanochat Tokenizer</a:t>
            </a:r>
            <a:endParaRPr/>
          </a:p>
        </p:txBody>
      </p:sp>
      <p:sp>
        <p:nvSpPr>
          <p:cNvPr id="171" name="Google Shape;171;g3b8409de4d6_0_108"/>
          <p:cNvSpPr txBox="1"/>
          <p:nvPr>
            <p:ph idx="1" type="body"/>
          </p:nvPr>
        </p:nvSpPr>
        <p:spPr>
          <a:xfrm>
            <a:off x="457200" y="1600200"/>
            <a:ext cx="8229600" cy="4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u="sng">
                <a:solidFill>
                  <a:srgbClr val="DCB43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nanochat tokenizer code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 u="sng">
                <a:solidFill>
                  <a:srgbClr val="DCB43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tiktoken code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DCB439"/>
              </a:solidFill>
            </a:endParaRPr>
          </a:p>
        </p:txBody>
      </p:sp>
      <p:pic>
        <p:nvPicPr>
          <p:cNvPr id="172" name="Google Shape;172;g3b8409de4d6_0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4574" y="4163449"/>
            <a:ext cx="2494850" cy="24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b8409de4d6_0_108" title="IMG_0529.jpeg"/>
          <p:cNvPicPr preferRelativeResize="0"/>
          <p:nvPr/>
        </p:nvPicPr>
        <p:blipFill rotWithShape="1">
          <a:blip r:embed="rId6">
            <a:alphaModFix/>
          </a:blip>
          <a:srcRect b="0" l="37442" r="50510" t="0"/>
          <a:stretch/>
        </p:blipFill>
        <p:spPr>
          <a:xfrm rot="-5400000">
            <a:off x="4296736" y="701771"/>
            <a:ext cx="550525" cy="6092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Embeddings</a:t>
            </a:r>
            <a:r>
              <a:rPr lang="en">
                <a:solidFill>
                  <a:srgbClr val="DCB439"/>
                </a:solidFill>
              </a:rPr>
              <a:t> 01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beee67e43_0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184" name="Google Shape;184;g3bbeee67e43_0_44"/>
          <p:cNvSpPr txBox="1"/>
          <p:nvPr>
            <p:ph idx="1" type="body"/>
          </p:nvPr>
        </p:nvSpPr>
        <p:spPr>
          <a:xfrm>
            <a:off x="457200" y="1600200"/>
            <a:ext cx="8229600" cy="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515"/>
                </a:solidFill>
              </a:rPr>
              <a:t>Are we actually gaining anything from this?</a:t>
            </a:r>
            <a:endParaRPr b="1">
              <a:solidFill>
                <a:srgbClr val="A31515"/>
              </a:solidFill>
            </a:endParaRPr>
          </a:p>
        </p:txBody>
      </p:sp>
      <p:pic>
        <p:nvPicPr>
          <p:cNvPr id="185" name="Google Shape;185;g3bbeee67e43_0_44" title="Screenshot 2026-01-27 at 11.03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588" y="2292300"/>
            <a:ext cx="6274823" cy="384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bbeee67e43_0_44" title="Screenshot 2026-01-27 at 11.04.1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4602" y="6135868"/>
            <a:ext cx="6274799" cy="48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beee67e43_0_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pic>
        <p:nvPicPr>
          <p:cNvPr id="192" name="Google Shape;192;g3bbeee67e43_0_53" title="Screenshot 2026-01-27 at 11.06.1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" y="1417650"/>
            <a:ext cx="5444989" cy="40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bbeee67e43_0_53" title="Screenshot 2026-01-27 at 11.06.4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9" y="5489746"/>
            <a:ext cx="5444989" cy="24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bbeee67e43_0_53" title="Screenshot 2026-01-27 at 11.12.0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681" y="274650"/>
            <a:ext cx="4300518" cy="170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bbeee67e43_0_53" title="Screenshot 2026-01-27 at 11.12.43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4673" y="1988409"/>
            <a:ext cx="4300518" cy="2632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bbeee67e43_0_53" title="Screenshot 2026-01-27 at 11.12.59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4675" y="4625225"/>
            <a:ext cx="4300525" cy="21991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bbeee67e43_0_53"/>
          <p:cNvSpPr/>
          <p:nvPr/>
        </p:nvSpPr>
        <p:spPr>
          <a:xfrm>
            <a:off x="557725" y="4869025"/>
            <a:ext cx="420000" cy="219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beee67e43_0_53"/>
          <p:cNvSpPr/>
          <p:nvPr/>
        </p:nvSpPr>
        <p:spPr>
          <a:xfrm>
            <a:off x="2088750" y="5503900"/>
            <a:ext cx="505500" cy="219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g3bbeee67e43_0_53"/>
          <p:cNvCxnSpPr>
            <a:stCxn id="197" idx="3"/>
            <a:endCxn id="198" idx="0"/>
          </p:cNvCxnSpPr>
          <p:nvPr/>
        </p:nvCxnSpPr>
        <p:spPr>
          <a:xfrm>
            <a:off x="977725" y="4978975"/>
            <a:ext cx="1363800" cy="5250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g3bbeee67e43_0_53"/>
          <p:cNvSpPr/>
          <p:nvPr/>
        </p:nvSpPr>
        <p:spPr>
          <a:xfrm>
            <a:off x="4538675" y="4384350"/>
            <a:ext cx="839400" cy="4848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bbeee67e43_0_53"/>
          <p:cNvSpPr/>
          <p:nvPr/>
        </p:nvSpPr>
        <p:spPr>
          <a:xfrm>
            <a:off x="8327950" y="804000"/>
            <a:ext cx="358800" cy="315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beee67e43_0_53"/>
          <p:cNvSpPr/>
          <p:nvPr/>
        </p:nvSpPr>
        <p:spPr>
          <a:xfrm>
            <a:off x="5543400" y="1316800"/>
            <a:ext cx="1600500" cy="315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g3bbeee67e43_0_53"/>
          <p:cNvCxnSpPr>
            <a:endCxn id="201" idx="2"/>
          </p:cNvCxnSpPr>
          <p:nvPr/>
        </p:nvCxnSpPr>
        <p:spPr>
          <a:xfrm flipH="1" rot="10800000">
            <a:off x="7143850" y="1119900"/>
            <a:ext cx="1363500" cy="3549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g3bbeee67e43_0_53"/>
          <p:cNvCxnSpPr>
            <a:stCxn id="200" idx="3"/>
            <a:endCxn id="202" idx="2"/>
          </p:cNvCxnSpPr>
          <p:nvPr/>
        </p:nvCxnSpPr>
        <p:spPr>
          <a:xfrm flipH="1" rot="10800000">
            <a:off x="5378075" y="1632750"/>
            <a:ext cx="965700" cy="29940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g3bbeee67e43_0_53"/>
          <p:cNvSpPr/>
          <p:nvPr/>
        </p:nvSpPr>
        <p:spPr>
          <a:xfrm>
            <a:off x="4617275" y="1738925"/>
            <a:ext cx="420000" cy="315900"/>
          </a:xfrm>
          <a:prstGeom prst="rect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beee67e43_0_53"/>
          <p:cNvSpPr/>
          <p:nvPr/>
        </p:nvSpPr>
        <p:spPr>
          <a:xfrm>
            <a:off x="2594250" y="5503900"/>
            <a:ext cx="420000" cy="219900"/>
          </a:xfrm>
          <a:prstGeom prst="rect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g3bbeee67e43_0_53"/>
          <p:cNvCxnSpPr>
            <a:stCxn id="206" idx="0"/>
            <a:endCxn id="205" idx="1"/>
          </p:cNvCxnSpPr>
          <p:nvPr/>
        </p:nvCxnSpPr>
        <p:spPr>
          <a:xfrm rot="-5400000">
            <a:off x="1907250" y="2794000"/>
            <a:ext cx="3606900" cy="1812900"/>
          </a:xfrm>
          <a:prstGeom prst="curvedConnector2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g3bbeee67e43_0_53"/>
          <p:cNvCxnSpPr>
            <a:stCxn id="198" idx="0"/>
            <a:endCxn id="200" idx="1"/>
          </p:cNvCxnSpPr>
          <p:nvPr/>
        </p:nvCxnSpPr>
        <p:spPr>
          <a:xfrm rot="-5400000">
            <a:off x="3001500" y="3966700"/>
            <a:ext cx="877200" cy="21972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beee67e43_0_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GPA Predicting Dataset</a:t>
            </a:r>
            <a:endParaRPr/>
          </a:p>
        </p:txBody>
      </p:sp>
      <p:sp>
        <p:nvSpPr>
          <p:cNvPr id="214" name="Google Shape;214;g3bbeee67e43_0_9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Lets design a dataset to </a:t>
            </a:r>
            <a:r>
              <a:rPr b="1" lang="en">
                <a:solidFill>
                  <a:srgbClr val="A31515"/>
                </a:solidFill>
              </a:rPr>
              <a:t>predict whether incoming students will graduate or not</a:t>
            </a:r>
            <a:endParaRPr b="1">
              <a:solidFill>
                <a:srgbClr val="A3151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beee67e43_0_1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Deep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g3bbeee67e43_0_137"/>
          <p:cNvSpPr txBox="1"/>
          <p:nvPr>
            <p:ph idx="1" type="body"/>
          </p:nvPr>
        </p:nvSpPr>
        <p:spPr>
          <a:xfrm>
            <a:off x="457200" y="1600200"/>
            <a:ext cx="8229600" cy="1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 </a:t>
            </a:r>
            <a:r>
              <a:rPr lang="en"/>
              <a:t>is a collection of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 vectors</a:t>
            </a:r>
            <a:r>
              <a:rPr lang="en"/>
              <a:t> for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samples</a:t>
            </a:r>
            <a:r>
              <a:rPr lang="en"/>
              <a:t> that are </a:t>
            </a:r>
            <a:r>
              <a:rPr b="1" lang="en">
                <a:solidFill>
                  <a:srgbClr val="DCB439"/>
                </a:solidFill>
              </a:rPr>
              <a:t>ideally representative of the population</a:t>
            </a:r>
            <a:r>
              <a:rPr lang="en"/>
              <a:t> we’re interested 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beee67e43_0_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Deep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g3bbeee67e43_0_1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</a:t>
            </a:r>
            <a:r>
              <a:rPr b="1" lang="en">
                <a:solidFill>
                  <a:srgbClr val="A31515"/>
                </a:solidFill>
              </a:rPr>
              <a:t>deep learning</a:t>
            </a:r>
            <a:r>
              <a:rPr lang="en"/>
              <a:t>,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</a:t>
            </a:r>
            <a:r>
              <a:rPr lang="en"/>
              <a:t> is a way to describe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</a:t>
            </a:r>
            <a:endParaRPr b="1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</a:t>
            </a:r>
            <a:r>
              <a:rPr lang="en"/>
              <a:t> is one individual “thing” in our dataset. Maybe a bird, a flower, or a person.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beee67e43_0_1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Deep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 vector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g3bbeee67e43_0_1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 vector</a:t>
            </a:r>
            <a:r>
              <a:rPr lang="en"/>
              <a:t> then is a representation of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 </a:t>
            </a:r>
            <a:r>
              <a:rPr lang="en"/>
              <a:t>in some high-dimensional space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beee67e43_0_1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Machine</a:t>
            </a:r>
            <a:r>
              <a:rPr lang="en">
                <a:solidFill>
                  <a:srgbClr val="A31415"/>
                </a:solidFill>
              </a:rPr>
              <a:t>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Classification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g3bbeee67e43_0_147"/>
          <p:cNvSpPr txBox="1"/>
          <p:nvPr>
            <p:ph idx="1" type="body"/>
          </p:nvPr>
        </p:nvSpPr>
        <p:spPr>
          <a:xfrm>
            <a:off x="457200" y="1600200"/>
            <a:ext cx="8229600" cy="4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</a:t>
            </a:r>
            <a:r>
              <a:rPr b="1" lang="en">
                <a:solidFill>
                  <a:srgbClr val="A31515"/>
                </a:solidFill>
              </a:rPr>
              <a:t>machine learning</a:t>
            </a:r>
            <a:r>
              <a:rPr lang="en"/>
              <a:t>,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classification</a:t>
            </a:r>
            <a:r>
              <a:rPr b="1" lang="en"/>
              <a:t> </a:t>
            </a:r>
            <a:r>
              <a:rPr lang="en"/>
              <a:t>task</a:t>
            </a:r>
            <a:r>
              <a:rPr lang="en"/>
              <a:t> is one in which we’re </a:t>
            </a:r>
            <a:r>
              <a:rPr lang="en"/>
              <a:t>trying</a:t>
            </a:r>
            <a:r>
              <a:rPr lang="en"/>
              <a:t> to </a:t>
            </a:r>
            <a:r>
              <a:rPr b="1" lang="en">
                <a:solidFill>
                  <a:srgbClr val="465510"/>
                </a:solidFill>
              </a:rPr>
              <a:t>predict a category or label</a:t>
            </a:r>
            <a:r>
              <a:rPr lang="en"/>
              <a:t> given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For our student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</a:t>
            </a:r>
            <a:r>
              <a:rPr lang="en"/>
              <a:t>, our categories are: </a:t>
            </a:r>
            <a:r>
              <a:rPr b="1" lang="en">
                <a:solidFill>
                  <a:srgbClr val="DCB439"/>
                </a:solidFill>
              </a:rPr>
              <a:t>“Will Graduate”</a:t>
            </a:r>
            <a:r>
              <a:rPr lang="en"/>
              <a:t> and </a:t>
            </a:r>
            <a:r>
              <a:rPr b="1" lang="en">
                <a:solidFill>
                  <a:srgbClr val="DCB439"/>
                </a:solidFill>
              </a:rPr>
              <a:t>“Will not graduate”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beee67e43_0_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Machine</a:t>
            </a:r>
            <a:r>
              <a:rPr lang="en">
                <a:solidFill>
                  <a:srgbClr val="A31415"/>
                </a:solidFill>
              </a:rPr>
              <a:t>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Supervised Learning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" name="Google Shape;244;g3bbeee67e43_0_142"/>
          <p:cNvSpPr txBox="1"/>
          <p:nvPr>
            <p:ph idx="1" type="body"/>
          </p:nvPr>
        </p:nvSpPr>
        <p:spPr>
          <a:xfrm>
            <a:off x="457200" y="1600200"/>
            <a:ext cx="82296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call it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supervised learning</a:t>
            </a:r>
            <a:r>
              <a:rPr lang="en"/>
              <a:t> when we have examples of the correct answer in our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</a:t>
            </a:r>
            <a:r>
              <a:rPr lang="en"/>
              <a:t>, because </a:t>
            </a:r>
            <a:r>
              <a:rPr b="1" lang="en">
                <a:solidFill>
                  <a:srgbClr val="465510"/>
                </a:solidFill>
              </a:rPr>
              <a:t>we can tell our model if it guessed correctly or not</a:t>
            </a:r>
            <a:r>
              <a:rPr lang="en"/>
              <a:t>. We call these correct answers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ground truth</a:t>
            </a:r>
            <a:endParaRPr b="1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beee67e43_0_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- Embeddings</a:t>
            </a:r>
            <a:endParaRPr/>
          </a:p>
        </p:txBody>
      </p:sp>
      <p:sp>
        <p:nvSpPr>
          <p:cNvPr id="250" name="Google Shape;250;g3bbeee67e43_0_9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