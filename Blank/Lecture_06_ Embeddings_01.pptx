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gmWI7UKz6TTUaE2d1VeW70kU9+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customschemas.google.com/relationships/presentationmetadata" Target="metadata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bbeee67e43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g3bbeee67e4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c33f833e2_0_6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3bc33f833e2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beee67e43_0_3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g3bbeee67e4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c33f833e2_0_29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bc33f833e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bc35b5116e_0_2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3bc35b5116e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beee67e43_0_4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g3bbeee67e4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bbeee67e43_0_5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bbeee67e43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c35b5116e_0_10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c35b5116e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beee67e43_0_9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g3bbeee67e43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c35b5116e_0_9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bc35b5116e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beee67e43_0_13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bbeee67e43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beee67e43_0_1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g3bbeee67e43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beee67e43_0_13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bbeee67e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c35b5116e_0_3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c35b5116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c35b5116e_0_7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c35b5116e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c35b5116e_0_7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bc35b5116e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c35b5116e_0_8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c35b5116e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c35b5116e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bc35b511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beee67e43_0_14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g3bbeee67e43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c35b5116e_0_5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c35b5116e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c35b5116e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c35b5116e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c35b5116e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c35b5116e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beee67e43_0_142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g3bbeee67e43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bc35b5116e_0_107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bc35b5116e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3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Given two points as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tuples</a:t>
            </a:r>
            <a:r>
              <a:rPr lang="en"/>
              <a:t>, write a function to calculate the distance between the two points.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distance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2, 2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),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1, 1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))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600"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600">
                <a:solidFill>
                  <a:srgbClr val="465510"/>
                </a:solidFill>
                <a:latin typeface="Consolas"/>
                <a:ea typeface="Consolas"/>
                <a:cs typeface="Consolas"/>
                <a:sym typeface="Consolas"/>
              </a:rPr>
              <a:t>1.4142135623731</a:t>
            </a:r>
            <a:endParaRPr b="1" sz="2600">
              <a:solidFill>
                <a:srgbClr val="46551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6" name="Google Shape;36;g3b8409de4d6_0_50"/>
          <p:cNvPicPr preferRelativeResize="0"/>
          <p:nvPr/>
        </p:nvPicPr>
        <p:blipFill rotWithShape="1">
          <a:blip r:embed="rId3">
            <a:alphaModFix/>
          </a:blip>
          <a:srcRect b="5565" l="0" r="0" t="28104"/>
          <a:stretch/>
        </p:blipFill>
        <p:spPr>
          <a:xfrm>
            <a:off x="4233000" y="4084575"/>
            <a:ext cx="4512675" cy="16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g3b8409de4d6_0_50"/>
          <p:cNvSpPr txBox="1"/>
          <p:nvPr/>
        </p:nvSpPr>
        <p:spPr>
          <a:xfrm>
            <a:off x="457200" y="4410288"/>
            <a:ext cx="3905700" cy="103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rgbClr val="000000"/>
                </a:solidFill>
              </a:rPr>
              <a:t> We can </a:t>
            </a:r>
            <a:r>
              <a:rPr b="1" lang="en" sz="18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import math</a:t>
            </a:r>
            <a:r>
              <a:rPr lang="en" sz="1800">
                <a:solidFill>
                  <a:srgbClr val="000000"/>
                </a:solidFill>
              </a:rPr>
              <a:t> a</a:t>
            </a:r>
            <a:r>
              <a:rPr lang="en" sz="1800"/>
              <a:t>nd use the </a:t>
            </a:r>
            <a:r>
              <a:rPr b="1" lang="en" sz="1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math.sqrt()</a:t>
            </a:r>
            <a:r>
              <a:rPr lang="en" sz="1800"/>
              <a:t> and </a:t>
            </a:r>
            <a:r>
              <a:rPr b="1" lang="en" sz="180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math.pow()</a:t>
            </a:r>
            <a:r>
              <a:rPr lang="en" sz="1800"/>
              <a:t> functions!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01 Solution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3" name="Google Shape;43;g3b8409de4d6_0_60" title="Screenshot 2026-01-29 at 11.40.1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875513"/>
            <a:ext cx="8839200" cy="2517219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4" name="Google Shape;44;g3b8409de4d6_0_60" title="Screenshot 2026-01-29 at 11.42.2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70038"/>
            <a:ext cx="8839200" cy="2002631"/>
          </a:xfrm>
          <a:prstGeom prst="rect">
            <a:avLst/>
          </a:prstGeom>
          <a:noFill/>
          <a:ln cap="flat" cmpd="sng" w="38100">
            <a:solidFill>
              <a:srgbClr val="46551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bbeee67e43_0_26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Embeddings 01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c33f833e2_0_6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DCB439"/>
                </a:solidFill>
              </a:rPr>
              <a:t>Homework 02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" name="Google Shape;55;g3bc33f833e2_0_67"/>
          <p:cNvSpPr txBox="1"/>
          <p:nvPr>
            <p:ph idx="1" type="body"/>
          </p:nvPr>
        </p:nvSpPr>
        <p:spPr>
          <a:xfrm>
            <a:off x="457200" y="1600200"/>
            <a:ext cx="8229600" cy="47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There was a question last class of whether, with only one lecture on </a:t>
            </a:r>
            <a:r>
              <a:rPr b="1" lang="en">
                <a:solidFill>
                  <a:srgbClr val="002B5B"/>
                </a:solidFill>
              </a:rPr>
              <a:t>embeddings</a:t>
            </a:r>
            <a:r>
              <a:rPr lang="en"/>
              <a:t>, would it be doable. I think it should be, but if you have issues or questions on it please ask!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Due to slowing the class down a bit, </a:t>
            </a:r>
            <a:r>
              <a:rPr b="1" lang="en">
                <a:solidFill>
                  <a:srgbClr val="DCB439"/>
                </a:solidFill>
              </a:rPr>
              <a:t>Homework 03</a:t>
            </a:r>
            <a:r>
              <a:rPr lang="en"/>
              <a:t> will also be on </a:t>
            </a:r>
            <a:r>
              <a:rPr b="1" lang="en">
                <a:solidFill>
                  <a:srgbClr val="002B5B"/>
                </a:solidFill>
              </a:rPr>
              <a:t>embeddings</a:t>
            </a:r>
            <a:r>
              <a:rPr lang="en"/>
              <a:t>, though taking it a step or two further.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beee67e43_0_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Labs</a:t>
            </a:r>
            <a:endParaRPr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" name="Google Shape;61;g3bbeee67e43_0_30"/>
          <p:cNvSpPr txBox="1"/>
          <p:nvPr>
            <p:ph idx="1" type="body"/>
          </p:nvPr>
        </p:nvSpPr>
        <p:spPr>
          <a:xfrm>
            <a:off x="457200" y="1600200"/>
            <a:ext cx="5001900" cy="43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Lab 01</a:t>
            </a:r>
            <a:r>
              <a:rPr lang="en"/>
              <a:t> will be a guided walkthrough of </a:t>
            </a:r>
            <a:r>
              <a:rPr b="1" lang="en">
                <a:solidFill>
                  <a:srgbClr val="002B5B"/>
                </a:solidFill>
              </a:rPr>
              <a:t>tokenization</a:t>
            </a:r>
            <a:r>
              <a:rPr lang="en"/>
              <a:t> and programming the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RegexTokenizer() class </a:t>
            </a:r>
            <a:r>
              <a:rPr lang="en"/>
              <a:t>which will be the first piece of code for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LLM</a:t>
            </a:r>
            <a:r>
              <a:rPr lang="en"/>
              <a:t> we’re building this semester.</a:t>
            </a:r>
            <a:endParaRPr/>
          </a:p>
        </p:txBody>
      </p:sp>
      <p:pic>
        <p:nvPicPr>
          <p:cNvPr id="62" name="Google Shape;62;g3bbeee67e43_0_30" title="transformer_arch@2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0522" y="159938"/>
            <a:ext cx="3632302" cy="6538126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g3bbeee67e43_0_30"/>
          <p:cNvSpPr/>
          <p:nvPr/>
        </p:nvSpPr>
        <p:spPr>
          <a:xfrm>
            <a:off x="5397500" y="5709300"/>
            <a:ext cx="2933700" cy="8439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bbeee67e43_0_30"/>
          <p:cNvSpPr/>
          <p:nvPr/>
        </p:nvSpPr>
        <p:spPr>
          <a:xfrm>
            <a:off x="457200" y="1600200"/>
            <a:ext cx="1384200" cy="597000"/>
          </a:xfrm>
          <a:prstGeom prst="rect">
            <a:avLst/>
          </a:prstGeom>
          <a:noFill/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g3bbeee67e43_0_30"/>
          <p:cNvCxnSpPr>
            <a:stCxn id="64" idx="1"/>
            <a:endCxn id="63" idx="1"/>
          </p:cNvCxnSpPr>
          <p:nvPr/>
        </p:nvCxnSpPr>
        <p:spPr>
          <a:xfrm>
            <a:off x="457200" y="1898700"/>
            <a:ext cx="4940400" cy="4232700"/>
          </a:xfrm>
          <a:prstGeom prst="bentConnector3">
            <a:avLst>
              <a:gd fmla="val -4820" name="adj1"/>
            </a:avLst>
          </a:prstGeom>
          <a:noFill/>
          <a:ln cap="flat" cmpd="sng" w="28575">
            <a:solidFill>
              <a:srgbClr val="A31515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bc33f833e2_0_29"/>
          <p:cNvSpPr txBox="1"/>
          <p:nvPr>
            <p:ph type="title"/>
          </p:nvPr>
        </p:nvSpPr>
        <p:spPr>
          <a:xfrm>
            <a:off x="3974850" y="1913275"/>
            <a:ext cx="5053200" cy="808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>
                <a:solidFill>
                  <a:srgbClr val="DCB439"/>
                </a:solidFill>
              </a:rPr>
              <a:t>Where were we?</a:t>
            </a:r>
            <a:endParaRPr sz="4800">
              <a:solidFill>
                <a:srgbClr val="DCB439"/>
              </a:solidFill>
            </a:endParaRPr>
          </a:p>
        </p:txBody>
      </p:sp>
      <p:cxnSp>
        <p:nvCxnSpPr>
          <p:cNvPr id="71" name="Google Shape;71;g3bc33f833e2_0_29"/>
          <p:cNvCxnSpPr>
            <a:stCxn id="70" idx="1"/>
            <a:endCxn id="72" idx="3"/>
          </p:cNvCxnSpPr>
          <p:nvPr/>
        </p:nvCxnSpPr>
        <p:spPr>
          <a:xfrm flipH="1">
            <a:off x="3359250" y="2317675"/>
            <a:ext cx="615600" cy="3719100"/>
          </a:xfrm>
          <a:prstGeom prst="curvedConnector3">
            <a:avLst>
              <a:gd fmla="val 50012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73" name="Google Shape;73;g3bc33f833e2_0_29" title="transformer_arch@2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375" y="303250"/>
            <a:ext cx="3473050" cy="625150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bc33f833e2_0_29"/>
          <p:cNvSpPr/>
          <p:nvPr/>
        </p:nvSpPr>
        <p:spPr>
          <a:xfrm>
            <a:off x="457200" y="5607700"/>
            <a:ext cx="2901900" cy="8583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g3bc33f833e2_0_29"/>
          <p:cNvSpPr txBox="1"/>
          <p:nvPr/>
        </p:nvSpPr>
        <p:spPr>
          <a:xfrm>
            <a:off x="3993500" y="2892500"/>
            <a:ext cx="5053200" cy="24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</a:rPr>
              <a:t>In the prior 3 lectures we </a:t>
            </a:r>
            <a:r>
              <a:rPr lang="en" sz="3000">
                <a:solidFill>
                  <a:schemeClr val="dk1"/>
                </a:solidFill>
              </a:rPr>
              <a:t>focused on </a:t>
            </a:r>
            <a:r>
              <a:rPr b="1" lang="en" sz="3000">
                <a:solidFill>
                  <a:srgbClr val="002B5B"/>
                </a:solidFill>
              </a:rPr>
              <a:t>tokenization</a:t>
            </a:r>
            <a:r>
              <a:rPr lang="en" sz="3000">
                <a:solidFill>
                  <a:schemeClr val="dk1"/>
                </a:solidFill>
              </a:rPr>
              <a:t>, which is </a:t>
            </a:r>
            <a:r>
              <a:rPr b="1" lang="en" sz="3000">
                <a:solidFill>
                  <a:srgbClr val="DCB439"/>
                </a:solidFill>
              </a:rPr>
              <a:t>the first thing that happens</a:t>
            </a:r>
            <a:r>
              <a:rPr lang="en" sz="3000">
                <a:solidFill>
                  <a:schemeClr val="dk1"/>
                </a:solidFill>
              </a:rPr>
              <a:t> when you type your prompt into an </a:t>
            </a:r>
            <a:r>
              <a:rPr b="1" lang="en" sz="3000">
                <a:solidFill>
                  <a:srgbClr val="002B5B"/>
                </a:solidFill>
              </a:rPr>
              <a:t>LLM</a:t>
            </a:r>
            <a:endParaRPr b="1" sz="3000">
              <a:solidFill>
                <a:srgbClr val="002B5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g3bc35b5116e_0_22" title="transformer_arch@2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375" y="303250"/>
            <a:ext cx="3473050" cy="6251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g3bc35b5116e_0_22"/>
          <p:cNvSpPr txBox="1"/>
          <p:nvPr>
            <p:ph type="title"/>
          </p:nvPr>
        </p:nvSpPr>
        <p:spPr>
          <a:xfrm>
            <a:off x="3974950" y="1100850"/>
            <a:ext cx="5053200" cy="808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>
                <a:solidFill>
                  <a:srgbClr val="002B5B"/>
                </a:solidFill>
              </a:rPr>
              <a:t>Where are we?</a:t>
            </a:r>
            <a:endParaRPr sz="4800">
              <a:solidFill>
                <a:srgbClr val="002B5B"/>
              </a:solidFill>
            </a:endParaRPr>
          </a:p>
        </p:txBody>
      </p:sp>
      <p:cxnSp>
        <p:nvCxnSpPr>
          <p:cNvPr id="81" name="Google Shape;81;g3bc35b5116e_0_22"/>
          <p:cNvCxnSpPr>
            <a:stCxn id="80" idx="1"/>
            <a:endCxn id="82" idx="3"/>
          </p:cNvCxnSpPr>
          <p:nvPr/>
        </p:nvCxnSpPr>
        <p:spPr>
          <a:xfrm flipH="1">
            <a:off x="2600650" y="1505250"/>
            <a:ext cx="1374300" cy="3900900"/>
          </a:xfrm>
          <a:prstGeom prst="curvedConnector3">
            <a:avLst>
              <a:gd fmla="val 49996" name="adj1"/>
            </a:avLst>
          </a:prstGeom>
          <a:noFill/>
          <a:ln cap="flat" cmpd="sng" w="285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2" name="Google Shape;82;g3bc35b5116e_0_22"/>
          <p:cNvSpPr/>
          <p:nvPr/>
        </p:nvSpPr>
        <p:spPr>
          <a:xfrm>
            <a:off x="1287950" y="5206450"/>
            <a:ext cx="1312800" cy="3996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g3bc35b5116e_0_22"/>
          <p:cNvSpPr txBox="1"/>
          <p:nvPr/>
        </p:nvSpPr>
        <p:spPr>
          <a:xfrm>
            <a:off x="3993600" y="2080075"/>
            <a:ext cx="5053200" cy="43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</a:rPr>
              <a:t>Today we’re going to start on the step that follows </a:t>
            </a:r>
            <a:r>
              <a:rPr b="1" lang="en" sz="3000">
                <a:solidFill>
                  <a:srgbClr val="002B5B"/>
                </a:solidFill>
              </a:rPr>
              <a:t>tokenization</a:t>
            </a:r>
            <a:r>
              <a:rPr lang="en" sz="3000">
                <a:solidFill>
                  <a:schemeClr val="dk1"/>
                </a:solidFill>
              </a:rPr>
              <a:t>, which is called </a:t>
            </a:r>
            <a:r>
              <a:rPr b="1" lang="en" sz="3000">
                <a:solidFill>
                  <a:srgbClr val="002B5B"/>
                </a:solidFill>
              </a:rPr>
              <a:t>embedding</a:t>
            </a:r>
            <a:r>
              <a:rPr lang="en" sz="3000">
                <a:solidFill>
                  <a:schemeClr val="dk1"/>
                </a:solidFill>
              </a:rPr>
              <a:t>. 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000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A31515"/>
                </a:solidFill>
              </a:rPr>
              <a:t>Understanding the concept of embedding is crucial to understanding deep learning in general.</a:t>
            </a:r>
            <a:endParaRPr b="1" sz="3000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beee67e43_0_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89" name="Google Shape;89;g3bbeee67e43_0_44"/>
          <p:cNvSpPr txBox="1"/>
          <p:nvPr>
            <p:ph idx="1" type="body"/>
          </p:nvPr>
        </p:nvSpPr>
        <p:spPr>
          <a:xfrm>
            <a:off x="457200" y="1600200"/>
            <a:ext cx="8229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515"/>
                </a:solidFill>
              </a:rPr>
              <a:t>Are we actually gaining anything from this?</a:t>
            </a:r>
            <a:endParaRPr b="1">
              <a:solidFill>
                <a:srgbClr val="A31515"/>
              </a:solidFill>
            </a:endParaRPr>
          </a:p>
        </p:txBody>
      </p:sp>
      <p:pic>
        <p:nvPicPr>
          <p:cNvPr id="90" name="Google Shape;90;g3bbeee67e43_0_44" title="Screenshot 2026-01-27 at 11.03.21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4588" y="2292300"/>
            <a:ext cx="6274823" cy="38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3bbeee67e43_0_44" title="Screenshot 2026-01-27 at 11.04.18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34602" y="6135868"/>
            <a:ext cx="6274799" cy="482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beee67e43_0_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Tokenization</a:t>
            </a:r>
            <a:endParaRPr/>
          </a:p>
        </p:txBody>
      </p:sp>
      <p:pic>
        <p:nvPicPr>
          <p:cNvPr id="97" name="Google Shape;97;g3bbeee67e43_0_53" title="Screenshot 2026-01-27 at 11.06.13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8" y="1417650"/>
            <a:ext cx="5444989" cy="407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3bbeee67e43_0_53" title="Screenshot 2026-01-27 at 11.06.43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9" y="5489746"/>
            <a:ext cx="5444989" cy="24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3bbeee67e43_0_53" title="Screenshot 2026-01-27 at 11.12.02 AM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4681" y="274650"/>
            <a:ext cx="4300518" cy="1709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g3bbeee67e43_0_53" title="Screenshot 2026-01-27 at 11.12.43 AM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34673" y="1988409"/>
            <a:ext cx="4300518" cy="26328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g3bbeee67e43_0_53" title="Screenshot 2026-01-27 at 11.12.59 AM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534675" y="4625225"/>
            <a:ext cx="4300525" cy="21991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3bbeee67e43_0_53"/>
          <p:cNvSpPr/>
          <p:nvPr/>
        </p:nvSpPr>
        <p:spPr>
          <a:xfrm>
            <a:off x="557725" y="4869025"/>
            <a:ext cx="4200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bbeee67e43_0_53"/>
          <p:cNvSpPr/>
          <p:nvPr/>
        </p:nvSpPr>
        <p:spPr>
          <a:xfrm>
            <a:off x="2088750" y="5503900"/>
            <a:ext cx="505500" cy="219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4" name="Google Shape;104;g3bbeee67e43_0_53"/>
          <p:cNvCxnSpPr>
            <a:stCxn id="102" idx="3"/>
            <a:endCxn id="103" idx="0"/>
          </p:cNvCxnSpPr>
          <p:nvPr/>
        </p:nvCxnSpPr>
        <p:spPr>
          <a:xfrm>
            <a:off x="977725" y="4978975"/>
            <a:ext cx="1363800" cy="525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g3bbeee67e43_0_53"/>
          <p:cNvSpPr/>
          <p:nvPr/>
        </p:nvSpPr>
        <p:spPr>
          <a:xfrm>
            <a:off x="4538675" y="4384350"/>
            <a:ext cx="839400" cy="4848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bbeee67e43_0_53"/>
          <p:cNvSpPr/>
          <p:nvPr/>
        </p:nvSpPr>
        <p:spPr>
          <a:xfrm>
            <a:off x="8327950" y="804000"/>
            <a:ext cx="3588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3bbeee67e43_0_53"/>
          <p:cNvSpPr/>
          <p:nvPr/>
        </p:nvSpPr>
        <p:spPr>
          <a:xfrm>
            <a:off x="5543400" y="1316800"/>
            <a:ext cx="1600500" cy="315900"/>
          </a:xfrm>
          <a:prstGeom prst="rect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8" name="Google Shape;108;g3bbeee67e43_0_53"/>
          <p:cNvCxnSpPr>
            <a:endCxn id="106" idx="2"/>
          </p:cNvCxnSpPr>
          <p:nvPr/>
        </p:nvCxnSpPr>
        <p:spPr>
          <a:xfrm flipH="1" rot="10800000">
            <a:off x="7143850" y="1119900"/>
            <a:ext cx="1363500" cy="3549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g3bbeee67e43_0_53"/>
          <p:cNvCxnSpPr>
            <a:stCxn id="105" idx="3"/>
            <a:endCxn id="107" idx="2"/>
          </p:cNvCxnSpPr>
          <p:nvPr/>
        </p:nvCxnSpPr>
        <p:spPr>
          <a:xfrm flipH="1" rot="10800000">
            <a:off x="5378075" y="1632750"/>
            <a:ext cx="965700" cy="29940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" name="Google Shape;110;g3bbeee67e43_0_53"/>
          <p:cNvSpPr/>
          <p:nvPr/>
        </p:nvSpPr>
        <p:spPr>
          <a:xfrm>
            <a:off x="4617275" y="1738925"/>
            <a:ext cx="420000" cy="315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bbeee67e43_0_53"/>
          <p:cNvSpPr/>
          <p:nvPr/>
        </p:nvSpPr>
        <p:spPr>
          <a:xfrm>
            <a:off x="2594250" y="5503900"/>
            <a:ext cx="420000" cy="219900"/>
          </a:xfrm>
          <a:prstGeom prst="rect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2" name="Google Shape;112;g3bbeee67e43_0_53"/>
          <p:cNvCxnSpPr>
            <a:stCxn id="111" idx="0"/>
            <a:endCxn id="110" idx="1"/>
          </p:cNvCxnSpPr>
          <p:nvPr/>
        </p:nvCxnSpPr>
        <p:spPr>
          <a:xfrm rot="-5400000">
            <a:off x="1907250" y="2794000"/>
            <a:ext cx="3606900" cy="1812900"/>
          </a:xfrm>
          <a:prstGeom prst="curvedConnector2">
            <a:avLst/>
          </a:prstGeom>
          <a:noFill/>
          <a:ln cap="flat" cmpd="sng" w="38100">
            <a:solidFill>
              <a:srgbClr val="95DC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" name="Google Shape;113;g3bbeee67e43_0_53"/>
          <p:cNvCxnSpPr>
            <a:stCxn id="103" idx="0"/>
            <a:endCxn id="105" idx="1"/>
          </p:cNvCxnSpPr>
          <p:nvPr/>
        </p:nvCxnSpPr>
        <p:spPr>
          <a:xfrm rot="-5400000">
            <a:off x="3001500" y="3966700"/>
            <a:ext cx="877200" cy="2197200"/>
          </a:xfrm>
          <a:prstGeom prst="curvedConnector2">
            <a:avLst/>
          </a:prstGeom>
          <a:noFill/>
          <a:ln cap="flat" cmpd="sng" w="38100">
            <a:solidFill>
              <a:srgbClr val="ABFF95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c35b5116e_0_10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makes words similar?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beee67e43_0_9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GPA Predicting Dataset</a:t>
            </a:r>
            <a:endParaRPr/>
          </a:p>
        </p:txBody>
      </p:sp>
      <p:sp>
        <p:nvSpPr>
          <p:cNvPr id="124" name="Google Shape;124;g3bbeee67e43_0_9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Lets design a dataset to </a:t>
            </a:r>
            <a:r>
              <a:rPr b="1" lang="en">
                <a:solidFill>
                  <a:srgbClr val="A31515"/>
                </a:solidFill>
              </a:rPr>
              <a:t>predict whether incoming students will graduate or not</a:t>
            </a:r>
            <a:endParaRPr b="1">
              <a:solidFill>
                <a:srgbClr val="A31515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c35b5116e_0_9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Space - Embeddings</a:t>
            </a:r>
            <a:endParaRPr/>
          </a:p>
        </p:txBody>
      </p:sp>
      <p:pic>
        <p:nvPicPr>
          <p:cNvPr id="130" name="Google Shape;130;g3bc35b5116e_0_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95238"/>
            <a:ext cx="8839204" cy="3034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beee67e43_0_1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" name="Google Shape;136;g3bbeee67e43_0_137"/>
          <p:cNvSpPr txBox="1"/>
          <p:nvPr>
            <p:ph idx="1" type="body"/>
          </p:nvPr>
        </p:nvSpPr>
        <p:spPr>
          <a:xfrm>
            <a:off x="457200" y="1600200"/>
            <a:ext cx="8229600" cy="17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 </a:t>
            </a:r>
            <a:r>
              <a:rPr lang="en"/>
              <a:t>is a collection of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vectors</a:t>
            </a:r>
            <a:r>
              <a:rPr lang="en"/>
              <a:t> for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samples</a:t>
            </a:r>
            <a:r>
              <a:rPr lang="en"/>
              <a:t> that are </a:t>
            </a:r>
            <a:r>
              <a:rPr b="1" lang="en">
                <a:solidFill>
                  <a:srgbClr val="DCB439"/>
                </a:solidFill>
              </a:rPr>
              <a:t>ideally representative of the population</a:t>
            </a:r>
            <a:r>
              <a:rPr lang="en"/>
              <a:t> we’re interested in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beee67e43_0_1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features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2" name="Google Shape;142;g3bbeee67e43_0_12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deep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</a:t>
            </a:r>
            <a:r>
              <a:rPr lang="en"/>
              <a:t> is a way to describe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 is one individual “thing” in our dataset. Maybe a bird, a flower, or a person.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beee67e43_0_1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Deep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" name="Google Shape;148;g3bbeee67e43_0_132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feature vector</a:t>
            </a:r>
            <a:r>
              <a:rPr lang="en"/>
              <a:t> then is a representation of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 </a:t>
            </a:r>
            <a:r>
              <a:rPr lang="en"/>
              <a:t>in some high-dimensional space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c35b5116e_0_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Features: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Numeric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" name="Google Shape;154;g3bc35b5116e_0_3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600"/>
              </a:spcBef>
              <a:spcAft>
                <a:spcPts val="0"/>
              </a:spcAft>
              <a:buSzPts val="2400"/>
              <a:buChar char="●"/>
            </a:pP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Numerical (continuous):</a:t>
            </a:r>
            <a:r>
              <a:rPr lang="en" sz="2400"/>
              <a:t> Values that can take any number within a range, including decimals. You can always find a value between any two values. </a:t>
            </a:r>
            <a:endParaRPr sz="2400"/>
          </a:p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b="1" lang="en" sz="2400">
                <a:solidFill>
                  <a:srgbClr val="DCB439"/>
                </a:solidFill>
              </a:rPr>
              <a:t>Examples:</a:t>
            </a:r>
            <a:r>
              <a:rPr lang="en" sz="2400"/>
              <a:t> </a:t>
            </a:r>
            <a:endParaRPr sz="24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Numerical (discrete):</a:t>
            </a:r>
            <a:r>
              <a:rPr lang="en" sz="2400"/>
              <a:t> Values that are countable whole numbers—you can't have "half" of one. There are gaps between valid values.</a:t>
            </a:r>
            <a:endParaRPr sz="2400"/>
          </a:p>
          <a:p>
            <a:pPr indent="-381000" lvl="0" marL="457200" rtl="0" algn="l">
              <a:spcBef>
                <a:spcPts val="1000"/>
              </a:spcBef>
              <a:spcAft>
                <a:spcPts val="1000"/>
              </a:spcAft>
              <a:buSzPts val="2400"/>
              <a:buChar char="●"/>
            </a:pPr>
            <a:r>
              <a:rPr b="1" lang="en" sz="2400">
                <a:solidFill>
                  <a:srgbClr val="DCB439"/>
                </a:solidFill>
              </a:rPr>
              <a:t>Examples:</a:t>
            </a:r>
            <a:endParaRPr sz="2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c35b5116e_0_7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Dangers of Numeric Variables</a:t>
            </a:r>
            <a:endParaRPr/>
          </a:p>
        </p:txBody>
      </p:sp>
      <p:sp>
        <p:nvSpPr>
          <p:cNvPr id="160" name="Google Shape;160;g3bc35b5116e_0_7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c35b5116e_0_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Normalization/Scaling</a:t>
            </a:r>
            <a:endParaRPr/>
          </a:p>
        </p:txBody>
      </p:sp>
      <p:sp>
        <p:nvSpPr>
          <p:cNvPr id="166" name="Google Shape;166;g3bc35b5116e_0_7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bc35b5116e_0_80"/>
          <p:cNvSpPr txBox="1"/>
          <p:nvPr>
            <p:ph type="title"/>
          </p:nvPr>
        </p:nvSpPr>
        <p:spPr>
          <a:xfrm>
            <a:off x="508675" y="1185225"/>
            <a:ext cx="4286400" cy="2067300"/>
          </a:xfrm>
          <a:prstGeom prst="rect">
            <a:avLst/>
          </a:prstGeom>
          <a:ln cap="flat" cmpd="sng" w="38100">
            <a:solidFill>
              <a:srgbClr val="A315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A31515"/>
                </a:solidFill>
              </a:rPr>
              <a:t>Wait a Second…</a:t>
            </a:r>
            <a:endParaRPr sz="3000">
              <a:solidFill>
                <a:srgbClr val="A31515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000">
                <a:solidFill>
                  <a:schemeClr val="dk1"/>
                </a:solidFill>
              </a:rPr>
              <a:t>We’ve seen the word </a:t>
            </a:r>
            <a:r>
              <a:rPr lang="en" sz="3000">
                <a:solidFill>
                  <a:srgbClr val="002B5B"/>
                </a:solidFill>
              </a:rPr>
              <a:t>“normalization”</a:t>
            </a:r>
            <a:r>
              <a:rPr b="0" lang="en" sz="3000">
                <a:solidFill>
                  <a:schemeClr val="dk1"/>
                </a:solidFill>
              </a:rPr>
              <a:t> before</a:t>
            </a:r>
            <a:endParaRPr b="0" sz="3000">
              <a:solidFill>
                <a:schemeClr val="dk1"/>
              </a:solidFill>
            </a:endParaRPr>
          </a:p>
        </p:txBody>
      </p:sp>
      <p:pic>
        <p:nvPicPr>
          <p:cNvPr id="172" name="Google Shape;172;g3bc35b5116e_0_80" title="transformer_arch@2x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9700" y="171003"/>
            <a:ext cx="3593450" cy="6468224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bc35b5116e_0_80"/>
          <p:cNvSpPr/>
          <p:nvPr/>
        </p:nvSpPr>
        <p:spPr>
          <a:xfrm>
            <a:off x="6652775" y="2470725"/>
            <a:ext cx="1107300" cy="4896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bc35b5116e_0_80"/>
          <p:cNvSpPr/>
          <p:nvPr/>
        </p:nvSpPr>
        <p:spPr>
          <a:xfrm>
            <a:off x="6639125" y="3992625"/>
            <a:ext cx="1134600" cy="4896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5" name="Google Shape;175;g3bc35b5116e_0_80"/>
          <p:cNvCxnSpPr>
            <a:stCxn id="171" idx="3"/>
            <a:endCxn id="173" idx="1"/>
          </p:cNvCxnSpPr>
          <p:nvPr/>
        </p:nvCxnSpPr>
        <p:spPr>
          <a:xfrm>
            <a:off x="4795075" y="2218875"/>
            <a:ext cx="1857600" cy="496800"/>
          </a:xfrm>
          <a:prstGeom prst="curvedConnector3">
            <a:avLst>
              <a:gd fmla="val 50003" name="adj1"/>
            </a:avLst>
          </a:prstGeom>
          <a:noFill/>
          <a:ln cap="flat" cmpd="sng" w="28575">
            <a:solidFill>
              <a:srgbClr val="A31515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6" name="Google Shape;176;g3bc35b5116e_0_80"/>
          <p:cNvCxnSpPr>
            <a:stCxn id="171" idx="3"/>
            <a:endCxn id="174" idx="1"/>
          </p:cNvCxnSpPr>
          <p:nvPr/>
        </p:nvCxnSpPr>
        <p:spPr>
          <a:xfrm>
            <a:off x="4795075" y="2218875"/>
            <a:ext cx="1844100" cy="2018700"/>
          </a:xfrm>
          <a:prstGeom prst="curvedConnector3">
            <a:avLst>
              <a:gd fmla="val 49999" name="adj1"/>
            </a:avLst>
          </a:prstGeom>
          <a:noFill/>
          <a:ln cap="flat" cmpd="sng" w="28575">
            <a:solidFill>
              <a:srgbClr val="A31515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c35b5116e_0_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Features: </a:t>
            </a:r>
            <a:r>
              <a:rPr lang="en">
                <a:solidFill>
                  <a:schemeClr val="accent4"/>
                </a:solidFill>
                <a:latin typeface="Consolas"/>
                <a:ea typeface="Consolas"/>
                <a:cs typeface="Consolas"/>
                <a:sym typeface="Consolas"/>
              </a:rPr>
              <a:t>Categorical</a:t>
            </a:r>
            <a:endParaRPr>
              <a:solidFill>
                <a:schemeClr val="accent4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g3bc35b5116e_0_4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rtl="0" algn="l">
              <a:spcBef>
                <a:spcPts val="600"/>
              </a:spcBef>
              <a:spcAft>
                <a:spcPts val="0"/>
              </a:spcAft>
              <a:buClr>
                <a:srgbClr val="5AABBC"/>
              </a:buClr>
              <a:buSzPts val="2400"/>
              <a:buFont typeface="Consolas"/>
              <a:buChar char="●"/>
            </a:pP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Categorical (nominal): </a:t>
            </a:r>
            <a:r>
              <a:rPr lang="en" sz="2400"/>
              <a:t>Categories with no inherent order or ranking—just different labels. Assigning numbers to them would be arbitrary.</a:t>
            </a:r>
            <a:endParaRPr sz="2400"/>
          </a:p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Clr>
                <a:srgbClr val="DCB439"/>
              </a:buClr>
              <a:buSzPts val="2400"/>
              <a:buChar char="●"/>
            </a:pPr>
            <a:r>
              <a:rPr b="1" lang="en" sz="2400">
                <a:solidFill>
                  <a:srgbClr val="DCB439"/>
                </a:solidFill>
              </a:rPr>
              <a:t>Examples:</a:t>
            </a:r>
            <a:endParaRPr b="1" sz="2400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DCB439"/>
              </a:solidFill>
            </a:endParaRPr>
          </a:p>
          <a:p>
            <a:pPr indent="-381000" lvl="0" marL="457200" rtl="0" algn="l">
              <a:spcBef>
                <a:spcPts val="1000"/>
              </a:spcBef>
              <a:spcAft>
                <a:spcPts val="0"/>
              </a:spcAft>
              <a:buClr>
                <a:srgbClr val="5AABBC"/>
              </a:buClr>
              <a:buSzPts val="2400"/>
              <a:buFont typeface="Consolas"/>
              <a:buChar char="●"/>
            </a:pPr>
            <a:r>
              <a:rPr b="1" lang="en" sz="2400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Categorical (ordinal): </a:t>
            </a:r>
            <a:r>
              <a:rPr lang="en" sz="2400"/>
              <a:t>Categories that have a meaningful order or ranking, but the "distance" between categories isn't necessarily equal or measurable.</a:t>
            </a:r>
            <a:endParaRPr sz="2400"/>
          </a:p>
          <a:p>
            <a:pPr indent="-3810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DCB439"/>
              </a:buClr>
              <a:buSzPts val="2400"/>
              <a:buFont typeface="Consolas"/>
              <a:buChar char="●"/>
            </a:pPr>
            <a:r>
              <a:rPr b="1" lang="en" sz="2400">
                <a:solidFill>
                  <a:srgbClr val="DCB439"/>
                </a:solidFill>
              </a:rPr>
              <a:t>Examples:</a:t>
            </a:r>
            <a:endParaRPr b="1" sz="2400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beee67e43_0_1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" name="Google Shape;188;g3bbeee67e43_0_147"/>
          <p:cNvSpPr txBox="1"/>
          <p:nvPr>
            <p:ph idx="1" type="body"/>
          </p:nvPr>
        </p:nvSpPr>
        <p:spPr>
          <a:xfrm>
            <a:off x="457200" y="1600200"/>
            <a:ext cx="8229600" cy="4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</a:t>
            </a:r>
            <a:r>
              <a:rPr b="1" lang="en">
                <a:solidFill>
                  <a:srgbClr val="A31515"/>
                </a:solidFill>
              </a:rPr>
              <a:t>machine learning</a:t>
            </a:r>
            <a:r>
              <a:rPr lang="en"/>
              <a:t>,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classification</a:t>
            </a:r>
            <a:r>
              <a:rPr b="1" lang="en"/>
              <a:t> </a:t>
            </a:r>
            <a:r>
              <a:rPr lang="en"/>
              <a:t>task is one in which we’re trying to </a:t>
            </a:r>
            <a:r>
              <a:rPr b="1" lang="en">
                <a:solidFill>
                  <a:srgbClr val="465510"/>
                </a:solidFill>
              </a:rPr>
              <a:t>predict a category or label</a:t>
            </a:r>
            <a:r>
              <a:rPr lang="en"/>
              <a:t> given a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sample</a:t>
            </a:r>
            <a:r>
              <a:rPr lang="en"/>
              <a:t>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our student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our categories are: </a:t>
            </a:r>
            <a:r>
              <a:rPr b="1" lang="en">
                <a:solidFill>
                  <a:srgbClr val="DCB439"/>
                </a:solidFill>
              </a:rPr>
              <a:t>“Will Graduate”</a:t>
            </a:r>
            <a:r>
              <a:rPr lang="en"/>
              <a:t> and </a:t>
            </a:r>
            <a:r>
              <a:rPr b="1" lang="en">
                <a:solidFill>
                  <a:srgbClr val="DCB439"/>
                </a:solidFill>
              </a:rPr>
              <a:t>“Will not graduate”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c35b5116e_0_5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Dangers of Categorical Variables</a:t>
            </a:r>
            <a:endParaRPr/>
          </a:p>
        </p:txBody>
      </p:sp>
      <p:sp>
        <p:nvSpPr>
          <p:cNvPr id="194" name="Google Shape;194;g3bc35b5116e_0_5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bc35b5116e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One-Hot Encoding</a:t>
            </a:r>
            <a:endParaRPr/>
          </a:p>
        </p:txBody>
      </p:sp>
      <p:sp>
        <p:nvSpPr>
          <p:cNvPr id="200" name="Google Shape;200;g3bc35b5116e_0_6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One-Hot Encoding</a:t>
            </a:r>
            <a:r>
              <a:rPr lang="en"/>
              <a:t> is the most common way to </a:t>
            </a:r>
            <a:r>
              <a:rPr b="1" lang="en">
                <a:solidFill>
                  <a:srgbClr val="DCB439"/>
                </a:solidFill>
              </a:rPr>
              <a:t>convert a categorical variable into a numeric one</a:t>
            </a:r>
            <a:r>
              <a:rPr lang="en"/>
              <a:t>.</a:t>
            </a:r>
            <a:endParaRPr/>
          </a:p>
        </p:txBody>
      </p:sp>
      <p:pic>
        <p:nvPicPr>
          <p:cNvPr id="201" name="Google Shape;201;g3bc35b5116e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4575" y="3351926"/>
            <a:ext cx="7814826" cy="255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bc35b5116e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One-Hot Encoding in LLMs</a:t>
            </a:r>
            <a:endParaRPr/>
          </a:p>
        </p:txBody>
      </p:sp>
      <p:sp>
        <p:nvSpPr>
          <p:cNvPr id="207" name="Google Shape;207;g3bc35b5116e_0_65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beee67e43_0_1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</a:rPr>
              <a:t>Machine Learning</a:t>
            </a:r>
            <a:r>
              <a:rPr lang="en"/>
              <a:t>: </a:t>
            </a:r>
            <a:r>
              <a:rPr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g3bbeee67e43_0_142"/>
          <p:cNvSpPr txBox="1"/>
          <p:nvPr>
            <p:ph idx="1" type="body"/>
          </p:nvPr>
        </p:nvSpPr>
        <p:spPr>
          <a:xfrm>
            <a:off x="457200" y="1600200"/>
            <a:ext cx="8229600" cy="24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We call it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supervised learning</a:t>
            </a:r>
            <a:r>
              <a:rPr lang="en"/>
              <a:t> when we have examples of the correct answer in our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dataset</a:t>
            </a:r>
            <a:r>
              <a:rPr lang="en"/>
              <a:t>, because </a:t>
            </a:r>
            <a:r>
              <a:rPr b="1" lang="en">
                <a:solidFill>
                  <a:srgbClr val="465510"/>
                </a:solidFill>
              </a:rPr>
              <a:t>we can tell our model if it guessed correctly or not</a:t>
            </a:r>
            <a:r>
              <a:rPr lang="en"/>
              <a:t>. We call these correct answers </a:t>
            </a:r>
            <a:r>
              <a:rPr b="1" lang="en">
                <a:solidFill>
                  <a:srgbClr val="5AABBC"/>
                </a:solidFill>
                <a:latin typeface="Consolas"/>
                <a:ea typeface="Consolas"/>
                <a:cs typeface="Consolas"/>
                <a:sym typeface="Consolas"/>
              </a:rPr>
              <a:t>ground truth</a:t>
            </a:r>
            <a:endParaRPr b="1"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>
              <a:solidFill>
                <a:srgbClr val="5AABBC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c35b5116e_0_10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bc35b5116e_0_107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