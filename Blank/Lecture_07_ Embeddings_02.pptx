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isLOrTYy5XqJM+kIRiIIuBXDHj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bbeee67e43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g3bbeee67e4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c35b5116e_0_2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3bc35b5116e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c35b5116e_0_9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g3bc35b5116e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bc426a098a_0_3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bc426a098a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c35b5116e_0_10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g3bc35b5116e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c426a098a_0_1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g3bc426a098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bc426a098a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g3bc426a098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bc426a098a_0_4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bc426a098a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c426a098a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bc426a098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c426a098a_0_3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bc426a098a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c426a098a_0_1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bc426a098a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c426a098a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bc426a098a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bc426a098a_0_2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bc426a098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3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Given two points as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tuples</a:t>
            </a:r>
            <a:r>
              <a:rPr lang="en"/>
              <a:t>, write a function to calculate the distance between the two points.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distance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((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2, 2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), (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1, 1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1.4142135623731</a:t>
            </a:r>
            <a:endParaRPr b="1" sz="2600">
              <a:solidFill>
                <a:srgbClr val="46551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6" name="Google Shape;36;g3b8409de4d6_0_50"/>
          <p:cNvPicPr preferRelativeResize="0"/>
          <p:nvPr/>
        </p:nvPicPr>
        <p:blipFill rotWithShape="1">
          <a:blip r:embed="rId3">
            <a:alphaModFix/>
          </a:blip>
          <a:srcRect b="5565" l="0" r="0" t="28104"/>
          <a:stretch/>
        </p:blipFill>
        <p:spPr>
          <a:xfrm>
            <a:off x="4233000" y="4084575"/>
            <a:ext cx="4512675" cy="16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g3b8409de4d6_0_50"/>
          <p:cNvSpPr txBox="1"/>
          <p:nvPr/>
        </p:nvSpPr>
        <p:spPr>
          <a:xfrm>
            <a:off x="457200" y="4410288"/>
            <a:ext cx="3905700" cy="103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We can </a:t>
            </a:r>
            <a:r>
              <a:rPr b="1" i="0" lang="en" sz="1800" u="none" cap="none" strike="noStrike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import math</a:t>
            </a: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and use the </a:t>
            </a:r>
            <a:r>
              <a:rPr b="1" i="0" lang="en" sz="1800" u="none" cap="none" strike="noStrike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math.sqrt()</a:t>
            </a: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math.pow()</a:t>
            </a: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functions!</a:t>
            </a:r>
            <a:endParaRPr b="1" i="0" sz="18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01 Solution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3" name="Google Shape;43;g3b8409de4d6_0_60" title="Screenshot 2026-01-29 at 11.40.1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3875513"/>
            <a:ext cx="8839200" cy="2517219"/>
          </a:xfrm>
          <a:prstGeom prst="rect">
            <a:avLst/>
          </a:prstGeom>
          <a:noFill/>
          <a:ln cap="flat" cmpd="sng" w="38100">
            <a:solidFill>
              <a:srgbClr val="46551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4" name="Google Shape;44;g3b8409de4d6_0_60" title="Screenshot 2026-01-29 at 11.42.21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2400" y="1570038"/>
            <a:ext cx="8839200" cy="2002631"/>
          </a:xfrm>
          <a:prstGeom prst="rect">
            <a:avLst/>
          </a:prstGeom>
          <a:noFill/>
          <a:ln cap="flat" cmpd="sng" w="38100">
            <a:solidFill>
              <a:srgbClr val="46551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bbeee67e43_0_26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Embeddings 02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g3bc35b5116e_0_22" title="transformer_arch@2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4375" y="303250"/>
            <a:ext cx="3473050" cy="6251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g3bc35b5116e_0_22"/>
          <p:cNvSpPr txBox="1"/>
          <p:nvPr>
            <p:ph type="title"/>
          </p:nvPr>
        </p:nvSpPr>
        <p:spPr>
          <a:xfrm>
            <a:off x="3974950" y="1100850"/>
            <a:ext cx="5053200" cy="808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>
                <a:solidFill>
                  <a:srgbClr val="002B5B"/>
                </a:solidFill>
              </a:rPr>
              <a:t>Where are we?</a:t>
            </a:r>
            <a:endParaRPr sz="4800">
              <a:solidFill>
                <a:srgbClr val="002B5B"/>
              </a:solidFill>
            </a:endParaRPr>
          </a:p>
        </p:txBody>
      </p:sp>
      <p:cxnSp>
        <p:nvCxnSpPr>
          <p:cNvPr id="56" name="Google Shape;56;g3bc35b5116e_0_22"/>
          <p:cNvCxnSpPr>
            <a:stCxn id="55" idx="1"/>
            <a:endCxn id="57" idx="3"/>
          </p:cNvCxnSpPr>
          <p:nvPr/>
        </p:nvCxnSpPr>
        <p:spPr>
          <a:xfrm flipH="1">
            <a:off x="2600650" y="1505250"/>
            <a:ext cx="1374300" cy="3900900"/>
          </a:xfrm>
          <a:prstGeom prst="curvedConnector3">
            <a:avLst>
              <a:gd fmla="val 49996" name="adj1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7" name="Google Shape;57;g3bc35b5116e_0_22"/>
          <p:cNvSpPr/>
          <p:nvPr/>
        </p:nvSpPr>
        <p:spPr>
          <a:xfrm>
            <a:off x="1287950" y="5206450"/>
            <a:ext cx="1312800" cy="3996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g3bc35b5116e_0_22"/>
          <p:cNvSpPr txBox="1"/>
          <p:nvPr/>
        </p:nvSpPr>
        <p:spPr>
          <a:xfrm>
            <a:off x="3993600" y="2080075"/>
            <a:ext cx="5053200" cy="43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Today we’re going to </a:t>
            </a:r>
            <a:r>
              <a:rPr lang="en" sz="3000">
                <a:solidFill>
                  <a:schemeClr val="dk1"/>
                </a:solidFill>
              </a:rPr>
              <a:t>continue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on the step that follows </a:t>
            </a:r>
            <a:r>
              <a:rPr b="1" i="0" lang="en" sz="30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tokenization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which is called </a:t>
            </a:r>
            <a:r>
              <a:rPr b="1" i="0" lang="en" sz="30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embedding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1" i="0" sz="3000" u="none" cap="none" strike="noStrike">
              <a:solidFill>
                <a:srgbClr val="DCB43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A31515"/>
                </a:solidFill>
                <a:latin typeface="Arial"/>
                <a:ea typeface="Arial"/>
                <a:cs typeface="Arial"/>
                <a:sym typeface="Arial"/>
              </a:rPr>
              <a:t>Understanding the concept of embedding is crucial to understanding deep learning in general.</a:t>
            </a:r>
            <a:endParaRPr b="1" i="0" sz="3000" u="none" cap="none" strike="noStrike">
              <a:solidFill>
                <a:srgbClr val="A3151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c35b5116e_0_9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Space - Embeddings</a:t>
            </a:r>
            <a:endParaRPr/>
          </a:p>
        </p:txBody>
      </p:sp>
      <p:pic>
        <p:nvPicPr>
          <p:cNvPr id="64" name="Google Shape;64;g3bc35b5116e_0_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2295238"/>
            <a:ext cx="8839204" cy="3034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c426a098a_0_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Entire Internet</a:t>
            </a:r>
            <a:endParaRPr/>
          </a:p>
        </p:txBody>
      </p:sp>
      <p:sp>
        <p:nvSpPr>
          <p:cNvPr id="70" name="Google Shape;70;g3bc426a098a_0_31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raw training set was </a:t>
            </a:r>
            <a:r>
              <a:rPr b="1" lang="en">
                <a:solidFill>
                  <a:srgbClr val="A31515"/>
                </a:solidFill>
              </a:rPr>
              <a:t>45TB</a:t>
            </a:r>
            <a:r>
              <a:rPr lang="en"/>
              <a:t> of </a:t>
            </a:r>
            <a:r>
              <a:rPr b="1" lang="en">
                <a:solidFill>
                  <a:srgbClr val="DCB439"/>
                </a:solidFill>
              </a:rPr>
              <a:t>compressed plaintext</a:t>
            </a:r>
            <a:endParaRPr b="1"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c35b5116e_0_10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Predicting the Next Token: Markov</a:t>
            </a:r>
            <a:endParaRPr/>
          </a:p>
        </p:txBody>
      </p:sp>
      <p:sp>
        <p:nvSpPr>
          <p:cNvPr id="76" name="Google Shape;76;g3bc35b5116e_0_10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Prompt: “I like cute and fuzzy”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c426a098a_0_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Predicting the Next Token: Markov</a:t>
            </a:r>
            <a:endParaRPr/>
          </a:p>
        </p:txBody>
      </p:sp>
      <p:sp>
        <p:nvSpPr>
          <p:cNvPr id="82" name="Google Shape;82;g3bc426a098a_0_1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Prompt: “I like cute and fuzzy”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bc426a098a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Predicting the Next Token: LLM</a:t>
            </a:r>
            <a:endParaRPr/>
          </a:p>
        </p:txBody>
      </p:sp>
      <p:sp>
        <p:nvSpPr>
          <p:cNvPr id="88" name="Google Shape;88;g3bc426a098a_0_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bc426a098a_0_4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Learning Embeddings</a:t>
            </a:r>
            <a:endParaRPr/>
          </a:p>
        </p:txBody>
      </p:sp>
      <p:sp>
        <p:nvSpPr>
          <p:cNvPr id="94" name="Google Shape;94;g3bc426a098a_0_41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c426a098a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515"/>
                </a:solidFill>
              </a:rPr>
              <a:t>Deep Learning:</a:t>
            </a:r>
            <a:r>
              <a:rPr lang="en"/>
              <a:t>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Loss Functions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0" name="Google Shape;100;g3bc426a098a_0_5"/>
          <p:cNvSpPr txBox="1"/>
          <p:nvPr>
            <p:ph idx="1" type="body"/>
          </p:nvPr>
        </p:nvSpPr>
        <p:spPr>
          <a:xfrm>
            <a:off x="457200" y="1600200"/>
            <a:ext cx="8229600" cy="198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loss function</a:t>
            </a:r>
            <a:r>
              <a:rPr lang="en"/>
              <a:t> allows us to numerically measure </a:t>
            </a:r>
            <a:r>
              <a:rPr b="1" lang="en">
                <a:solidFill>
                  <a:srgbClr val="DCB439"/>
                </a:solidFill>
              </a:rPr>
              <a:t>how far off our model’s predicted values are from what we expected them to be</a:t>
            </a:r>
            <a:r>
              <a:rPr lang="en"/>
              <a:t>, or what we know the right answer is.</a:t>
            </a:r>
            <a:endParaRPr/>
          </a:p>
        </p:txBody>
      </p:sp>
      <p:pic>
        <p:nvPicPr>
          <p:cNvPr id="101" name="Google Shape;101;g3bc426a098a_0_5" title="Screenshot 2026-02-03 at 8.16.3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3075" y="3588000"/>
            <a:ext cx="5657850" cy="1790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g3bc426a098a_0_5"/>
          <p:cNvSpPr txBox="1"/>
          <p:nvPr/>
        </p:nvSpPr>
        <p:spPr>
          <a:xfrm>
            <a:off x="457200" y="5378700"/>
            <a:ext cx="8229600" cy="92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6925" lIns="96925" spcFirstLastPara="1" rIns="96925" wrap="square" tIns="96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02B5B"/>
                </a:solidFill>
              </a:rPr>
              <a:t>Cross-Entropy</a:t>
            </a:r>
            <a:r>
              <a:rPr b="1" lang="en" sz="1200">
                <a:solidFill>
                  <a:srgbClr val="002B5B"/>
                </a:solidFill>
              </a:rPr>
              <a:t>: </a:t>
            </a:r>
            <a:r>
              <a:rPr lang="en" sz="1200">
                <a:solidFill>
                  <a:srgbClr val="999999"/>
                </a:solidFill>
              </a:rPr>
              <a:t>The loss function used to train LLMs is called “Cross-Entropy Loss” and it’s one of the most common loss functions. Heavily based on the principle of “entropy” as used in Information Theory, it’s a measure of how surprising our answer is relative to our ground-truth based on the entropy formula: -∑ p(x)log</a:t>
            </a:r>
            <a:r>
              <a:rPr baseline="-25000" lang="en" sz="1200">
                <a:solidFill>
                  <a:srgbClr val="999999"/>
                </a:solidFill>
              </a:rPr>
              <a:t>2</a:t>
            </a:r>
            <a:r>
              <a:rPr lang="en" sz="1200">
                <a:solidFill>
                  <a:srgbClr val="999999"/>
                </a:solidFill>
              </a:rPr>
              <a:t>p(x)</a:t>
            </a:r>
            <a:endParaRPr sz="1200">
              <a:solidFill>
                <a:srgbClr val="999999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999999"/>
                </a:solidFill>
              </a:rPr>
              <a:t>Mostly outside the scope of the class, but it’s really not </a:t>
            </a:r>
            <a:r>
              <a:rPr i="1" lang="en" sz="1200">
                <a:solidFill>
                  <a:srgbClr val="999999"/>
                </a:solidFill>
              </a:rPr>
              <a:t>that</a:t>
            </a:r>
            <a:r>
              <a:rPr lang="en" sz="1200">
                <a:solidFill>
                  <a:srgbClr val="999999"/>
                </a:solidFill>
              </a:rPr>
              <a:t> complicated.</a:t>
            </a:r>
            <a:endParaRPr sz="1200">
              <a:solidFill>
                <a:srgbClr val="99999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c426a098a_0_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Data Race</a:t>
            </a:r>
            <a:endParaRPr/>
          </a:p>
        </p:txBody>
      </p:sp>
      <p:sp>
        <p:nvSpPr>
          <p:cNvPr id="108" name="Google Shape;108;g3bc426a098a_0_3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c426a098a_0_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g3bc426a098a_0_1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5" name="Google Shape;115;g3bc426a098a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00016" y="1662750"/>
            <a:ext cx="4743976" cy="484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c426a098a_0_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LLM Jailbreaking</a:t>
            </a:r>
            <a:endParaRPr/>
          </a:p>
        </p:txBody>
      </p:sp>
      <p:sp>
        <p:nvSpPr>
          <p:cNvPr id="121" name="Google Shape;121;g3bc426a098a_0_2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c426a098a_0_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LLM Quirks</a:t>
            </a:r>
            <a:endParaRPr/>
          </a:p>
        </p:txBody>
      </p:sp>
      <p:sp>
        <p:nvSpPr>
          <p:cNvPr id="127" name="Google Shape;127;g3bc426a098a_0_21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