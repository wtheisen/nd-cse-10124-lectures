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tNIr+pRuWM9h9NWPnHv0+f7Sg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beee67e43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g3bbeee67e4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bca1707a95_0_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g3bca1707a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ca1707a95_0_2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g3bca1707a9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a1707a95_0_24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bca1707a95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35b5116e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bc35b5116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ca1707a95_0_20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ca1707a95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c35b5116e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bc35b5116e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ca1707a95_0_3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ca1707a9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ca1707a95_0_6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3bca1707a9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ca1707a95_0_8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ca1707a9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ca1707a95_0_1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ca1707a9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bc426a098a_0_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bc426a09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ca1707a95_0_2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ca1707a95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ca1707a95_0_1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bca1707a95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ca1707a95_0_16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bca1707a95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p20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9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19"/>
          <p:cNvSpPr txBox="1"/>
          <p:nvPr>
            <p:ph idx="1" type="subTitle"/>
          </p:nvPr>
        </p:nvSpPr>
        <p:spPr>
          <a:xfrm>
            <a:off x="685800" y="3786738"/>
            <a:ext cx="77724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B439"/>
              </a:buClr>
              <a:buSzPts val="3000"/>
              <a:buNone/>
              <a:defRPr b="1">
                <a:solidFill>
                  <a:srgbClr val="DCB43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1800"/>
              <a:buChar char="■"/>
              <a:defRPr>
                <a:solidFill>
                  <a:srgbClr val="9E9E9E"/>
                </a:solidFill>
              </a:defRPr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F1709"/>
              </a:buClr>
              <a:buSzPts val="1800"/>
              <a:buChar char="●"/>
              <a:defRPr>
                <a:solidFill>
                  <a:srgbClr val="5F1709"/>
                </a:solidFill>
              </a:defRPr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65510"/>
              </a:buClr>
              <a:buSzPts val="1800"/>
              <a:buChar char="○"/>
              <a:defRPr>
                <a:solidFill>
                  <a:srgbClr val="465510"/>
                </a:solidFill>
              </a:defRPr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ABBC"/>
              </a:buClr>
              <a:buSzPts val="1800"/>
              <a:buChar char="■"/>
              <a:defRPr>
                <a:solidFill>
                  <a:srgbClr val="5AABBC"/>
                </a:solidFill>
              </a:defRPr>
            </a:lvl9pPr>
          </a:lstStyle>
          <a:p/>
        </p:txBody>
      </p:sp>
      <p:sp>
        <p:nvSpPr>
          <p:cNvPr id="20" name="Google Shape;20;p23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5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27" name="Google Shape;27;p25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6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B5B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556791" y="6333134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bbeee67e43_0_26"/>
          <p:cNvSpPr txBox="1"/>
          <p:nvPr>
            <p:ph type="ctrTitle"/>
          </p:nvPr>
        </p:nvSpPr>
        <p:spPr>
          <a:xfrm>
            <a:off x="685800" y="2655750"/>
            <a:ext cx="77724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002B5B"/>
                </a:solidFill>
              </a:rPr>
              <a:t>CSE </a:t>
            </a:r>
            <a:r>
              <a:rPr lang="en"/>
              <a:t>1</a:t>
            </a:r>
            <a:r>
              <a:rPr lang="en">
                <a:solidFill>
                  <a:srgbClr val="002B5B"/>
                </a:solidFill>
              </a:rPr>
              <a:t>0124</a:t>
            </a:r>
            <a:br>
              <a:rPr lang="en">
                <a:solidFill>
                  <a:srgbClr val="002B5B"/>
                </a:solidFill>
              </a:rPr>
            </a:br>
            <a:r>
              <a:rPr lang="en">
                <a:solidFill>
                  <a:srgbClr val="DCB439"/>
                </a:solidFill>
              </a:rPr>
              <a:t>Embeddings 02</a:t>
            </a:r>
            <a:endParaRPr>
              <a:solidFill>
                <a:srgbClr val="DCB43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ca1707a95_0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Logistics: </a:t>
            </a:r>
            <a:r>
              <a:rPr lang="en">
                <a:solidFill>
                  <a:srgbClr val="A31415"/>
                </a:solidFill>
              </a:rPr>
              <a:t>Exam 01</a:t>
            </a:r>
            <a:endParaRPr>
              <a:solidFill>
                <a:srgbClr val="A31415"/>
              </a:solidFill>
            </a:endParaRPr>
          </a:p>
        </p:txBody>
      </p:sp>
      <p:sp>
        <p:nvSpPr>
          <p:cNvPr id="40" name="Google Shape;40;g3bca1707a95_0_7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ca1707a95_0_2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Predicting the Next Token: Markov</a:t>
            </a:r>
            <a:endParaRPr/>
          </a:p>
        </p:txBody>
      </p:sp>
      <p:sp>
        <p:nvSpPr>
          <p:cNvPr id="46" name="Google Shape;46;g3bca1707a95_0_222"/>
          <p:cNvSpPr txBox="1"/>
          <p:nvPr>
            <p:ph idx="1" type="body"/>
          </p:nvPr>
        </p:nvSpPr>
        <p:spPr>
          <a:xfrm>
            <a:off x="457200" y="1600200"/>
            <a:ext cx="82296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Prompt: “I like cute and fuzzy”</a:t>
            </a:r>
            <a:endParaRPr/>
          </a:p>
        </p:txBody>
      </p:sp>
      <p:sp>
        <p:nvSpPr>
          <p:cNvPr id="47" name="Google Shape;47;g3bca1707a95_0_222"/>
          <p:cNvSpPr/>
          <p:nvPr/>
        </p:nvSpPr>
        <p:spPr>
          <a:xfrm>
            <a:off x="1443825" y="27995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&lt;|sos|&gt;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" name="Google Shape;48;g3bca1707a95_0_222"/>
          <p:cNvSpPr/>
          <p:nvPr/>
        </p:nvSpPr>
        <p:spPr>
          <a:xfrm>
            <a:off x="3205775" y="27995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" name="Google Shape;49;g3bca1707a95_0_222"/>
          <p:cNvSpPr/>
          <p:nvPr/>
        </p:nvSpPr>
        <p:spPr>
          <a:xfrm>
            <a:off x="4967713" y="27995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" name="Google Shape;50;g3bca1707a95_0_222"/>
          <p:cNvSpPr/>
          <p:nvPr/>
        </p:nvSpPr>
        <p:spPr>
          <a:xfrm>
            <a:off x="6729650" y="27995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cute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" name="Google Shape;51;g3bca1707a95_0_222"/>
          <p:cNvSpPr/>
          <p:nvPr/>
        </p:nvSpPr>
        <p:spPr>
          <a:xfrm>
            <a:off x="2414338" y="49611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" name="Google Shape;52;g3bca1707a95_0_222"/>
          <p:cNvSpPr/>
          <p:nvPr/>
        </p:nvSpPr>
        <p:spPr>
          <a:xfrm>
            <a:off x="3821263" y="49611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fuzzy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" name="Google Shape;53;g3bca1707a95_0_222"/>
          <p:cNvSpPr/>
          <p:nvPr/>
        </p:nvSpPr>
        <p:spPr>
          <a:xfrm>
            <a:off x="5228188" y="49611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cats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" name="Google Shape;54;g3bca1707a95_0_222"/>
          <p:cNvSpPr/>
          <p:nvPr/>
        </p:nvSpPr>
        <p:spPr>
          <a:xfrm>
            <a:off x="5228188" y="421780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dogs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g3bca1707a95_0_222"/>
          <p:cNvSpPr/>
          <p:nvPr/>
        </p:nvSpPr>
        <p:spPr>
          <a:xfrm>
            <a:off x="5134888" y="5704450"/>
            <a:ext cx="11571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blankets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" name="Google Shape;56;g3bca1707a95_0_222"/>
          <p:cNvCxnSpPr>
            <a:stCxn id="47" idx="3"/>
            <a:endCxn id="48" idx="1"/>
          </p:cNvCxnSpPr>
          <p:nvPr/>
        </p:nvCxnSpPr>
        <p:spPr>
          <a:xfrm>
            <a:off x="2414325" y="3070125"/>
            <a:ext cx="7914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" name="Google Shape;57;g3bca1707a95_0_222"/>
          <p:cNvCxnSpPr>
            <a:stCxn id="48" idx="3"/>
            <a:endCxn id="49" idx="1"/>
          </p:cNvCxnSpPr>
          <p:nvPr/>
        </p:nvCxnSpPr>
        <p:spPr>
          <a:xfrm>
            <a:off x="4176275" y="3070125"/>
            <a:ext cx="7914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" name="Google Shape;58;g3bca1707a95_0_222"/>
          <p:cNvCxnSpPr>
            <a:stCxn id="49" idx="3"/>
            <a:endCxn id="50" idx="1"/>
          </p:cNvCxnSpPr>
          <p:nvPr/>
        </p:nvCxnSpPr>
        <p:spPr>
          <a:xfrm>
            <a:off x="5938213" y="3070125"/>
            <a:ext cx="7914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" name="Google Shape;59;g3bca1707a95_0_222"/>
          <p:cNvCxnSpPr>
            <a:stCxn id="51" idx="3"/>
            <a:endCxn id="52" idx="1"/>
          </p:cNvCxnSpPr>
          <p:nvPr/>
        </p:nvCxnSpPr>
        <p:spPr>
          <a:xfrm>
            <a:off x="3384838" y="5231725"/>
            <a:ext cx="4365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" name="Google Shape;60;g3bca1707a95_0_222"/>
          <p:cNvCxnSpPr>
            <a:stCxn id="52" idx="3"/>
            <a:endCxn id="53" idx="1"/>
          </p:cNvCxnSpPr>
          <p:nvPr/>
        </p:nvCxnSpPr>
        <p:spPr>
          <a:xfrm>
            <a:off x="4791763" y="5231725"/>
            <a:ext cx="4365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" name="Google Shape;61;g3bca1707a95_0_222"/>
          <p:cNvCxnSpPr>
            <a:stCxn id="52" idx="0"/>
            <a:endCxn id="54" idx="1"/>
          </p:cNvCxnSpPr>
          <p:nvPr/>
        </p:nvCxnSpPr>
        <p:spPr>
          <a:xfrm rot="-5400000">
            <a:off x="4530913" y="4263925"/>
            <a:ext cx="472800" cy="921600"/>
          </a:xfrm>
          <a:prstGeom prst="curvedConnector2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" name="Google Shape;62;g3bca1707a95_0_222"/>
          <p:cNvCxnSpPr>
            <a:stCxn id="52" idx="2"/>
            <a:endCxn id="55" idx="1"/>
          </p:cNvCxnSpPr>
          <p:nvPr/>
        </p:nvCxnSpPr>
        <p:spPr>
          <a:xfrm flipH="1" rot="-5400000">
            <a:off x="4484263" y="5324575"/>
            <a:ext cx="472800" cy="828300"/>
          </a:xfrm>
          <a:prstGeom prst="curvedConnector2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" name="Google Shape;63;g3bca1707a95_0_222"/>
          <p:cNvCxnSpPr>
            <a:stCxn id="50" idx="2"/>
            <a:endCxn id="51" idx="1"/>
          </p:cNvCxnSpPr>
          <p:nvPr/>
        </p:nvCxnSpPr>
        <p:spPr>
          <a:xfrm rot="5400000">
            <a:off x="3869150" y="1885875"/>
            <a:ext cx="1890900" cy="4800600"/>
          </a:xfrm>
          <a:prstGeom prst="curvedConnector4">
            <a:avLst>
              <a:gd fmla="val 42847" name="adj1"/>
              <a:gd fmla="val 104960" name="adj2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ca1707a95_0_2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Predicting the Next Token: Markov</a:t>
            </a:r>
            <a:endParaRPr/>
          </a:p>
        </p:txBody>
      </p:sp>
      <p:sp>
        <p:nvSpPr>
          <p:cNvPr id="69" name="Google Shape;69;g3bca1707a95_0_244"/>
          <p:cNvSpPr txBox="1"/>
          <p:nvPr>
            <p:ph idx="1" type="body"/>
          </p:nvPr>
        </p:nvSpPr>
        <p:spPr>
          <a:xfrm>
            <a:off x="457200" y="1600200"/>
            <a:ext cx="82296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Prompt: “I like cute and fuzzy”</a:t>
            </a:r>
            <a:endParaRPr/>
          </a:p>
        </p:txBody>
      </p:sp>
      <p:sp>
        <p:nvSpPr>
          <p:cNvPr id="70" name="Google Shape;70;g3bca1707a95_0_244"/>
          <p:cNvSpPr/>
          <p:nvPr/>
        </p:nvSpPr>
        <p:spPr>
          <a:xfrm>
            <a:off x="1443825" y="27995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&lt;|sos|&gt;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" name="Google Shape;71;g3bca1707a95_0_244"/>
          <p:cNvSpPr/>
          <p:nvPr/>
        </p:nvSpPr>
        <p:spPr>
          <a:xfrm>
            <a:off x="3205775" y="27995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Google Shape;72;g3bca1707a95_0_244"/>
          <p:cNvSpPr/>
          <p:nvPr/>
        </p:nvSpPr>
        <p:spPr>
          <a:xfrm>
            <a:off x="4967713" y="27995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g3bca1707a95_0_244"/>
          <p:cNvSpPr/>
          <p:nvPr/>
        </p:nvSpPr>
        <p:spPr>
          <a:xfrm>
            <a:off x="6729650" y="27995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cute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" name="Google Shape;74;g3bca1707a95_0_244"/>
          <p:cNvSpPr/>
          <p:nvPr/>
        </p:nvSpPr>
        <p:spPr>
          <a:xfrm>
            <a:off x="2414338" y="49611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" name="Google Shape;75;g3bca1707a95_0_244"/>
          <p:cNvSpPr/>
          <p:nvPr/>
        </p:nvSpPr>
        <p:spPr>
          <a:xfrm>
            <a:off x="3821263" y="49611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fuzzy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6" name="Google Shape;76;g3bca1707a95_0_244"/>
          <p:cNvSpPr/>
          <p:nvPr/>
        </p:nvSpPr>
        <p:spPr>
          <a:xfrm>
            <a:off x="5228188" y="4961125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cats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g3bca1707a95_0_244"/>
          <p:cNvSpPr/>
          <p:nvPr/>
        </p:nvSpPr>
        <p:spPr>
          <a:xfrm>
            <a:off x="5228188" y="421780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dogs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g3bca1707a95_0_244"/>
          <p:cNvSpPr/>
          <p:nvPr/>
        </p:nvSpPr>
        <p:spPr>
          <a:xfrm>
            <a:off x="5134888" y="5704450"/>
            <a:ext cx="11571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blankets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" name="Google Shape;79;g3bca1707a95_0_244"/>
          <p:cNvCxnSpPr>
            <a:stCxn id="70" idx="3"/>
            <a:endCxn id="71" idx="1"/>
          </p:cNvCxnSpPr>
          <p:nvPr/>
        </p:nvCxnSpPr>
        <p:spPr>
          <a:xfrm>
            <a:off x="2414325" y="3070125"/>
            <a:ext cx="7914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" name="Google Shape;80;g3bca1707a95_0_244"/>
          <p:cNvCxnSpPr>
            <a:stCxn id="71" idx="3"/>
            <a:endCxn id="72" idx="1"/>
          </p:cNvCxnSpPr>
          <p:nvPr/>
        </p:nvCxnSpPr>
        <p:spPr>
          <a:xfrm>
            <a:off x="4176275" y="3070125"/>
            <a:ext cx="7914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g3bca1707a95_0_244"/>
          <p:cNvCxnSpPr>
            <a:stCxn id="72" idx="3"/>
            <a:endCxn id="73" idx="1"/>
          </p:cNvCxnSpPr>
          <p:nvPr/>
        </p:nvCxnSpPr>
        <p:spPr>
          <a:xfrm>
            <a:off x="5938213" y="3070125"/>
            <a:ext cx="7914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g3bca1707a95_0_244"/>
          <p:cNvCxnSpPr>
            <a:stCxn id="74" idx="3"/>
            <a:endCxn id="75" idx="1"/>
          </p:cNvCxnSpPr>
          <p:nvPr/>
        </p:nvCxnSpPr>
        <p:spPr>
          <a:xfrm>
            <a:off x="3384838" y="5231725"/>
            <a:ext cx="4365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g3bca1707a95_0_244"/>
          <p:cNvCxnSpPr>
            <a:stCxn id="75" idx="3"/>
            <a:endCxn id="76" idx="1"/>
          </p:cNvCxnSpPr>
          <p:nvPr/>
        </p:nvCxnSpPr>
        <p:spPr>
          <a:xfrm>
            <a:off x="4791763" y="5231725"/>
            <a:ext cx="4365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g3bca1707a95_0_244"/>
          <p:cNvCxnSpPr>
            <a:stCxn id="75" idx="0"/>
            <a:endCxn id="77" idx="1"/>
          </p:cNvCxnSpPr>
          <p:nvPr/>
        </p:nvCxnSpPr>
        <p:spPr>
          <a:xfrm rot="-5400000">
            <a:off x="4530913" y="4263925"/>
            <a:ext cx="472800" cy="921600"/>
          </a:xfrm>
          <a:prstGeom prst="curvedConnector2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g3bca1707a95_0_244"/>
          <p:cNvCxnSpPr>
            <a:stCxn id="75" idx="2"/>
            <a:endCxn id="78" idx="1"/>
          </p:cNvCxnSpPr>
          <p:nvPr/>
        </p:nvCxnSpPr>
        <p:spPr>
          <a:xfrm flipH="1" rot="-5400000">
            <a:off x="4484263" y="5324575"/>
            <a:ext cx="472800" cy="828300"/>
          </a:xfrm>
          <a:prstGeom prst="curvedConnector2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g3bca1707a95_0_244"/>
          <p:cNvCxnSpPr>
            <a:stCxn id="73" idx="2"/>
            <a:endCxn id="74" idx="1"/>
          </p:cNvCxnSpPr>
          <p:nvPr/>
        </p:nvCxnSpPr>
        <p:spPr>
          <a:xfrm rot="5400000">
            <a:off x="3869150" y="1885875"/>
            <a:ext cx="1890900" cy="4800600"/>
          </a:xfrm>
          <a:prstGeom prst="curvedConnector4">
            <a:avLst>
              <a:gd fmla="val 42847" name="adj1"/>
              <a:gd fmla="val 104960" name="adj2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3bc35b5116e_0_22" title="transformer_arch@2x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375" y="303250"/>
            <a:ext cx="3473050" cy="625150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bc35b5116e_0_22"/>
          <p:cNvSpPr txBox="1"/>
          <p:nvPr>
            <p:ph type="title"/>
          </p:nvPr>
        </p:nvSpPr>
        <p:spPr>
          <a:xfrm>
            <a:off x="3974950" y="1100850"/>
            <a:ext cx="5053200" cy="808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800">
                <a:solidFill>
                  <a:srgbClr val="002B5B"/>
                </a:solidFill>
              </a:rPr>
              <a:t>Where are we?</a:t>
            </a:r>
            <a:endParaRPr sz="4800">
              <a:solidFill>
                <a:srgbClr val="002B5B"/>
              </a:solidFill>
            </a:endParaRPr>
          </a:p>
        </p:txBody>
      </p:sp>
      <p:cxnSp>
        <p:nvCxnSpPr>
          <p:cNvPr id="93" name="Google Shape;93;g3bc35b5116e_0_22"/>
          <p:cNvCxnSpPr>
            <a:stCxn id="92" idx="1"/>
            <a:endCxn id="94" idx="3"/>
          </p:cNvCxnSpPr>
          <p:nvPr/>
        </p:nvCxnSpPr>
        <p:spPr>
          <a:xfrm flipH="1">
            <a:off x="2600650" y="1505250"/>
            <a:ext cx="1374300" cy="3900900"/>
          </a:xfrm>
          <a:prstGeom prst="curvedConnector3">
            <a:avLst>
              <a:gd fmla="val 49996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g3bc35b5116e_0_22"/>
          <p:cNvSpPr/>
          <p:nvPr/>
        </p:nvSpPr>
        <p:spPr>
          <a:xfrm>
            <a:off x="1287950" y="5206450"/>
            <a:ext cx="1312800" cy="3996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bc35b5116e_0_22"/>
          <p:cNvSpPr txBox="1"/>
          <p:nvPr/>
        </p:nvSpPr>
        <p:spPr>
          <a:xfrm>
            <a:off x="3993600" y="2080075"/>
            <a:ext cx="5053200" cy="43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Today we’re going to </a:t>
            </a:r>
            <a:r>
              <a:rPr lang="en" sz="3000">
                <a:solidFill>
                  <a:schemeClr val="dk1"/>
                </a:solidFill>
              </a:rPr>
              <a:t>continue</a:t>
            </a: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the step that follows </a:t>
            </a:r>
            <a:r>
              <a:rPr b="1" i="0" lang="en" sz="30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tokenization</a:t>
            </a: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is called </a:t>
            </a:r>
            <a:r>
              <a:rPr b="1" i="0" lang="en" sz="3000" u="none" cap="none" strike="noStrike">
                <a:solidFill>
                  <a:srgbClr val="002B5B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r>
              <a:rPr b="0" i="0" lang="en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DCB43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A31515"/>
                </a:solidFill>
                <a:latin typeface="Arial"/>
                <a:ea typeface="Arial"/>
                <a:cs typeface="Arial"/>
                <a:sym typeface="Arial"/>
              </a:rPr>
              <a:t>Understanding the concept of embedding is crucial to understanding deep learning in general.</a:t>
            </a:r>
            <a:endParaRPr b="1" i="0" sz="3000" u="none" cap="none" strike="noStrike">
              <a:solidFill>
                <a:srgbClr val="A3151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ca1707a95_0_2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</a:t>
            </a:r>
            <a:endParaRPr/>
          </a:p>
        </p:txBody>
      </p:sp>
      <p:sp>
        <p:nvSpPr>
          <p:cNvPr id="101" name="Google Shape;101;g3bca1707a95_0_209"/>
          <p:cNvSpPr txBox="1"/>
          <p:nvPr>
            <p:ph idx="1" type="body"/>
          </p:nvPr>
        </p:nvSpPr>
        <p:spPr>
          <a:xfrm>
            <a:off x="457200" y="1600200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b="1" lang="en">
                <a:solidFill>
                  <a:srgbClr val="002B5B"/>
                </a:solidFill>
              </a:rPr>
              <a:t>embedding</a:t>
            </a:r>
            <a:r>
              <a:rPr lang="en"/>
              <a:t> is just 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r>
              <a:rPr lang="en"/>
              <a:t> of small numbers that represent our words:</a:t>
            </a:r>
            <a:endParaRPr/>
          </a:p>
        </p:txBody>
      </p:sp>
      <p:sp>
        <p:nvSpPr>
          <p:cNvPr id="102" name="Google Shape;102;g3bca1707a95_0_209"/>
          <p:cNvSpPr/>
          <p:nvPr/>
        </p:nvSpPr>
        <p:spPr>
          <a:xfrm>
            <a:off x="3643350" y="2743188"/>
            <a:ext cx="1857300" cy="6006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Prompt: “dirty”</a:t>
            </a:r>
            <a:endParaRPr/>
          </a:p>
        </p:txBody>
      </p:sp>
      <p:sp>
        <p:nvSpPr>
          <p:cNvPr id="103" name="Google Shape;103;g3bca1707a95_0_209"/>
          <p:cNvSpPr/>
          <p:nvPr/>
        </p:nvSpPr>
        <p:spPr>
          <a:xfrm>
            <a:off x="3643350" y="3623300"/>
            <a:ext cx="1857300" cy="6006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Token: 119594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bca1707a95_0_209"/>
          <p:cNvSpPr/>
          <p:nvPr/>
        </p:nvSpPr>
        <p:spPr>
          <a:xfrm>
            <a:off x="1699050" y="4503400"/>
            <a:ext cx="5745900" cy="9525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tensor([[-0.0685, -0.2527,  0.0342,  ..., -0.0179, -0.0024,  0.0214]])</a:t>
            </a:r>
            <a:r>
              <a:rPr lang="en"/>
              <a:t> </a:t>
            </a:r>
            <a:endParaRPr/>
          </a:p>
        </p:txBody>
      </p:sp>
      <p:cxnSp>
        <p:nvCxnSpPr>
          <p:cNvPr id="105" name="Google Shape;105;g3bca1707a95_0_209"/>
          <p:cNvCxnSpPr>
            <a:stCxn id="102" idx="2"/>
            <a:endCxn id="103" idx="0"/>
          </p:cNvCxnSpPr>
          <p:nvPr/>
        </p:nvCxnSpPr>
        <p:spPr>
          <a:xfrm>
            <a:off x="4572000" y="3343788"/>
            <a:ext cx="0" cy="2796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g3bca1707a95_0_209"/>
          <p:cNvCxnSpPr>
            <a:stCxn id="103" idx="2"/>
            <a:endCxn id="104" idx="0"/>
          </p:cNvCxnSpPr>
          <p:nvPr/>
        </p:nvCxnSpPr>
        <p:spPr>
          <a:xfrm>
            <a:off x="4572000" y="4223900"/>
            <a:ext cx="0" cy="2796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g3bca1707a95_0_209"/>
          <p:cNvSpPr txBox="1"/>
          <p:nvPr>
            <p:ph idx="1" type="body"/>
          </p:nvPr>
        </p:nvSpPr>
        <p:spPr>
          <a:xfrm>
            <a:off x="457200" y="5549550"/>
            <a:ext cx="8229600" cy="1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When we type a prompt into a model we first convert it to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 and then </a:t>
            </a:r>
            <a:r>
              <a:rPr b="1" lang="en">
                <a:solidFill>
                  <a:srgbClr val="002B5B"/>
                </a:solidFill>
              </a:rPr>
              <a:t>embeddings</a:t>
            </a:r>
            <a:endParaRPr b="1">
              <a:solidFill>
                <a:srgbClr val="002B5B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c35b5116e_0_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Space - Embeddings</a:t>
            </a:r>
            <a:endParaRPr/>
          </a:p>
        </p:txBody>
      </p:sp>
      <p:pic>
        <p:nvPicPr>
          <p:cNvPr id="113" name="Google Shape;113;g3bc35b5116e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417638"/>
            <a:ext cx="8839204" cy="3034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g3bc35b5116e_0_90"/>
          <p:cNvSpPr txBox="1"/>
          <p:nvPr>
            <p:ph idx="1" type="body"/>
          </p:nvPr>
        </p:nvSpPr>
        <p:spPr>
          <a:xfrm>
            <a:off x="457200" y="4534650"/>
            <a:ext cx="8229600" cy="21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Converting </a:t>
            </a:r>
            <a:r>
              <a:rPr b="1" lang="en">
                <a:solidFill>
                  <a:srgbClr val="002B5B"/>
                </a:solidFill>
              </a:rPr>
              <a:t>tokens</a:t>
            </a:r>
            <a:r>
              <a:rPr lang="en"/>
              <a:t> to </a:t>
            </a:r>
            <a:r>
              <a:rPr b="1" lang="en">
                <a:solidFill>
                  <a:srgbClr val="002B5B"/>
                </a:solidFill>
              </a:rPr>
              <a:t>embeddings</a:t>
            </a:r>
            <a:r>
              <a:rPr lang="en"/>
              <a:t> allows us to </a:t>
            </a:r>
            <a:r>
              <a:rPr b="1" lang="en">
                <a:solidFill>
                  <a:srgbClr val="DCB439"/>
                </a:solidFill>
              </a:rPr>
              <a:t>interpret them as points in high dimensional space</a:t>
            </a:r>
            <a:r>
              <a:rPr lang="en"/>
              <a:t>, which then allows us to compare them against each other!</a:t>
            </a:r>
            <a:endParaRPr b="1">
              <a:solidFill>
                <a:srgbClr val="002B5B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ca1707a95_0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</a:t>
            </a:r>
            <a:endParaRPr/>
          </a:p>
        </p:txBody>
      </p:sp>
      <p:pic>
        <p:nvPicPr>
          <p:cNvPr id="120" name="Google Shape;120;g3bca1707a95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125" y="1476000"/>
            <a:ext cx="8467725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bca1707a95_0_35"/>
          <p:cNvSpPr txBox="1"/>
          <p:nvPr/>
        </p:nvSpPr>
        <p:spPr>
          <a:xfrm>
            <a:off x="457200" y="5249100"/>
            <a:ext cx="8229600" cy="14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This allows us to find words that are related to each other. </a:t>
            </a:r>
            <a:r>
              <a:rPr b="1" lang="en" sz="3000">
                <a:solidFill>
                  <a:srgbClr val="A31415"/>
                </a:solidFill>
              </a:rPr>
              <a:t>Remember that related is only based on co-</a:t>
            </a:r>
            <a:r>
              <a:rPr b="1" lang="en" sz="3000">
                <a:solidFill>
                  <a:srgbClr val="A31415"/>
                </a:solidFill>
              </a:rPr>
              <a:t>occurrences!!</a:t>
            </a:r>
            <a:endParaRPr b="1" sz="3000">
              <a:solidFill>
                <a:srgbClr val="A31415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ca1707a95_0_62"/>
          <p:cNvSpPr/>
          <p:nvPr/>
        </p:nvSpPr>
        <p:spPr>
          <a:xfrm>
            <a:off x="321750" y="2444850"/>
            <a:ext cx="6946800" cy="9525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bca1707a95_0_62"/>
          <p:cNvSpPr/>
          <p:nvPr/>
        </p:nvSpPr>
        <p:spPr>
          <a:xfrm>
            <a:off x="7491600" y="2547697"/>
            <a:ext cx="1195200" cy="7470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bca1707a95_0_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Predicting the Next Token: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SLM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g3bca1707a95_0_62"/>
          <p:cNvSpPr txBox="1"/>
          <p:nvPr>
            <p:ph idx="1" type="body"/>
          </p:nvPr>
        </p:nvSpPr>
        <p:spPr>
          <a:xfrm>
            <a:off x="457200" y="1600200"/>
            <a:ext cx="82296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Prompt: “I like cute and fuzzy”</a:t>
            </a:r>
            <a:endParaRPr/>
          </a:p>
        </p:txBody>
      </p:sp>
      <p:sp>
        <p:nvSpPr>
          <p:cNvPr id="130" name="Google Shape;130;g3bca1707a95_0_62"/>
          <p:cNvSpPr/>
          <p:nvPr/>
        </p:nvSpPr>
        <p:spPr>
          <a:xfrm>
            <a:off x="436200" y="265060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&lt;|sos|&gt;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g3bca1707a95_0_62"/>
          <p:cNvSpPr/>
          <p:nvPr/>
        </p:nvSpPr>
        <p:spPr>
          <a:xfrm>
            <a:off x="1592900" y="265060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g3bca1707a95_0_62"/>
          <p:cNvSpPr/>
          <p:nvPr/>
        </p:nvSpPr>
        <p:spPr>
          <a:xfrm>
            <a:off x="2749588" y="265050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like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g3bca1707a95_0_62"/>
          <p:cNvSpPr/>
          <p:nvPr/>
        </p:nvSpPr>
        <p:spPr>
          <a:xfrm>
            <a:off x="3906300" y="265060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cute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g3bca1707a95_0_62"/>
          <p:cNvSpPr/>
          <p:nvPr/>
        </p:nvSpPr>
        <p:spPr>
          <a:xfrm>
            <a:off x="5062988" y="2650488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and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g3bca1707a95_0_62"/>
          <p:cNvSpPr/>
          <p:nvPr/>
        </p:nvSpPr>
        <p:spPr>
          <a:xfrm>
            <a:off x="6197013" y="265055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fuzzy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g3bca1707a95_0_62"/>
          <p:cNvSpPr/>
          <p:nvPr/>
        </p:nvSpPr>
        <p:spPr>
          <a:xfrm>
            <a:off x="7603938" y="265055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vector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7" name="Google Shape;137;g3bca1707a95_0_62"/>
          <p:cNvCxnSpPr>
            <a:stCxn id="130" idx="3"/>
            <a:endCxn id="131" idx="1"/>
          </p:cNvCxnSpPr>
          <p:nvPr/>
        </p:nvCxnSpPr>
        <p:spPr>
          <a:xfrm>
            <a:off x="1406700" y="292120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g3bca1707a95_0_62"/>
          <p:cNvCxnSpPr>
            <a:stCxn id="131" idx="3"/>
            <a:endCxn id="132" idx="1"/>
          </p:cNvCxnSpPr>
          <p:nvPr/>
        </p:nvCxnSpPr>
        <p:spPr>
          <a:xfrm>
            <a:off x="2563400" y="292120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g3bca1707a95_0_62"/>
          <p:cNvCxnSpPr>
            <a:stCxn id="132" idx="3"/>
            <a:endCxn id="133" idx="1"/>
          </p:cNvCxnSpPr>
          <p:nvPr/>
        </p:nvCxnSpPr>
        <p:spPr>
          <a:xfrm>
            <a:off x="3720088" y="292110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g3bca1707a95_0_62"/>
          <p:cNvCxnSpPr/>
          <p:nvPr/>
        </p:nvCxnSpPr>
        <p:spPr>
          <a:xfrm>
            <a:off x="4865400" y="292120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g3bca1707a95_0_62"/>
          <p:cNvCxnSpPr/>
          <p:nvPr/>
        </p:nvCxnSpPr>
        <p:spPr>
          <a:xfrm>
            <a:off x="6033500" y="292120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ca1707a95_0_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Embeddings</a:t>
            </a:r>
            <a:endParaRPr/>
          </a:p>
        </p:txBody>
      </p:sp>
      <p:sp>
        <p:nvSpPr>
          <p:cNvPr id="147" name="Google Shape;147;g3bca1707a95_0_89"/>
          <p:cNvSpPr/>
          <p:nvPr/>
        </p:nvSpPr>
        <p:spPr>
          <a:xfrm>
            <a:off x="3616325" y="2609025"/>
            <a:ext cx="1977600" cy="26712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ca1707a95_0_89"/>
          <p:cNvSpPr txBox="1"/>
          <p:nvPr/>
        </p:nvSpPr>
        <p:spPr>
          <a:xfrm>
            <a:off x="3550075" y="3375175"/>
            <a:ext cx="2029200" cy="12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A31415"/>
                </a:solidFill>
              </a:rPr>
              <a:t>Magic Box</a:t>
            </a:r>
            <a:endParaRPr b="1" sz="2400">
              <a:solidFill>
                <a:srgbClr val="A3141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SLM</a:t>
            </a:r>
            <a:endParaRPr b="1" sz="2400"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" name="Google Shape;149;g3bca1707a95_0_89"/>
          <p:cNvSpPr/>
          <p:nvPr/>
        </p:nvSpPr>
        <p:spPr>
          <a:xfrm>
            <a:off x="610975" y="2215600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“Hello there”</a:t>
            </a:r>
            <a:endParaRPr/>
          </a:p>
        </p:txBody>
      </p:sp>
      <p:sp>
        <p:nvSpPr>
          <p:cNvPr id="150" name="Google Shape;150;g3bca1707a95_0_89"/>
          <p:cNvSpPr/>
          <p:nvPr/>
        </p:nvSpPr>
        <p:spPr>
          <a:xfrm>
            <a:off x="610975" y="3468375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FFF9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Tokens: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{“hello”: 73, “</a:t>
            </a:r>
            <a:r>
              <a:rPr lang="en"/>
              <a:t>t</a:t>
            </a:r>
            <a:r>
              <a:rPr lang="en"/>
              <a:t>here”: 44}</a:t>
            </a:r>
            <a:endParaRPr/>
          </a:p>
        </p:txBody>
      </p:sp>
      <p:sp>
        <p:nvSpPr>
          <p:cNvPr id="151" name="Google Shape;151;g3bca1707a95_0_89"/>
          <p:cNvSpPr/>
          <p:nvPr/>
        </p:nvSpPr>
        <p:spPr>
          <a:xfrm>
            <a:off x="610975" y="4721150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Embeddings: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{73: &lt;0.4, 0.3, …, -0.02&gt;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44</a:t>
            </a:r>
            <a:r>
              <a:rPr lang="en">
                <a:solidFill>
                  <a:schemeClr val="dk1"/>
                </a:solidFill>
              </a:rPr>
              <a:t>: &lt;0.27, 0.8, …, 0.06&gt;</a:t>
            </a:r>
            <a:r>
              <a:rPr lang="en"/>
              <a:t>}</a:t>
            </a:r>
            <a:endParaRPr/>
          </a:p>
        </p:txBody>
      </p:sp>
      <p:cxnSp>
        <p:nvCxnSpPr>
          <p:cNvPr id="152" name="Google Shape;152;g3bca1707a95_0_89"/>
          <p:cNvCxnSpPr>
            <a:stCxn id="149" idx="2"/>
            <a:endCxn id="150" idx="0"/>
          </p:cNvCxnSpPr>
          <p:nvPr/>
        </p:nvCxnSpPr>
        <p:spPr>
          <a:xfrm flipH="1" rot="-5400000">
            <a:off x="1734475" y="3317950"/>
            <a:ext cx="300300" cy="6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g3bca1707a95_0_89"/>
          <p:cNvCxnSpPr>
            <a:stCxn id="150" idx="2"/>
            <a:endCxn id="151" idx="0"/>
          </p:cNvCxnSpPr>
          <p:nvPr/>
        </p:nvCxnSpPr>
        <p:spPr>
          <a:xfrm flipH="1" rot="-5400000">
            <a:off x="1734475" y="4570725"/>
            <a:ext cx="300300" cy="600"/>
          </a:xfrm>
          <a:prstGeom prst="curvedConnector3">
            <a:avLst>
              <a:gd fmla="val 49996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g3bca1707a95_0_89"/>
          <p:cNvCxnSpPr>
            <a:stCxn id="151" idx="2"/>
            <a:endCxn id="147" idx="2"/>
          </p:cNvCxnSpPr>
          <p:nvPr/>
        </p:nvCxnSpPr>
        <p:spPr>
          <a:xfrm rot="-5400000">
            <a:off x="3048025" y="4116650"/>
            <a:ext cx="393300" cy="2720700"/>
          </a:xfrm>
          <a:prstGeom prst="curvedConnector3">
            <a:avLst>
              <a:gd fmla="val -60545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g3bca1707a95_0_89"/>
          <p:cNvSpPr/>
          <p:nvPr/>
        </p:nvSpPr>
        <p:spPr>
          <a:xfrm>
            <a:off x="6052575" y="1893138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Output: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&lt;0.1, 0.2, …, 0.01&gt;</a:t>
            </a:r>
            <a:endParaRPr/>
          </a:p>
        </p:txBody>
      </p:sp>
      <p:cxnSp>
        <p:nvCxnSpPr>
          <p:cNvPr id="156" name="Google Shape;156;g3bca1707a95_0_89"/>
          <p:cNvCxnSpPr>
            <a:stCxn id="147" idx="0"/>
            <a:endCxn id="155" idx="0"/>
          </p:cNvCxnSpPr>
          <p:nvPr/>
        </p:nvCxnSpPr>
        <p:spPr>
          <a:xfrm rot="-5400000">
            <a:off x="5607575" y="890775"/>
            <a:ext cx="715800" cy="2720700"/>
          </a:xfrm>
          <a:prstGeom prst="curvedConnector3">
            <a:avLst>
              <a:gd fmla="val 133279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7" name="Google Shape;157;g3bca1707a95_0_89"/>
          <p:cNvSpPr/>
          <p:nvPr/>
        </p:nvSpPr>
        <p:spPr>
          <a:xfrm>
            <a:off x="6052575" y="4094763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Output: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&lt;0.0, 0.0, …, 1.0&gt;</a:t>
            </a:r>
            <a:endParaRPr/>
          </a:p>
        </p:txBody>
      </p:sp>
      <p:sp>
        <p:nvSpPr>
          <p:cNvPr id="158" name="Google Shape;158;g3bca1707a95_0_89"/>
          <p:cNvSpPr/>
          <p:nvPr/>
        </p:nvSpPr>
        <p:spPr>
          <a:xfrm>
            <a:off x="6470025" y="3150113"/>
            <a:ext cx="1711800" cy="640200"/>
          </a:xfrm>
          <a:prstGeom prst="roundRect">
            <a:avLst>
              <a:gd fmla="val 16667" name="adj"/>
            </a:avLst>
          </a:prstGeom>
          <a:solidFill>
            <a:srgbClr val="9BA4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Compare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9" name="Google Shape;159;g3bca1707a95_0_89"/>
          <p:cNvCxnSpPr>
            <a:stCxn id="157" idx="0"/>
            <a:endCxn id="158" idx="2"/>
          </p:cNvCxnSpPr>
          <p:nvPr/>
        </p:nvCxnSpPr>
        <p:spPr>
          <a:xfrm rot="-5400000">
            <a:off x="7173975" y="3942213"/>
            <a:ext cx="304500" cy="600"/>
          </a:xfrm>
          <a:prstGeom prst="curvedConnector3">
            <a:avLst>
              <a:gd fmla="val 49992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g3bca1707a95_0_89"/>
          <p:cNvCxnSpPr>
            <a:stCxn id="155" idx="2"/>
            <a:endCxn id="158" idx="0"/>
          </p:cNvCxnSpPr>
          <p:nvPr/>
        </p:nvCxnSpPr>
        <p:spPr>
          <a:xfrm>
            <a:off x="7325925" y="2845638"/>
            <a:ext cx="0" cy="3045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g3bca1707a95_0_89"/>
          <p:cNvSpPr/>
          <p:nvPr/>
        </p:nvSpPr>
        <p:spPr>
          <a:xfrm>
            <a:off x="6052875" y="5522800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Truth: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“Hello there General”</a:t>
            </a:r>
            <a:endParaRPr/>
          </a:p>
        </p:txBody>
      </p:sp>
      <p:cxnSp>
        <p:nvCxnSpPr>
          <p:cNvPr id="162" name="Google Shape;162;g3bca1707a95_0_89"/>
          <p:cNvCxnSpPr>
            <a:stCxn id="161" idx="0"/>
            <a:endCxn id="157" idx="2"/>
          </p:cNvCxnSpPr>
          <p:nvPr/>
        </p:nvCxnSpPr>
        <p:spPr>
          <a:xfrm rot="10800000">
            <a:off x="7325925" y="5047300"/>
            <a:ext cx="300" cy="4755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g3bca1707a95_0_89"/>
          <p:cNvCxnSpPr>
            <a:stCxn id="158" idx="1"/>
            <a:endCxn id="148" idx="3"/>
          </p:cNvCxnSpPr>
          <p:nvPr/>
        </p:nvCxnSpPr>
        <p:spPr>
          <a:xfrm flipH="1">
            <a:off x="5579325" y="3470213"/>
            <a:ext cx="890700" cy="5364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ca1707a95_0_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Embeddings</a:t>
            </a:r>
            <a:endParaRPr/>
          </a:p>
        </p:txBody>
      </p:sp>
      <p:sp>
        <p:nvSpPr>
          <p:cNvPr id="169" name="Google Shape;169;g3bca1707a95_0_113"/>
          <p:cNvSpPr/>
          <p:nvPr/>
        </p:nvSpPr>
        <p:spPr>
          <a:xfrm>
            <a:off x="1507400" y="1737838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Predicted Output: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&lt;0.1, 0.2, …, 0.01&gt;</a:t>
            </a:r>
            <a:endParaRPr/>
          </a:p>
        </p:txBody>
      </p:sp>
      <p:sp>
        <p:nvSpPr>
          <p:cNvPr id="170" name="Google Shape;170;g3bca1707a95_0_113"/>
          <p:cNvSpPr/>
          <p:nvPr/>
        </p:nvSpPr>
        <p:spPr>
          <a:xfrm>
            <a:off x="1507400" y="3939463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95DC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Output: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&lt;0.0, 0.0, …, 1.0&gt;</a:t>
            </a:r>
            <a:endParaRPr/>
          </a:p>
        </p:txBody>
      </p:sp>
      <p:sp>
        <p:nvSpPr>
          <p:cNvPr id="171" name="Google Shape;171;g3bca1707a95_0_113"/>
          <p:cNvSpPr/>
          <p:nvPr/>
        </p:nvSpPr>
        <p:spPr>
          <a:xfrm>
            <a:off x="1924850" y="2994813"/>
            <a:ext cx="1711800" cy="640200"/>
          </a:xfrm>
          <a:prstGeom prst="roundRect">
            <a:avLst>
              <a:gd fmla="val 16667" name="adj"/>
            </a:avLst>
          </a:prstGeom>
          <a:solidFill>
            <a:srgbClr val="9BA4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Compare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72" name="Google Shape;172;g3bca1707a95_0_113"/>
          <p:cNvCxnSpPr>
            <a:stCxn id="170" idx="0"/>
            <a:endCxn id="171" idx="2"/>
          </p:cNvCxnSpPr>
          <p:nvPr/>
        </p:nvCxnSpPr>
        <p:spPr>
          <a:xfrm rot="-5400000">
            <a:off x="2628800" y="3786913"/>
            <a:ext cx="304500" cy="600"/>
          </a:xfrm>
          <a:prstGeom prst="curvedConnector3">
            <a:avLst>
              <a:gd fmla="val 49992" name="adj1"/>
            </a:avLst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g3bca1707a95_0_113"/>
          <p:cNvCxnSpPr>
            <a:stCxn id="169" idx="2"/>
            <a:endCxn id="171" idx="0"/>
          </p:cNvCxnSpPr>
          <p:nvPr/>
        </p:nvCxnSpPr>
        <p:spPr>
          <a:xfrm>
            <a:off x="2780750" y="2690338"/>
            <a:ext cx="0" cy="3045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" name="Google Shape;174;g3bca1707a95_0_113"/>
          <p:cNvSpPr/>
          <p:nvPr/>
        </p:nvSpPr>
        <p:spPr>
          <a:xfrm>
            <a:off x="1507700" y="5367500"/>
            <a:ext cx="2546700" cy="952500"/>
          </a:xfrm>
          <a:prstGeom prst="roundRect">
            <a:avLst>
              <a:gd fmla="val 16667" name="adj"/>
            </a:avLst>
          </a:prstGeom>
          <a:solidFill>
            <a:srgbClr val="ABFF95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 Truth: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“Hello there General”</a:t>
            </a:r>
            <a:endParaRPr/>
          </a:p>
        </p:txBody>
      </p:sp>
      <p:cxnSp>
        <p:nvCxnSpPr>
          <p:cNvPr id="175" name="Google Shape;175;g3bca1707a95_0_113"/>
          <p:cNvCxnSpPr>
            <a:stCxn id="174" idx="0"/>
            <a:endCxn id="170" idx="2"/>
          </p:cNvCxnSpPr>
          <p:nvPr/>
        </p:nvCxnSpPr>
        <p:spPr>
          <a:xfrm rot="10800000">
            <a:off x="2780750" y="4892000"/>
            <a:ext cx="300" cy="47550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" name="Google Shape;176;g3bca1707a95_0_113"/>
          <p:cNvSpPr txBox="1"/>
          <p:nvPr/>
        </p:nvSpPr>
        <p:spPr>
          <a:xfrm>
            <a:off x="4534725" y="1725900"/>
            <a:ext cx="44415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The outputs are just a vector the size of our vocab, and the number can be interpreted as the probability of that token being next</a:t>
            </a:r>
            <a:endParaRPr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c426a098a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31515"/>
                </a:solidFill>
              </a:rPr>
              <a:t>Deep Learning:</a:t>
            </a:r>
            <a:r>
              <a:rPr lang="en"/>
              <a:t>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Loss Functions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2" name="Google Shape;182;g3bc426a098a_0_5"/>
          <p:cNvSpPr txBox="1"/>
          <p:nvPr>
            <p:ph idx="1" type="body"/>
          </p:nvPr>
        </p:nvSpPr>
        <p:spPr>
          <a:xfrm>
            <a:off x="457200" y="1600200"/>
            <a:ext cx="8229600" cy="19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loss function</a:t>
            </a:r>
            <a:r>
              <a:rPr lang="en"/>
              <a:t> allows us to numerically measure </a:t>
            </a:r>
            <a:r>
              <a:rPr b="1" lang="en">
                <a:solidFill>
                  <a:srgbClr val="DCB439"/>
                </a:solidFill>
              </a:rPr>
              <a:t>how far off our model’s predicted values are from what we expected them to be</a:t>
            </a:r>
            <a:r>
              <a:rPr lang="en"/>
              <a:t>, or what we know the right answer is.</a:t>
            </a:r>
            <a:endParaRPr/>
          </a:p>
        </p:txBody>
      </p:sp>
      <p:pic>
        <p:nvPicPr>
          <p:cNvPr id="183" name="Google Shape;183;g3bc426a098a_0_5" title="Screenshot 2026-02-03 at 8.16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075" y="3588000"/>
            <a:ext cx="565785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bc426a098a_0_5"/>
          <p:cNvSpPr txBox="1"/>
          <p:nvPr/>
        </p:nvSpPr>
        <p:spPr>
          <a:xfrm>
            <a:off x="457200" y="5378700"/>
            <a:ext cx="8229600" cy="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2B5B"/>
                </a:solidFill>
              </a:rPr>
              <a:t>Cross-Entropy</a:t>
            </a:r>
            <a:r>
              <a:rPr b="1" lang="en" sz="1200">
                <a:solidFill>
                  <a:srgbClr val="002B5B"/>
                </a:solidFill>
              </a:rPr>
              <a:t>: </a:t>
            </a:r>
            <a:r>
              <a:rPr lang="en" sz="1200">
                <a:solidFill>
                  <a:srgbClr val="999999"/>
                </a:solidFill>
              </a:rPr>
              <a:t>The loss function used to train LLMs is called “Cross-Entropy Loss” and it’s one of the most common loss functions. Heavily based on the principle of “entropy” as used in Information Theory, it’s a measure of how surprising our answer is relative to our ground-truth based on the entropy formula: -∑ p(x)log</a:t>
            </a:r>
            <a:r>
              <a:rPr baseline="-25000" lang="en" sz="1200">
                <a:solidFill>
                  <a:srgbClr val="999999"/>
                </a:solidFill>
              </a:rPr>
              <a:t>2</a:t>
            </a:r>
            <a:r>
              <a:rPr lang="en" sz="1200">
                <a:solidFill>
                  <a:srgbClr val="999999"/>
                </a:solidFill>
              </a:rPr>
              <a:t>p(x)</a:t>
            </a:r>
            <a:endParaRPr sz="1200">
              <a:solidFill>
                <a:srgbClr val="99999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999999"/>
                </a:solidFill>
              </a:rPr>
              <a:t>Mostly outside the scope of the class, but it’s really not </a:t>
            </a:r>
            <a:r>
              <a:rPr i="1" lang="en" sz="1200">
                <a:solidFill>
                  <a:srgbClr val="999999"/>
                </a:solidFill>
              </a:rPr>
              <a:t>that</a:t>
            </a:r>
            <a:r>
              <a:rPr lang="en" sz="1200">
                <a:solidFill>
                  <a:srgbClr val="999999"/>
                </a:solidFill>
              </a:rPr>
              <a:t> complicated.</a:t>
            </a:r>
            <a:endParaRPr sz="12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ca1707a95_0_2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Embedding Learning Visualization</a:t>
            </a:r>
            <a:endParaRPr/>
          </a:p>
        </p:txBody>
      </p:sp>
      <p:pic>
        <p:nvPicPr>
          <p:cNvPr id="190" name="Google Shape;190;g3bca1707a95_0_2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3797" y="1815225"/>
            <a:ext cx="4556401" cy="453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ca1707a95_0_1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SLM</a:t>
            </a:r>
            <a:r>
              <a:rPr lang="en"/>
              <a:t> vs.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6" name="Google Shape;196;g3bca1707a95_0_16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All we do to convert our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SLM</a:t>
            </a:r>
            <a:r>
              <a:rPr lang="en"/>
              <a:t> to an </a:t>
            </a:r>
            <a:r>
              <a:rPr b="1"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r>
              <a:rPr lang="en"/>
              <a:t> is </a:t>
            </a:r>
            <a:r>
              <a:rPr b="1" lang="en">
                <a:solidFill>
                  <a:srgbClr val="DCB439"/>
                </a:solidFill>
              </a:rPr>
              <a:t>replace our Magic Box</a:t>
            </a:r>
            <a:r>
              <a:rPr lang="en"/>
              <a:t> with a fancier one, the overall process of training our model doesn’t change!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ca1707a95_0_1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Predicting the Next Token: </a:t>
            </a:r>
            <a:r>
              <a:rPr lang="en">
                <a:solidFill>
                  <a:srgbClr val="5AABBC"/>
                </a:solidFill>
                <a:latin typeface="Consolas"/>
                <a:ea typeface="Consolas"/>
                <a:cs typeface="Consolas"/>
                <a:sym typeface="Consolas"/>
              </a:rPr>
              <a:t>LLM</a:t>
            </a:r>
            <a:endParaRPr>
              <a:solidFill>
                <a:srgbClr val="5AABB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2" name="Google Shape;202;g3bca1707a95_0_166"/>
          <p:cNvSpPr txBox="1"/>
          <p:nvPr>
            <p:ph idx="1" type="body"/>
          </p:nvPr>
        </p:nvSpPr>
        <p:spPr>
          <a:xfrm>
            <a:off x="457200" y="1600200"/>
            <a:ext cx="8229600" cy="6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lang="en"/>
              <a:t>Prompt: “The river has a nice bank and”</a:t>
            </a:r>
            <a:endParaRPr/>
          </a:p>
        </p:txBody>
      </p:sp>
      <p:sp>
        <p:nvSpPr>
          <p:cNvPr id="203" name="Google Shape;203;g3bca1707a95_0_166"/>
          <p:cNvSpPr/>
          <p:nvPr/>
        </p:nvSpPr>
        <p:spPr>
          <a:xfrm>
            <a:off x="1217675" y="240265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g3bca1707a95_0_166"/>
          <p:cNvSpPr/>
          <p:nvPr/>
        </p:nvSpPr>
        <p:spPr>
          <a:xfrm>
            <a:off x="2374363" y="240255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river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5" name="Google Shape;205;g3bca1707a95_0_166"/>
          <p:cNvSpPr/>
          <p:nvPr/>
        </p:nvSpPr>
        <p:spPr>
          <a:xfrm>
            <a:off x="3531075" y="240265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has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6" name="Google Shape;206;g3bca1707a95_0_166"/>
          <p:cNvSpPr/>
          <p:nvPr/>
        </p:nvSpPr>
        <p:spPr>
          <a:xfrm>
            <a:off x="4687763" y="2402538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g3bca1707a95_0_166"/>
          <p:cNvSpPr/>
          <p:nvPr/>
        </p:nvSpPr>
        <p:spPr>
          <a:xfrm>
            <a:off x="5821788" y="240260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nice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08" name="Google Shape;208;g3bca1707a95_0_166"/>
          <p:cNvCxnSpPr>
            <a:stCxn id="203" idx="3"/>
            <a:endCxn id="204" idx="1"/>
          </p:cNvCxnSpPr>
          <p:nvPr/>
        </p:nvCxnSpPr>
        <p:spPr>
          <a:xfrm>
            <a:off x="2188175" y="267325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9" name="Google Shape;209;g3bca1707a95_0_166"/>
          <p:cNvCxnSpPr>
            <a:stCxn id="204" idx="3"/>
            <a:endCxn id="205" idx="1"/>
          </p:cNvCxnSpPr>
          <p:nvPr/>
        </p:nvCxnSpPr>
        <p:spPr>
          <a:xfrm>
            <a:off x="3344863" y="267315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g3bca1707a95_0_166"/>
          <p:cNvCxnSpPr/>
          <p:nvPr/>
        </p:nvCxnSpPr>
        <p:spPr>
          <a:xfrm>
            <a:off x="4490175" y="267325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g3bca1707a95_0_166"/>
          <p:cNvCxnSpPr/>
          <p:nvPr/>
        </p:nvCxnSpPr>
        <p:spPr>
          <a:xfrm>
            <a:off x="5658275" y="267325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2" name="Google Shape;212;g3bca1707a95_0_166"/>
          <p:cNvSpPr/>
          <p:nvPr/>
        </p:nvSpPr>
        <p:spPr>
          <a:xfrm>
            <a:off x="6955813" y="2402650"/>
            <a:ext cx="970500" cy="54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02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A31415"/>
                </a:solidFill>
                <a:latin typeface="Consolas"/>
                <a:ea typeface="Consolas"/>
                <a:cs typeface="Consolas"/>
                <a:sym typeface="Consolas"/>
              </a:rPr>
              <a:t>bank</a:t>
            </a:r>
            <a:endParaRPr b="1">
              <a:solidFill>
                <a:srgbClr val="A3141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13" name="Google Shape;213;g3bca1707a95_0_166"/>
          <p:cNvCxnSpPr/>
          <p:nvPr/>
        </p:nvCxnSpPr>
        <p:spPr>
          <a:xfrm>
            <a:off x="6792300" y="2673250"/>
            <a:ext cx="186300" cy="0"/>
          </a:xfrm>
          <a:prstGeom prst="straightConnector1">
            <a:avLst/>
          </a:prstGeom>
          <a:noFill/>
          <a:ln cap="flat" cmpd="sng" w="19050">
            <a:solidFill>
              <a:srgbClr val="002B5B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B Them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