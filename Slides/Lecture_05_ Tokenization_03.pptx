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CkZ5rI5xbNBF+wKS+0hYPTtnF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b8409de4d6_0_5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g3b8409de4d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b8409de4d6_0_6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g3b8409de4d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bbeee67e43_0_3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bbeee67e4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938ea6dd9_0_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3b938ea6dd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a2debe53a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ba2debe5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af4acbdf2_0_8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baf4acbdf2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af4acbdf2_0_9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baf4acbdf2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af4acbdf2_0_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baf4acbdf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af4acbdf2_0_4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baf4acbdf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af4acbdf2_0_6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baf4acbdf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8409de4d6_0_11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b8409de4d6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938ea6dd9_0_9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b938ea6dd9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beee67e43_0_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beee67e4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8409de4d6_0_10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b8409de4d6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beee67e43_0_4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bbeee67e4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beee67e43_0_5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bbeee67e4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2" name="Google Shape;12;p20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19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B439"/>
              </a:buClr>
              <a:buSzPts val="3000"/>
              <a:buNone/>
              <a:defRPr b="1">
                <a:solidFill>
                  <a:srgbClr val="DCB43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00"/>
              <a:buChar char="■"/>
              <a:defRPr>
                <a:solidFill>
                  <a:srgbClr val="9E9E9E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1709"/>
              </a:buClr>
              <a:buSzPts val="1800"/>
              <a:buChar char="●"/>
              <a:defRPr>
                <a:solidFill>
                  <a:srgbClr val="5F1709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510"/>
              </a:buClr>
              <a:buSzPts val="1800"/>
              <a:buChar char="○"/>
              <a:defRPr>
                <a:solidFill>
                  <a:srgbClr val="46551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BBC"/>
              </a:buClr>
              <a:buSzPts val="1800"/>
              <a:buChar char="■"/>
              <a:defRPr>
                <a:solidFill>
                  <a:srgbClr val="5AABBC"/>
                </a:solidFill>
              </a:defRPr>
            </a:lvl9pPr>
          </a:lstStyle>
          <a:p/>
        </p:txBody>
      </p:sp>
      <p:sp>
        <p:nvSpPr>
          <p:cNvPr id="20" name="Google Shape;20;p23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27" name="Google Shape;27;p25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B5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002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karpathy/nanochat/blob/master/nanochat/tokenizer.py" TargetMode="External"/><Relationship Id="rId4" Type="http://schemas.openxmlformats.org/officeDocument/2006/relationships/hyperlink" Target="https://github.com/openai/tiktoken/blob/main/tiktoken/_educational.py" TargetMode="External"/><Relationship Id="rId5" Type="http://schemas.openxmlformats.org/officeDocument/2006/relationships/image" Target="../media/image8.png"/><Relationship Id="rId6" Type="http://schemas.openxmlformats.org/officeDocument/2006/relationships/image" Target="../media/image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Relationship Id="rId7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b8409de4d6_0_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Programming Practice 01</a:t>
            </a:r>
            <a:endParaRPr/>
          </a:p>
        </p:txBody>
      </p:sp>
      <p:sp>
        <p:nvSpPr>
          <p:cNvPr id="35" name="Google Shape;35;g3b8409de4d6_0_50"/>
          <p:cNvSpPr txBox="1"/>
          <p:nvPr>
            <p:ph idx="1" type="body"/>
          </p:nvPr>
        </p:nvSpPr>
        <p:spPr>
          <a:xfrm>
            <a:off x="457200" y="1600200"/>
            <a:ext cx="8229600" cy="48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In Colab, write a function to do the following: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Given two </a:t>
            </a:r>
            <a:r>
              <a:rPr b="1" lang="en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lang="en"/>
              <a:t> arguments: </a:t>
            </a:r>
            <a:r>
              <a:rPr b="1" lang="en">
                <a:solidFill>
                  <a:srgbClr val="002B5B"/>
                </a:solidFill>
              </a:rPr>
              <a:t>rows</a:t>
            </a:r>
            <a:r>
              <a:rPr lang="en"/>
              <a:t> and </a:t>
            </a:r>
            <a:r>
              <a:rPr b="1" lang="en">
                <a:solidFill>
                  <a:srgbClr val="002B5B"/>
                </a:solidFill>
              </a:rPr>
              <a:t>cols</a:t>
            </a:r>
            <a:r>
              <a:rPr lang="en"/>
              <a:t> create a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"/>
              <a:t> of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lists</a:t>
            </a:r>
            <a:r>
              <a:rPr lang="en"/>
              <a:t> of size (rows, cols) full of </a:t>
            </a:r>
            <a:r>
              <a:rPr b="1" lang="en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/>
              <a:t>s and return it.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create_matrix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2, 2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&gt; [[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, 0</a:t>
            </a: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0, 0</a:t>
            </a: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]]</a:t>
            </a:r>
            <a:endParaRPr b="1" sz="2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b8409de4d6_0_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465510"/>
                </a:solidFill>
              </a:rPr>
              <a:t>Programming Practice Solution 01</a:t>
            </a:r>
            <a:endParaRPr>
              <a:solidFill>
                <a:srgbClr val="465510"/>
              </a:solidFill>
            </a:endParaRPr>
          </a:p>
        </p:txBody>
      </p:sp>
      <p:pic>
        <p:nvPicPr>
          <p:cNvPr id="41" name="Google Shape;41;g3b8409de4d6_0_60" title="Screenshot 2026-01-27 at 10.49.3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417650"/>
            <a:ext cx="4102350" cy="313105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2" name="Google Shape;42;g3b8409de4d6_0_60" title="Screenshot 2026-01-27 at 10.52.50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5475" y="4802151"/>
            <a:ext cx="4730599" cy="124130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bbeee67e43_0_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programming</a:t>
            </a:r>
            <a:r>
              <a:rPr lang="en"/>
              <a:t>: </a:t>
            </a:r>
            <a:r>
              <a:rPr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list comprehensions</a:t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" name="Google Shape;48;g3bbeee67e43_0_37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ist comprehensions</a:t>
            </a:r>
            <a:r>
              <a:rPr lang="en"/>
              <a:t> are a compact </a:t>
            </a:r>
            <a:r>
              <a:rPr b="1" lang="en">
                <a:solidFill>
                  <a:srgbClr val="DCB439"/>
                </a:solidFill>
              </a:rPr>
              <a:t>way to create a new</a:t>
            </a:r>
            <a:r>
              <a:rPr lang="en"/>
              <a:t>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"/>
              <a:t>, and are frequently used to show off</a:t>
            </a:r>
            <a:endParaRPr/>
          </a:p>
        </p:txBody>
      </p:sp>
      <p:pic>
        <p:nvPicPr>
          <p:cNvPr id="49" name="Google Shape;49;g3bbeee67e43_0_37"/>
          <p:cNvPicPr preferRelativeResize="0"/>
          <p:nvPr/>
        </p:nvPicPr>
        <p:blipFill rotWithShape="1">
          <a:blip r:embed="rId3">
            <a:alphaModFix/>
          </a:blip>
          <a:srcRect b="21491" l="11833" r="12551" t="7299"/>
          <a:stretch/>
        </p:blipFill>
        <p:spPr>
          <a:xfrm>
            <a:off x="1115012" y="3265700"/>
            <a:ext cx="6913974" cy="313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685800" y="2655750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>
                <a:solidFill>
                  <a:srgbClr val="002B5B"/>
                </a:solidFill>
              </a:rPr>
              <a:t>CSE </a:t>
            </a:r>
            <a:r>
              <a:rPr lang="en"/>
              <a:t>1</a:t>
            </a:r>
            <a:r>
              <a:rPr lang="en">
                <a:solidFill>
                  <a:srgbClr val="002B5B"/>
                </a:solidFill>
              </a:rPr>
              <a:t>0124</a:t>
            </a:r>
            <a:br>
              <a:rPr lang="en">
                <a:solidFill>
                  <a:srgbClr val="002B5B"/>
                </a:solidFill>
              </a:rPr>
            </a:br>
            <a:r>
              <a:rPr lang="en">
                <a:solidFill>
                  <a:srgbClr val="DCB439"/>
                </a:solidFill>
              </a:rPr>
              <a:t>Tokenization 03</a:t>
            </a:r>
            <a:endParaRPr>
              <a:solidFill>
                <a:srgbClr val="DCB43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g3b938ea6dd9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4325" y="207088"/>
            <a:ext cx="6767796" cy="5135563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g3b938ea6dd9_0_26"/>
          <p:cNvSpPr/>
          <p:nvPr/>
        </p:nvSpPr>
        <p:spPr>
          <a:xfrm>
            <a:off x="447725" y="4650825"/>
            <a:ext cx="2602200" cy="16203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g3b938ea6dd9_0_26"/>
          <p:cNvSpPr/>
          <p:nvPr/>
        </p:nvSpPr>
        <p:spPr>
          <a:xfrm>
            <a:off x="1524125" y="4462125"/>
            <a:ext cx="449400" cy="18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g3b938ea6dd9_0_26"/>
          <p:cNvSpPr/>
          <p:nvPr/>
        </p:nvSpPr>
        <p:spPr>
          <a:xfrm>
            <a:off x="1255775" y="4769588"/>
            <a:ext cx="988500" cy="3054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Embeddings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Google Shape;63;g3b938ea6dd9_0_26"/>
          <p:cNvCxnSpPr>
            <a:stCxn id="62" idx="0"/>
          </p:cNvCxnSpPr>
          <p:nvPr/>
        </p:nvCxnSpPr>
        <p:spPr>
          <a:xfrm flipH="1" rot="10800000">
            <a:off x="1750025" y="4259588"/>
            <a:ext cx="2700" cy="51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g3b938ea6dd9_0_26"/>
          <p:cNvSpPr/>
          <p:nvPr/>
        </p:nvSpPr>
        <p:spPr>
          <a:xfrm>
            <a:off x="1255775" y="5268200"/>
            <a:ext cx="988500" cy="305400"/>
          </a:xfrm>
          <a:prstGeom prst="roundRect">
            <a:avLst>
              <a:gd fmla="val 16667" name="adj"/>
            </a:avLst>
          </a:prstGeom>
          <a:solidFill>
            <a:srgbClr val="FFF99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Tokenizer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" name="Google Shape;65;g3b938ea6dd9_0_26"/>
          <p:cNvCxnSpPr>
            <a:stCxn id="64" idx="0"/>
            <a:endCxn id="62" idx="2"/>
          </p:cNvCxnSpPr>
          <p:nvPr/>
        </p:nvCxnSpPr>
        <p:spPr>
          <a:xfrm rot="10800000">
            <a:off x="1750025" y="5075000"/>
            <a:ext cx="0" cy="19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g3b938ea6dd9_0_26"/>
          <p:cNvSpPr txBox="1"/>
          <p:nvPr>
            <p:ph type="title"/>
          </p:nvPr>
        </p:nvSpPr>
        <p:spPr>
          <a:xfrm>
            <a:off x="4048400" y="5766800"/>
            <a:ext cx="45783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800"/>
              <a:t>Where are we?</a:t>
            </a:r>
            <a:endParaRPr sz="4800"/>
          </a:p>
        </p:txBody>
      </p:sp>
      <p:sp>
        <p:nvSpPr>
          <p:cNvPr id="67" name="Google Shape;67;g3b938ea6dd9_0_26"/>
          <p:cNvSpPr/>
          <p:nvPr/>
        </p:nvSpPr>
        <p:spPr>
          <a:xfrm>
            <a:off x="559425" y="5766800"/>
            <a:ext cx="2379000" cy="305400"/>
          </a:xfrm>
          <a:prstGeom prst="roundRect">
            <a:avLst>
              <a:gd fmla="val 16667" name="adj"/>
            </a:avLst>
          </a:prstGeom>
          <a:solidFill>
            <a:srgbClr val="95DC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“Please help me with my homework!!”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" name="Google Shape;68;g3b938ea6dd9_0_26"/>
          <p:cNvCxnSpPr>
            <a:stCxn id="67" idx="0"/>
            <a:endCxn id="64" idx="2"/>
          </p:cNvCxnSpPr>
          <p:nvPr/>
        </p:nvCxnSpPr>
        <p:spPr>
          <a:xfrm flipH="1" rot="10800000">
            <a:off x="1748925" y="5573600"/>
            <a:ext cx="1200" cy="19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g3b938ea6dd9_0_26"/>
          <p:cNvSpPr/>
          <p:nvPr/>
        </p:nvSpPr>
        <p:spPr>
          <a:xfrm>
            <a:off x="1475375" y="1022900"/>
            <a:ext cx="546900" cy="34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g3b938ea6dd9_0_26"/>
          <p:cNvSpPr/>
          <p:nvPr/>
        </p:nvSpPr>
        <p:spPr>
          <a:xfrm>
            <a:off x="202775" y="207100"/>
            <a:ext cx="3092100" cy="934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b938ea6dd9_0_26"/>
          <p:cNvSpPr/>
          <p:nvPr/>
        </p:nvSpPr>
        <p:spPr>
          <a:xfrm>
            <a:off x="447725" y="361750"/>
            <a:ext cx="2602200" cy="6252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Response: “Certainly, as a large language model I’d be happy to help you cheat on your homework assignment”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" name="Google Shape;72;g3b938ea6dd9_0_26"/>
          <p:cNvCxnSpPr>
            <a:endCxn id="71" idx="2"/>
          </p:cNvCxnSpPr>
          <p:nvPr/>
        </p:nvCxnSpPr>
        <p:spPr>
          <a:xfrm rot="10800000">
            <a:off x="1748825" y="986950"/>
            <a:ext cx="4800" cy="451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g3b938ea6dd9_0_26"/>
          <p:cNvSpPr/>
          <p:nvPr/>
        </p:nvSpPr>
        <p:spPr>
          <a:xfrm>
            <a:off x="279925" y="5169150"/>
            <a:ext cx="2911200" cy="1231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a2debe53a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Last Class - Tokenization 02</a:t>
            </a:r>
            <a:endParaRPr sz="1800"/>
          </a:p>
        </p:txBody>
      </p:sp>
      <p:sp>
        <p:nvSpPr>
          <p:cNvPr id="79" name="Google Shape;79;g3ba2debe53a_0_0"/>
          <p:cNvSpPr txBox="1"/>
          <p:nvPr/>
        </p:nvSpPr>
        <p:spPr>
          <a:xfrm>
            <a:off x="457200" y="1417650"/>
            <a:ext cx="8229600" cy="49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1.) Convert input to bytes</a:t>
            </a:r>
            <a:endParaRPr b="1" i="0" sz="24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DCB43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string_bytes</a:t>
            </a:r>
            <a:r>
              <a:rPr b="0" i="0" lang="en" sz="1400" u="none" cap="none" strike="noStrike">
                <a:solidFill>
                  <a:srgbClr val="6A522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i="0" lang="en" sz="1400" u="none" cap="none" strike="noStrike">
                <a:solidFill>
                  <a:srgbClr val="5AABBC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i="0" lang="en" sz="1400" u="none" cap="none" strike="noStrike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'rug pug hug pun bun hugs run gun'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.encode(</a:t>
            </a:r>
            <a:r>
              <a:rPr b="1" i="0" lang="en" sz="1400" u="none" cap="none" strike="noStrike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'utf-8'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)))</a:t>
            </a:r>
            <a:endParaRPr b="0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2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 [114, 117, 103, 32, 112, 117, 103, 32, 104, 117, 103, 32, 112, 117, 110, 32, 98, 117, 110, 32, 104, 117, 103, 115, 32, 114, 117, 110, 32, 103, 117, 110]</a:t>
            </a:r>
            <a:endParaRPr b="0" i="0" sz="1400" u="none" cap="none" strike="noStrike">
              <a:solidFill>
                <a:schemeClr val="lt2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t/>
            </a:r>
            <a:endParaRPr b="0" i="0" sz="1450" u="none" cap="none" strike="noStrike">
              <a:solidFill>
                <a:srgbClr val="1F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t/>
            </a:r>
            <a:endParaRPr b="0" i="0" sz="1450" u="none" cap="none" strike="noStrike">
              <a:solidFill>
                <a:srgbClr val="1F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2.) Find and count pairs</a:t>
            </a:r>
            <a:endParaRPr b="1" i="0" sz="2400" u="none" cap="none" strike="noStrike">
              <a:solidFill>
                <a:srgbClr val="1F1F1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DCB43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counts</a:t>
            </a:r>
            <a:r>
              <a:rPr b="0" i="0" lang="en" sz="14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i="0" lang="en" sz="1400" u="none" cap="none" strike="noStrike">
                <a:solidFill>
                  <a:srgbClr val="5AABBC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count_pairs</a:t>
            </a:r>
            <a:r>
              <a:rPr b="0" i="0" lang="en" sz="14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i="0" lang="en" sz="1400" u="none" cap="none" strike="noStrike">
                <a:solidFill>
                  <a:srgbClr val="DCB43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string_bytes</a:t>
            </a:r>
            <a:r>
              <a:rPr b="0" i="0" lang="en" sz="1400" u="none" cap="none" strike="noStrike">
                <a:solidFill>
                  <a:srgbClr val="1F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1F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2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 {(114, 117): 2, (117, 103): 4, (103, 32): 3, (32, 112): 2, (112, 117): 2, (32, 104): 2, (104, 117): 2, (117, 110): 4, (110, 32): 3, (32, 98): 1, (98, 117): 1, (103, 115): 1, (115, 32): 1, (32, 114): 1, (32, 103): 1, (103, 117): 1}</a:t>
            </a:r>
            <a:endParaRPr b="0" i="0" sz="1400" u="none" cap="none" strike="noStrike">
              <a:solidFill>
                <a:schemeClr val="lt2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3.) Replace the most common pair with a new token</a:t>
            </a:r>
            <a:endParaRPr b="0" i="0" sz="1450" u="none" cap="none" strike="noStrike">
              <a:solidFill>
                <a:schemeClr val="lt2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DCB43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merged_string</a:t>
            </a:r>
            <a:r>
              <a:rPr b="0" i="0" lang="en" sz="1400" u="none" cap="none" strike="noStrike">
                <a:solidFill>
                  <a:srgbClr val="1F1F1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i="0" lang="en" sz="1400" u="none" cap="none" strike="noStrike">
                <a:solidFill>
                  <a:srgbClr val="5AABBC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replace_pairs</a:t>
            </a:r>
            <a:r>
              <a:rPr b="0" i="0" lang="en" sz="1400" u="none" cap="none" strike="noStrike">
                <a:solidFill>
                  <a:srgbClr val="1F1F1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i="0" lang="en" sz="1400" u="none" cap="none" strike="noStrike">
                <a:solidFill>
                  <a:srgbClr val="DCB43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string_bytes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i="0" lang="en" sz="1400" u="none" cap="none" strike="noStrike">
                <a:solidFill>
                  <a:srgbClr val="DCB43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counts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i="0" lang="en" sz="1400" u="none" cap="none" strike="noStrike">
                <a:solidFill>
                  <a:srgbClr val="5AABBC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most_common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()[0][0], </a:t>
            </a:r>
            <a:r>
              <a:rPr b="1" i="0" lang="en" sz="1400" u="none" cap="none" strike="noStrike">
                <a:solidFill>
                  <a:srgbClr val="46551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257</a:t>
            </a:r>
            <a:r>
              <a:rPr b="0" i="0" lang="en" sz="1400" u="none" cap="none" strike="noStrike">
                <a:solidFill>
                  <a:srgbClr val="1F1F1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1F1F1F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2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b="0" i="0" lang="en" sz="1400" u="none" cap="none" strike="noStrike">
                <a:solidFill>
                  <a:schemeClr val="lt2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[114, 257, 32, 112, 257, 32, 104, 257, 32, 112, 117, 110, 32, 98, 117, 110, 32, 104, 257, 115, 32, 114, 117, 110, 32, 103, 117, 110]</a:t>
            </a:r>
            <a:endParaRPr b="0" i="0" sz="1400" u="none" cap="none" strike="noStrike">
              <a:solidFill>
                <a:schemeClr val="lt2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1F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1F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1F1F1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50800" marR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0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af4acbdf2_0_8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programming</a:t>
            </a:r>
            <a:r>
              <a:rPr lang="en"/>
              <a:t>: </a:t>
            </a:r>
            <a:r>
              <a:rPr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count_pairs()</a:t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" name="Google Shape;85;g3baf4acbdf2_0_84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Two classes ago we wrote a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"/>
              <a:t> we called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count_consecutive_pairs()</a:t>
            </a:r>
            <a:r>
              <a:rPr lang="en"/>
              <a:t>, we can use this to find </a:t>
            </a:r>
            <a:r>
              <a:rPr b="1" lang="en">
                <a:solidFill>
                  <a:srgbClr val="002B5B"/>
                </a:solidFill>
              </a:rPr>
              <a:t>tokens</a:t>
            </a:r>
            <a:r>
              <a:rPr lang="en"/>
              <a:t> that frequently appear near each other!</a:t>
            </a:r>
            <a:endParaRPr/>
          </a:p>
        </p:txBody>
      </p:sp>
      <p:pic>
        <p:nvPicPr>
          <p:cNvPr id="86" name="Google Shape;86;g3baf4acbdf2_0_84" title="Screenshot 2026-01-20 at 10.46.28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975" y="3875150"/>
            <a:ext cx="7086051" cy="238820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af4acbdf2_0_9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programming</a:t>
            </a:r>
            <a:r>
              <a:rPr lang="en"/>
              <a:t>: </a:t>
            </a:r>
            <a:r>
              <a:rPr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merge_pair()</a:t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" name="Google Shape;92;g3baf4acbdf2_0_9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Last class we wrote a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"/>
              <a:t> we called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replace_pairs()</a:t>
            </a:r>
            <a:r>
              <a:rPr lang="en"/>
              <a:t> which we can use to merge the frequent pairs into new, larger </a:t>
            </a:r>
            <a:r>
              <a:rPr b="1" lang="en">
                <a:solidFill>
                  <a:srgbClr val="002B5B"/>
                </a:solidFill>
              </a:rPr>
              <a:t>tokens</a:t>
            </a:r>
            <a:r>
              <a:rPr lang="en"/>
              <a:t>!</a:t>
            </a:r>
            <a:endParaRPr/>
          </a:p>
        </p:txBody>
      </p:sp>
      <p:pic>
        <p:nvPicPr>
          <p:cNvPr id="93" name="Google Shape;93;g3baf4acbdf2_0_90" title="Screenshot 2026-01-21 at 9.48.06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2938" y="3211350"/>
            <a:ext cx="5718126" cy="335655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af4acbdf2_0_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programming</a:t>
            </a:r>
            <a:r>
              <a:rPr lang="en"/>
              <a:t>: Classes</a:t>
            </a:r>
            <a:endParaRPr/>
          </a:p>
        </p:txBody>
      </p:sp>
      <p:sp>
        <p:nvSpPr>
          <p:cNvPr id="99" name="Google Shape;99;g3baf4acbdf2_0_1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A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/>
              <a:t> is a data type that defines both data, and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functions</a:t>
            </a:r>
            <a:r>
              <a:rPr lang="en"/>
              <a:t> used to manipulate the data. A Specific instances of a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/>
              <a:t> are called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objects</a:t>
            </a:r>
            <a:r>
              <a:rPr lang="en"/>
              <a:t>.</a:t>
            </a:r>
            <a:endParaRPr/>
          </a:p>
        </p:txBody>
      </p:sp>
      <p:pic>
        <p:nvPicPr>
          <p:cNvPr id="100" name="Google Shape;100;g3baf4acbdf2_0_12" title="Screenshot 2026-01-20 at 11.40.30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8643" y="3590925"/>
            <a:ext cx="5326725" cy="125960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1" name="Google Shape;101;g3baf4acbdf2_0_12" title="Screenshot 2026-01-20 at 11.41.41 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7675" y="5098875"/>
            <a:ext cx="7328650" cy="65485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2" name="Google Shape;102;g3baf4acbdf2_0_12"/>
          <p:cNvSpPr txBox="1"/>
          <p:nvPr/>
        </p:nvSpPr>
        <p:spPr>
          <a:xfrm>
            <a:off x="457200" y="6002075"/>
            <a:ext cx="82296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DCB439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 can use </a:t>
            </a:r>
            <a:r>
              <a:rPr b="1" i="0" lang="en" sz="18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dir(class)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b="1" i="0" lang="en" sz="18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out the </a:t>
            </a:r>
            <a:r>
              <a:rPr b="1" i="0" lang="en" sz="18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attributes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" sz="18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functions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b="1" i="0" lang="en" sz="18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af4acbdf2_0_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programming</a:t>
            </a:r>
            <a:r>
              <a:rPr lang="en"/>
              <a:t>: </a:t>
            </a:r>
            <a:r>
              <a:rPr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Simple_Tokenizer()</a:t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8" name="Google Shape;108;g3baf4acbdf2_0_4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We can put all of this together in a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/>
              <a:t> to create a </a:t>
            </a:r>
            <a:r>
              <a:rPr b="1" lang="en">
                <a:solidFill>
                  <a:srgbClr val="002B5B"/>
                </a:solidFill>
              </a:rPr>
              <a:t>tokenizer</a:t>
            </a:r>
            <a:r>
              <a:rPr lang="en"/>
              <a:t> we can re-use!</a:t>
            </a:r>
            <a:endParaRPr/>
          </a:p>
        </p:txBody>
      </p:sp>
      <p:pic>
        <p:nvPicPr>
          <p:cNvPr id="109" name="Google Shape;109;g3baf4acbdf2_0_49" title="Screenshot 2026-01-22 at 11.30.09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450" y="3510199"/>
            <a:ext cx="7595100" cy="745425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af4acbdf2_0_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“tonight?”</a:t>
            </a:r>
            <a:r>
              <a:rPr lang="en"/>
              <a:t> vs. </a:t>
            </a: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“tonight”</a:t>
            </a:r>
            <a:endParaRPr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5" name="Google Shape;115;g3baf4acbdf2_0_6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This simple tokenizer works, but it seems very silly that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“tonight?”</a:t>
            </a:r>
            <a:r>
              <a:rPr lang="en"/>
              <a:t> is a different token than </a:t>
            </a:r>
            <a:r>
              <a:rPr b="1" lang="en">
                <a:solidFill>
                  <a:srgbClr val="A31415"/>
                </a:solidFill>
              </a:rPr>
              <a:t>“tonight”</a:t>
            </a:r>
            <a:r>
              <a:rPr lang="en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>
              <a:solidFill>
                <a:srgbClr val="002B5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>
              <a:solidFill>
                <a:srgbClr val="002B5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">
                <a:solidFill>
                  <a:srgbClr val="002B5B"/>
                </a:solidFill>
              </a:rPr>
              <a:t>BPE</a:t>
            </a:r>
            <a:r>
              <a:rPr lang="en"/>
              <a:t> is excellent at breaking down words statistically, but </a:t>
            </a:r>
            <a:r>
              <a:rPr b="1" lang="en">
                <a:solidFill>
                  <a:srgbClr val="A31415"/>
                </a:solidFill>
              </a:rPr>
              <a:t>it can make suboptimal merges</a:t>
            </a:r>
            <a:r>
              <a:rPr lang="en"/>
              <a:t> like combining punctuation with words.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8409de4d6_0_1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programming</a:t>
            </a:r>
            <a:r>
              <a:rPr lang="en"/>
              <a:t>: Regex</a:t>
            </a:r>
            <a:endParaRPr/>
          </a:p>
        </p:txBody>
      </p:sp>
      <p:sp>
        <p:nvSpPr>
          <p:cNvPr id="121" name="Google Shape;121;g3b8409de4d6_0_118"/>
          <p:cNvSpPr txBox="1"/>
          <p:nvPr>
            <p:ph idx="1" type="body"/>
          </p:nvPr>
        </p:nvSpPr>
        <p:spPr>
          <a:xfrm>
            <a:off x="457200" y="1600200"/>
            <a:ext cx="8229600" cy="12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>
                <a:solidFill>
                  <a:srgbClr val="002B5B"/>
                </a:solidFill>
              </a:rPr>
              <a:t>Regex</a:t>
            </a:r>
            <a:r>
              <a:rPr lang="en"/>
              <a:t> allows us to define patterns that we can use to filter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strings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" name="Google Shape;122;g3b8409de4d6_0_118"/>
          <p:cNvSpPr txBox="1"/>
          <p:nvPr/>
        </p:nvSpPr>
        <p:spPr>
          <a:xfrm>
            <a:off x="503850" y="5141175"/>
            <a:ext cx="82296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DCB439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1800" u="none" cap="none" strike="noStrike">
                <a:solidFill>
                  <a:srgbClr val="002B5B"/>
                </a:solidFill>
                <a:latin typeface="Arial"/>
                <a:ea typeface="Arial"/>
                <a:cs typeface="Arial"/>
                <a:sym typeface="Arial"/>
              </a:rPr>
              <a:t>Regex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super confusing and almost a language unto itself, </a:t>
            </a:r>
            <a:r>
              <a:rPr b="1" i="0" lang="en" sz="1800" u="none" cap="none" strike="noStrike">
                <a:solidFill>
                  <a:srgbClr val="DCB439"/>
                </a:solidFill>
                <a:latin typeface="Arial"/>
                <a:ea typeface="Arial"/>
                <a:cs typeface="Arial"/>
                <a:sym typeface="Arial"/>
              </a:rPr>
              <a:t>only sickos have it memorized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i="0" lang="en" sz="1800" u="none" cap="none" strike="noStrike">
                <a:solidFill>
                  <a:srgbClr val="465510"/>
                </a:solidFill>
                <a:latin typeface="Arial"/>
                <a:ea typeface="Arial"/>
                <a:cs typeface="Arial"/>
                <a:sym typeface="Arial"/>
              </a:rPr>
              <a:t>Just use a cheat sheet or ask chat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g3b8409de4d6_0_118"/>
          <p:cNvPicPr preferRelativeResize="0"/>
          <p:nvPr/>
        </p:nvPicPr>
        <p:blipFill rotWithShape="1">
          <a:blip r:embed="rId3">
            <a:alphaModFix/>
          </a:blip>
          <a:srcRect b="5479" l="0" r="0" t="5860"/>
          <a:stretch/>
        </p:blipFill>
        <p:spPr>
          <a:xfrm>
            <a:off x="1764750" y="2603800"/>
            <a:ext cx="5614500" cy="253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b8409de4d6_0_118"/>
          <p:cNvSpPr txBox="1"/>
          <p:nvPr/>
        </p:nvSpPr>
        <p:spPr>
          <a:xfrm>
            <a:off x="503850" y="5840175"/>
            <a:ext cx="82296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DCB439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18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regex 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short for </a:t>
            </a:r>
            <a:r>
              <a:rPr b="1" i="0" lang="en" sz="1800" u="none" cap="none" strike="noStrike">
                <a:solidFill>
                  <a:srgbClr val="002B5B"/>
                </a:solidFill>
                <a:latin typeface="Arial"/>
                <a:ea typeface="Arial"/>
                <a:cs typeface="Arial"/>
                <a:sym typeface="Arial"/>
              </a:rPr>
              <a:t>“regular expression”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(or “rational expression”) and I actually met one of the creators while interviewing at Princeton!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938ea6dd9_0_9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Regex in Tokenization</a:t>
            </a:r>
            <a:endParaRPr/>
          </a:p>
        </p:txBody>
      </p:sp>
      <p:sp>
        <p:nvSpPr>
          <p:cNvPr id="130" name="Google Shape;130;g3b938ea6dd9_0_93"/>
          <p:cNvSpPr txBox="1"/>
          <p:nvPr/>
        </p:nvSpPr>
        <p:spPr>
          <a:xfrm>
            <a:off x="457200" y="1417650"/>
            <a:ext cx="8229600" cy="5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we can do is pre-split our text based on linguistic “landmarks” like whitespace and punctuation using </a:t>
            </a:r>
            <a:r>
              <a:rPr b="1" i="0" lang="en" sz="30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regex</a:t>
            </a:r>
            <a:endParaRPr b="1" i="0" sz="3000" u="none" cap="none" strike="noStrike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regex</a:t>
            </a:r>
            <a:r>
              <a:rPr b="1" i="0" lang="en" sz="3000" u="none" cap="none" strike="noStrike">
                <a:solidFill>
                  <a:srgbClr val="465510"/>
                </a:solidFill>
                <a:latin typeface="Arial"/>
                <a:ea typeface="Arial"/>
                <a:cs typeface="Arial"/>
                <a:sym typeface="Arial"/>
              </a:rPr>
              <a:t> acts as a "pre-filter"</a:t>
            </a:r>
            <a:r>
              <a:rPr b="0" i="0" lang="e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prevent these issues, ensuring that letters, numbers, punctuation, and whitespace split.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b938ea6dd9_0_93"/>
          <p:cNvSpPr txBox="1"/>
          <p:nvPr/>
        </p:nvSpPr>
        <p:spPr>
          <a:xfrm>
            <a:off x="331200" y="3200400"/>
            <a:ext cx="8481600" cy="156750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(r_t.chunk(</a:t>
            </a:r>
            <a:r>
              <a:rPr b="1" i="0" lang="en" sz="18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"No cap are u rolling the party tonight?"</a:t>
            </a: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b="1" i="0" lang="en" sz="10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'(?i:[sdmt]|ll|ve|re)|[^\r\n\p{L}\p{N}]?+\p{L}+|\p{N}{1,3}| ?[^\s\p{L}\p{N}]++[\r\n]*|\s*[\r\n]|\s+(?!\S)|\s+</a:t>
            </a:r>
            <a:endParaRPr b="1" i="0" sz="1000" u="none" cap="none" strike="noStrike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b="0" i="0" lang="en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i="0" lang="en" sz="15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'No'</a:t>
            </a:r>
            <a:r>
              <a:rPr b="0" i="0" lang="en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i="0" lang="en" sz="15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' cap'</a:t>
            </a:r>
            <a:r>
              <a:rPr b="0" i="0" lang="en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i="0" lang="en" sz="15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' are'</a:t>
            </a:r>
            <a:r>
              <a:rPr b="0" i="0" lang="en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i="0" lang="en" sz="15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' u'</a:t>
            </a:r>
            <a:r>
              <a:rPr b="0" i="0" lang="en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i="0" lang="en" sz="15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' rolling'</a:t>
            </a:r>
            <a:r>
              <a:rPr b="0" i="0" lang="en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i="0" lang="en" sz="15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' the'</a:t>
            </a:r>
            <a:r>
              <a:rPr b="0" i="0" lang="en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i="0" lang="en" sz="15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' party'</a:t>
            </a:r>
            <a:r>
              <a:rPr b="0" i="0" lang="en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i="0" lang="en" sz="15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' tonight'</a:t>
            </a:r>
            <a:r>
              <a:rPr b="0" i="0" lang="en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i="0" lang="en" sz="15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'?'</a:t>
            </a:r>
            <a:r>
              <a:rPr b="0" i="0" lang="en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beee67e43_0_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2B5B"/>
                </a:solidFill>
              </a:rPr>
              <a:t>Code Copy →</a:t>
            </a:r>
            <a:r>
              <a:rPr lang="en">
                <a:solidFill>
                  <a:srgbClr val="DCB439"/>
                </a:solidFill>
              </a:rPr>
              <a:t> </a:t>
            </a:r>
            <a:r>
              <a:rPr lang="en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lang="en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ab 01</a:t>
            </a:r>
            <a:endParaRPr>
              <a:solidFill>
                <a:srgbClr val="DCB43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" name="Google Shape;137;g3bbeee67e43_0_30"/>
          <p:cNvSpPr txBox="1"/>
          <p:nvPr>
            <p:ph idx="1" type="body"/>
          </p:nvPr>
        </p:nvSpPr>
        <p:spPr>
          <a:xfrm>
            <a:off x="457200" y="1600200"/>
            <a:ext cx="8229600" cy="20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Lab 01</a:t>
            </a:r>
            <a:r>
              <a:rPr lang="en"/>
              <a:t> will be a guided walkthrough of programming a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RegexTokenizer() class </a:t>
            </a:r>
            <a:r>
              <a:rPr lang="en"/>
              <a:t>which will be the first piece of code for our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LLM</a:t>
            </a:r>
            <a:r>
              <a:rPr lang="en"/>
              <a:t> we’re building this semester.</a:t>
            </a:r>
            <a:endParaRPr/>
          </a:p>
        </p:txBody>
      </p:sp>
      <p:pic>
        <p:nvPicPr>
          <p:cNvPr id="138" name="Google Shape;138;g3bbeee67e43_0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7037" y="3766943"/>
            <a:ext cx="3010832" cy="228469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bbeee67e43_0_30"/>
          <p:cNvSpPr/>
          <p:nvPr/>
        </p:nvSpPr>
        <p:spPr>
          <a:xfrm>
            <a:off x="3055086" y="5743857"/>
            <a:ext cx="1157700" cy="7209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40675" lIns="40675" spcFirstLastPara="1" rIns="40675" wrap="square" tIns="40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"/>
              <a:buFont typeface="Arial"/>
              <a:buNone/>
            </a:pPr>
            <a:r>
              <a:t/>
            </a:r>
            <a:endParaRPr b="0" i="0" sz="44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bbeee67e43_0_30"/>
          <p:cNvSpPr/>
          <p:nvPr/>
        </p:nvSpPr>
        <p:spPr>
          <a:xfrm>
            <a:off x="3533953" y="5659908"/>
            <a:ext cx="199800" cy="84000"/>
          </a:xfrm>
          <a:prstGeom prst="rect">
            <a:avLst/>
          </a:prstGeom>
          <a:solidFill>
            <a:schemeClr val="lt1"/>
          </a:solidFill>
          <a:ln cap="flat" cmpd="sng" w="42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675" lIns="40675" spcFirstLastPara="1" rIns="40675" wrap="square" tIns="40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3"/>
              <a:buFont typeface="Arial"/>
              <a:buNone/>
            </a:pPr>
            <a:r>
              <a:t/>
            </a:r>
            <a:endParaRPr b="0" i="0" sz="6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bbeee67e43_0_30"/>
          <p:cNvSpPr/>
          <p:nvPr/>
        </p:nvSpPr>
        <p:spPr>
          <a:xfrm>
            <a:off x="3414570" y="5796691"/>
            <a:ext cx="439800" cy="1359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42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675" lIns="40675" spcFirstLastPara="1" rIns="40675" wrap="square" tIns="40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"/>
              <a:buFont typeface="Arial"/>
              <a:buNone/>
            </a:pPr>
            <a:r>
              <a:rPr b="0" i="0" lang="en" sz="4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Embeddings</a:t>
            </a:r>
            <a:endParaRPr b="0" i="0" sz="44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142;g3bbeee67e43_0_30"/>
          <p:cNvCxnSpPr>
            <a:stCxn id="141" idx="0"/>
          </p:cNvCxnSpPr>
          <p:nvPr/>
        </p:nvCxnSpPr>
        <p:spPr>
          <a:xfrm flipH="1" rot="10800000">
            <a:off x="3634470" y="5569891"/>
            <a:ext cx="1200" cy="226800"/>
          </a:xfrm>
          <a:prstGeom prst="straightConnector1">
            <a:avLst/>
          </a:prstGeom>
          <a:noFill/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g3bbeee67e43_0_30"/>
          <p:cNvSpPr/>
          <p:nvPr/>
        </p:nvSpPr>
        <p:spPr>
          <a:xfrm>
            <a:off x="3414570" y="6018512"/>
            <a:ext cx="439800" cy="135900"/>
          </a:xfrm>
          <a:prstGeom prst="roundRect">
            <a:avLst>
              <a:gd fmla="val 16667" name="adj"/>
            </a:avLst>
          </a:prstGeom>
          <a:solidFill>
            <a:srgbClr val="FFF995"/>
          </a:solidFill>
          <a:ln cap="flat" cmpd="sng" w="42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675" lIns="40675" spcFirstLastPara="1" rIns="40675" wrap="square" tIns="40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"/>
              <a:buFont typeface="Arial"/>
              <a:buNone/>
            </a:pPr>
            <a:r>
              <a:rPr b="0" i="0" lang="en" sz="4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Tokenizer</a:t>
            </a:r>
            <a:endParaRPr b="0" i="0" sz="44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g3bbeee67e43_0_30"/>
          <p:cNvCxnSpPr>
            <a:stCxn id="143" idx="0"/>
            <a:endCxn id="141" idx="2"/>
          </p:cNvCxnSpPr>
          <p:nvPr/>
        </p:nvCxnSpPr>
        <p:spPr>
          <a:xfrm rot="10800000">
            <a:off x="3634470" y="5932712"/>
            <a:ext cx="0" cy="85800"/>
          </a:xfrm>
          <a:prstGeom prst="straightConnector1">
            <a:avLst/>
          </a:prstGeom>
          <a:noFill/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g3bbeee67e43_0_30"/>
          <p:cNvSpPr/>
          <p:nvPr/>
        </p:nvSpPr>
        <p:spPr>
          <a:xfrm>
            <a:off x="3104778" y="6240327"/>
            <a:ext cx="1058400" cy="135900"/>
          </a:xfrm>
          <a:prstGeom prst="roundRect">
            <a:avLst>
              <a:gd fmla="val 16667" name="adj"/>
            </a:avLst>
          </a:prstGeom>
          <a:solidFill>
            <a:srgbClr val="95DCFF"/>
          </a:solidFill>
          <a:ln cap="flat" cmpd="sng" w="42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675" lIns="40675" spcFirstLastPara="1" rIns="40675" wrap="square" tIns="40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"/>
              <a:buFont typeface="Arial"/>
              <a:buNone/>
            </a:pPr>
            <a:r>
              <a:rPr b="0" i="0" lang="en" sz="4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“Please help me with my homework!!”</a:t>
            </a:r>
            <a:endParaRPr b="0" i="0" sz="44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" name="Google Shape;146;g3bbeee67e43_0_30"/>
          <p:cNvCxnSpPr>
            <a:stCxn id="145" idx="0"/>
            <a:endCxn id="143" idx="2"/>
          </p:cNvCxnSpPr>
          <p:nvPr/>
        </p:nvCxnSpPr>
        <p:spPr>
          <a:xfrm flipH="1" rot="10800000">
            <a:off x="3633978" y="6154527"/>
            <a:ext cx="600" cy="85800"/>
          </a:xfrm>
          <a:prstGeom prst="straightConnector1">
            <a:avLst/>
          </a:prstGeom>
          <a:noFill/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g3bbeee67e43_0_30"/>
          <p:cNvSpPr/>
          <p:nvPr/>
        </p:nvSpPr>
        <p:spPr>
          <a:xfrm>
            <a:off x="3512265" y="4129879"/>
            <a:ext cx="243300" cy="155400"/>
          </a:xfrm>
          <a:prstGeom prst="rect">
            <a:avLst/>
          </a:prstGeom>
          <a:solidFill>
            <a:schemeClr val="lt1"/>
          </a:solidFill>
          <a:ln cap="flat" cmpd="sng" w="42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675" lIns="40675" spcFirstLastPara="1" rIns="40675" wrap="square" tIns="40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3"/>
              <a:buFont typeface="Arial"/>
              <a:buNone/>
            </a:pPr>
            <a:r>
              <a:t/>
            </a:r>
            <a:endParaRPr b="0" i="0" sz="6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bbeee67e43_0_30"/>
          <p:cNvSpPr/>
          <p:nvPr/>
        </p:nvSpPr>
        <p:spPr>
          <a:xfrm>
            <a:off x="2946113" y="3766949"/>
            <a:ext cx="1375500" cy="4158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40675" lIns="40675" spcFirstLastPara="1" rIns="40675" wrap="square" tIns="40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"/>
              <a:buFont typeface="Arial"/>
              <a:buNone/>
            </a:pPr>
            <a:r>
              <a:t/>
            </a:r>
            <a:endParaRPr b="0" i="0" sz="44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bbeee67e43_0_30"/>
          <p:cNvSpPr/>
          <p:nvPr/>
        </p:nvSpPr>
        <p:spPr>
          <a:xfrm>
            <a:off x="3055086" y="3835749"/>
            <a:ext cx="1157700" cy="2781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42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675" lIns="40675" spcFirstLastPara="1" rIns="40675" wrap="square" tIns="40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"/>
              <a:buFont typeface="Arial"/>
              <a:buNone/>
            </a:pPr>
            <a:r>
              <a:rPr b="0" i="0" lang="en" sz="4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Response: “Certainly, as a large language model I’d be happy to help you cheat on your homework assignment”</a:t>
            </a:r>
            <a:endParaRPr b="0" i="0" sz="44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" name="Google Shape;150;g3bbeee67e43_0_30"/>
          <p:cNvCxnSpPr>
            <a:endCxn id="149" idx="2"/>
          </p:cNvCxnSpPr>
          <p:nvPr/>
        </p:nvCxnSpPr>
        <p:spPr>
          <a:xfrm rot="10800000">
            <a:off x="3633936" y="4113849"/>
            <a:ext cx="2100" cy="201000"/>
          </a:xfrm>
          <a:prstGeom prst="straightConnector1">
            <a:avLst/>
          </a:prstGeom>
          <a:noFill/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g3bbeee67e43_0_30"/>
          <p:cNvSpPr/>
          <p:nvPr/>
        </p:nvSpPr>
        <p:spPr>
          <a:xfrm>
            <a:off x="3302300" y="5974450"/>
            <a:ext cx="678300" cy="226800"/>
          </a:xfrm>
          <a:prstGeom prst="rect">
            <a:avLst/>
          </a:prstGeom>
          <a:noFill/>
          <a:ln cap="flat" cmpd="sng" w="38100">
            <a:solidFill>
              <a:srgbClr val="A3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675" lIns="40675" spcFirstLastPara="1" rIns="40675" wrap="square" tIns="40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3"/>
              <a:buFont typeface="Arial"/>
              <a:buNone/>
            </a:pPr>
            <a:r>
              <a:t/>
            </a:r>
            <a:endParaRPr b="0" i="0" sz="622" u="none" cap="none" strike="noStrike">
              <a:solidFill>
                <a:srgbClr val="DCB4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bbeee67e43_0_30"/>
          <p:cNvSpPr txBox="1"/>
          <p:nvPr/>
        </p:nvSpPr>
        <p:spPr>
          <a:xfrm>
            <a:off x="2086125" y="5974450"/>
            <a:ext cx="725400" cy="226800"/>
          </a:xfrm>
          <a:prstGeom prst="rect">
            <a:avLst/>
          </a:prstGeom>
          <a:noFill/>
          <a:ln cap="flat" cmpd="sng" w="38100">
            <a:solidFill>
              <a:srgbClr val="A3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Lab 01</a:t>
            </a:r>
            <a:endParaRPr b="1" sz="1200">
              <a:solidFill>
                <a:srgbClr val="DCB43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" name="Google Shape;153;g3bbeee67e43_0_30"/>
          <p:cNvSpPr/>
          <p:nvPr/>
        </p:nvSpPr>
        <p:spPr>
          <a:xfrm>
            <a:off x="3302300" y="5751250"/>
            <a:ext cx="678300" cy="226800"/>
          </a:xfrm>
          <a:prstGeom prst="rect">
            <a:avLst/>
          </a:prstGeom>
          <a:noFill/>
          <a:ln cap="flat" cmpd="sng" w="38100">
            <a:solidFill>
              <a:srgbClr val="A3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675" lIns="40675" spcFirstLastPara="1" rIns="40675" wrap="square" tIns="40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3"/>
              <a:buFont typeface="Arial"/>
              <a:buNone/>
            </a:pPr>
            <a:r>
              <a:t/>
            </a:r>
            <a:endParaRPr b="0" i="0" sz="622" u="none" cap="none" strike="noStrike">
              <a:solidFill>
                <a:srgbClr val="DCB4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bbeee67e43_0_30"/>
          <p:cNvSpPr txBox="1"/>
          <p:nvPr/>
        </p:nvSpPr>
        <p:spPr>
          <a:xfrm>
            <a:off x="2086125" y="5751250"/>
            <a:ext cx="725400" cy="226800"/>
          </a:xfrm>
          <a:prstGeom prst="rect">
            <a:avLst/>
          </a:prstGeom>
          <a:noFill/>
          <a:ln cap="flat" cmpd="sng" w="38100">
            <a:solidFill>
              <a:srgbClr val="A3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Lab 02</a:t>
            </a:r>
            <a:endParaRPr b="1" sz="1200">
              <a:solidFill>
                <a:srgbClr val="DCB43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5" name="Google Shape;155;g3bbeee67e43_0_30"/>
          <p:cNvSpPr/>
          <p:nvPr/>
        </p:nvSpPr>
        <p:spPr>
          <a:xfrm>
            <a:off x="3302300" y="4285275"/>
            <a:ext cx="678300" cy="226800"/>
          </a:xfrm>
          <a:prstGeom prst="rect">
            <a:avLst/>
          </a:prstGeom>
          <a:noFill/>
          <a:ln cap="flat" cmpd="sng" w="38100">
            <a:solidFill>
              <a:srgbClr val="A3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675" lIns="40675" spcFirstLastPara="1" rIns="40675" wrap="square" tIns="40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3"/>
              <a:buFont typeface="Arial"/>
              <a:buNone/>
            </a:pPr>
            <a:r>
              <a:t/>
            </a:r>
            <a:endParaRPr b="0" i="0" sz="622" u="none" cap="none" strike="noStrike">
              <a:solidFill>
                <a:srgbClr val="DCB4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bbeee67e43_0_30"/>
          <p:cNvSpPr txBox="1"/>
          <p:nvPr/>
        </p:nvSpPr>
        <p:spPr>
          <a:xfrm>
            <a:off x="2111200" y="4285275"/>
            <a:ext cx="725400" cy="226800"/>
          </a:xfrm>
          <a:prstGeom prst="rect">
            <a:avLst/>
          </a:prstGeom>
          <a:noFill/>
          <a:ln cap="flat" cmpd="sng" w="38100">
            <a:solidFill>
              <a:srgbClr val="A3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Lab 03</a:t>
            </a:r>
            <a:endParaRPr b="1" sz="1200">
              <a:solidFill>
                <a:srgbClr val="DCB43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57" name="Google Shape;157;g3bbeee67e43_0_30"/>
          <p:cNvCxnSpPr>
            <a:stCxn id="156" idx="3"/>
            <a:endCxn id="155" idx="1"/>
          </p:cNvCxnSpPr>
          <p:nvPr/>
        </p:nvCxnSpPr>
        <p:spPr>
          <a:xfrm>
            <a:off x="2836600" y="4398675"/>
            <a:ext cx="465600" cy="0"/>
          </a:xfrm>
          <a:prstGeom prst="straightConnector1">
            <a:avLst/>
          </a:prstGeom>
          <a:noFill/>
          <a:ln cap="flat" cmpd="sng" w="19050">
            <a:solidFill>
              <a:srgbClr val="A3151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g3bbeee67e43_0_30"/>
          <p:cNvCxnSpPr>
            <a:stCxn id="154" idx="3"/>
            <a:endCxn id="153" idx="1"/>
          </p:cNvCxnSpPr>
          <p:nvPr/>
        </p:nvCxnSpPr>
        <p:spPr>
          <a:xfrm>
            <a:off x="2811525" y="5864650"/>
            <a:ext cx="490800" cy="0"/>
          </a:xfrm>
          <a:prstGeom prst="straightConnector1">
            <a:avLst/>
          </a:prstGeom>
          <a:noFill/>
          <a:ln cap="flat" cmpd="sng" w="19050">
            <a:solidFill>
              <a:srgbClr val="A3151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g3bbeee67e43_0_30"/>
          <p:cNvCxnSpPr>
            <a:stCxn id="152" idx="3"/>
            <a:endCxn id="151" idx="1"/>
          </p:cNvCxnSpPr>
          <p:nvPr/>
        </p:nvCxnSpPr>
        <p:spPr>
          <a:xfrm>
            <a:off x="2811525" y="6087850"/>
            <a:ext cx="490800" cy="0"/>
          </a:xfrm>
          <a:prstGeom prst="straightConnector1">
            <a:avLst/>
          </a:prstGeom>
          <a:noFill/>
          <a:ln cap="flat" cmpd="sng" w="19050">
            <a:solidFill>
              <a:srgbClr val="A3151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" name="Google Shape;160;g3bbeee67e43_0_30"/>
          <p:cNvSpPr/>
          <p:nvPr/>
        </p:nvSpPr>
        <p:spPr>
          <a:xfrm>
            <a:off x="3277225" y="5186563"/>
            <a:ext cx="678300" cy="226800"/>
          </a:xfrm>
          <a:prstGeom prst="rect">
            <a:avLst/>
          </a:prstGeom>
          <a:noFill/>
          <a:ln cap="flat" cmpd="sng" w="38100">
            <a:solidFill>
              <a:srgbClr val="A3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675" lIns="40675" spcFirstLastPara="1" rIns="40675" wrap="square" tIns="40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3"/>
              <a:buFont typeface="Arial"/>
              <a:buNone/>
            </a:pPr>
            <a:r>
              <a:t/>
            </a:r>
            <a:endParaRPr b="0" i="0" sz="622" u="none" cap="none" strike="noStrike">
              <a:solidFill>
                <a:srgbClr val="DCB4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bbeee67e43_0_30"/>
          <p:cNvSpPr txBox="1"/>
          <p:nvPr/>
        </p:nvSpPr>
        <p:spPr>
          <a:xfrm>
            <a:off x="2086125" y="5186563"/>
            <a:ext cx="725400" cy="226800"/>
          </a:xfrm>
          <a:prstGeom prst="rect">
            <a:avLst/>
          </a:prstGeom>
          <a:noFill/>
          <a:ln cap="flat" cmpd="sng" w="38100">
            <a:solidFill>
              <a:srgbClr val="A3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Lab 04</a:t>
            </a:r>
            <a:endParaRPr b="1" sz="1200">
              <a:solidFill>
                <a:srgbClr val="DCB43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62" name="Google Shape;162;g3bbeee67e43_0_30"/>
          <p:cNvCxnSpPr>
            <a:stCxn id="161" idx="3"/>
            <a:endCxn id="160" idx="1"/>
          </p:cNvCxnSpPr>
          <p:nvPr/>
        </p:nvCxnSpPr>
        <p:spPr>
          <a:xfrm>
            <a:off x="2811525" y="5299963"/>
            <a:ext cx="465600" cy="0"/>
          </a:xfrm>
          <a:prstGeom prst="straightConnector1">
            <a:avLst/>
          </a:prstGeom>
          <a:noFill/>
          <a:ln cap="flat" cmpd="sng" w="19050">
            <a:solidFill>
              <a:srgbClr val="A3151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" name="Google Shape;163;g3bbeee67e43_0_30"/>
          <p:cNvSpPr/>
          <p:nvPr/>
        </p:nvSpPr>
        <p:spPr>
          <a:xfrm>
            <a:off x="2946125" y="3766950"/>
            <a:ext cx="1375500" cy="415800"/>
          </a:xfrm>
          <a:prstGeom prst="rect">
            <a:avLst/>
          </a:prstGeom>
          <a:noFill/>
          <a:ln cap="flat" cmpd="sng" w="38100">
            <a:solidFill>
              <a:srgbClr val="A3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675" lIns="40675" spcFirstLastPara="1" rIns="40675" wrap="square" tIns="40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3"/>
              <a:buFont typeface="Arial"/>
              <a:buNone/>
            </a:pPr>
            <a:r>
              <a:t/>
            </a:r>
            <a:endParaRPr b="0" i="0" sz="622" u="none" cap="none" strike="noStrike">
              <a:solidFill>
                <a:srgbClr val="DCB4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bbeee67e43_0_30"/>
          <p:cNvSpPr txBox="1"/>
          <p:nvPr/>
        </p:nvSpPr>
        <p:spPr>
          <a:xfrm>
            <a:off x="1949775" y="3861450"/>
            <a:ext cx="725400" cy="226800"/>
          </a:xfrm>
          <a:prstGeom prst="rect">
            <a:avLst/>
          </a:prstGeom>
          <a:noFill/>
          <a:ln cap="flat" cmpd="sng" w="38100">
            <a:solidFill>
              <a:srgbClr val="A3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Lab 05</a:t>
            </a:r>
            <a:endParaRPr b="1" sz="1200">
              <a:solidFill>
                <a:srgbClr val="DCB43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65" name="Google Shape;165;g3bbeee67e43_0_30"/>
          <p:cNvCxnSpPr>
            <a:stCxn id="164" idx="3"/>
            <a:endCxn id="163" idx="1"/>
          </p:cNvCxnSpPr>
          <p:nvPr/>
        </p:nvCxnSpPr>
        <p:spPr>
          <a:xfrm>
            <a:off x="2675175" y="3974850"/>
            <a:ext cx="270900" cy="0"/>
          </a:xfrm>
          <a:prstGeom prst="straightConnector1">
            <a:avLst/>
          </a:prstGeom>
          <a:noFill/>
          <a:ln cap="flat" cmpd="sng" w="19050">
            <a:solidFill>
              <a:srgbClr val="A3151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8409de4d6_0_10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nanochat Tokenizer</a:t>
            </a:r>
            <a:endParaRPr/>
          </a:p>
        </p:txBody>
      </p:sp>
      <p:sp>
        <p:nvSpPr>
          <p:cNvPr id="171" name="Google Shape;171;g3b8409de4d6_0_108"/>
          <p:cNvSpPr txBox="1"/>
          <p:nvPr>
            <p:ph idx="1" type="body"/>
          </p:nvPr>
        </p:nvSpPr>
        <p:spPr>
          <a:xfrm>
            <a:off x="457200" y="1600200"/>
            <a:ext cx="8229600" cy="46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 u="sng">
                <a:solidFill>
                  <a:srgbClr val="DCB439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nanochat tokenizer code</a:t>
            </a:r>
            <a:endParaRPr b="1">
              <a:solidFill>
                <a:srgbClr val="DCB439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>
              <a:solidFill>
                <a:srgbClr val="DCB439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" u="sng">
                <a:solidFill>
                  <a:srgbClr val="DCB439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tiktoken code</a:t>
            </a:r>
            <a:endParaRPr b="1">
              <a:solidFill>
                <a:srgbClr val="DCB439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>
              <a:solidFill>
                <a:srgbClr val="DCB439"/>
              </a:solidFill>
            </a:endParaRPr>
          </a:p>
        </p:txBody>
      </p:sp>
      <p:pic>
        <p:nvPicPr>
          <p:cNvPr id="172" name="Google Shape;172;g3b8409de4d6_0_10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24574" y="4163449"/>
            <a:ext cx="2494850" cy="248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b8409de4d6_0_108" title="IMG_0529.jpeg"/>
          <p:cNvPicPr preferRelativeResize="0"/>
          <p:nvPr/>
        </p:nvPicPr>
        <p:blipFill rotWithShape="1">
          <a:blip r:embed="rId6">
            <a:alphaModFix/>
          </a:blip>
          <a:srcRect b="0" l="37442" r="50510" t="0"/>
          <a:stretch/>
        </p:blipFill>
        <p:spPr>
          <a:xfrm rot="-5400000">
            <a:off x="4296736" y="701771"/>
            <a:ext cx="550525" cy="6092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beee67e43_0_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Tokenization</a:t>
            </a:r>
            <a:endParaRPr/>
          </a:p>
        </p:txBody>
      </p:sp>
      <p:sp>
        <p:nvSpPr>
          <p:cNvPr id="179" name="Google Shape;179;g3bbeee67e43_0_44"/>
          <p:cNvSpPr txBox="1"/>
          <p:nvPr>
            <p:ph idx="1" type="body"/>
          </p:nvPr>
        </p:nvSpPr>
        <p:spPr>
          <a:xfrm>
            <a:off x="457200" y="1600200"/>
            <a:ext cx="8229600" cy="6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515"/>
                </a:solidFill>
              </a:rPr>
              <a:t>Are we actually gaining anything from this?</a:t>
            </a:r>
            <a:endParaRPr b="1">
              <a:solidFill>
                <a:srgbClr val="A31515"/>
              </a:solidFill>
            </a:endParaRPr>
          </a:p>
        </p:txBody>
      </p:sp>
      <p:pic>
        <p:nvPicPr>
          <p:cNvPr id="180" name="Google Shape;180;g3bbeee67e43_0_44" title="Screenshot 2026-01-27 at 11.03.2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4588" y="2292300"/>
            <a:ext cx="6274823" cy="3843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3bbeee67e43_0_44" title="Screenshot 2026-01-27 at 11.04.18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4602" y="6135868"/>
            <a:ext cx="6274799" cy="482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beee67e43_0_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Tokenization</a:t>
            </a:r>
            <a:endParaRPr/>
          </a:p>
        </p:txBody>
      </p:sp>
      <p:pic>
        <p:nvPicPr>
          <p:cNvPr id="187" name="Google Shape;187;g3bbeee67e43_0_53" title="Screenshot 2026-01-27 at 11.06.1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8" y="1417650"/>
            <a:ext cx="5444989" cy="4072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3bbeee67e43_0_53" title="Screenshot 2026-01-27 at 11.06.4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9" y="5489746"/>
            <a:ext cx="5444989" cy="248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3bbeee67e43_0_53" title="Screenshot 2026-01-27 at 11.12.02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34681" y="274650"/>
            <a:ext cx="4300518" cy="1709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bbeee67e43_0_53" title="Screenshot 2026-01-27 at 11.12.43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34673" y="1988409"/>
            <a:ext cx="4300518" cy="2632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3bbeee67e43_0_53" title="Screenshot 2026-01-27 at 11.12.59 A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34675" y="4625225"/>
            <a:ext cx="4300525" cy="219911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3bbeee67e43_0_53"/>
          <p:cNvSpPr/>
          <p:nvPr/>
        </p:nvSpPr>
        <p:spPr>
          <a:xfrm>
            <a:off x="557725" y="4869025"/>
            <a:ext cx="420000" cy="219900"/>
          </a:xfrm>
          <a:prstGeom prst="rect">
            <a:avLst/>
          </a:prstGeom>
          <a:noFill/>
          <a:ln cap="flat" cmpd="sng" w="38100">
            <a:solidFill>
              <a:srgbClr val="ABFF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bbeee67e43_0_53"/>
          <p:cNvSpPr/>
          <p:nvPr/>
        </p:nvSpPr>
        <p:spPr>
          <a:xfrm>
            <a:off x="2088750" y="5503900"/>
            <a:ext cx="505500" cy="219900"/>
          </a:xfrm>
          <a:prstGeom prst="rect">
            <a:avLst/>
          </a:prstGeom>
          <a:noFill/>
          <a:ln cap="flat" cmpd="sng" w="38100">
            <a:solidFill>
              <a:srgbClr val="ABFF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4" name="Google Shape;194;g3bbeee67e43_0_53"/>
          <p:cNvCxnSpPr>
            <a:stCxn id="192" idx="3"/>
            <a:endCxn id="193" idx="0"/>
          </p:cNvCxnSpPr>
          <p:nvPr/>
        </p:nvCxnSpPr>
        <p:spPr>
          <a:xfrm>
            <a:off x="977725" y="4978975"/>
            <a:ext cx="1363800" cy="525000"/>
          </a:xfrm>
          <a:prstGeom prst="curvedConnector2">
            <a:avLst/>
          </a:prstGeom>
          <a:noFill/>
          <a:ln cap="flat" cmpd="sng" w="38100">
            <a:solidFill>
              <a:srgbClr val="ABFF9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" name="Google Shape;195;g3bbeee67e43_0_53"/>
          <p:cNvSpPr/>
          <p:nvPr/>
        </p:nvSpPr>
        <p:spPr>
          <a:xfrm>
            <a:off x="4538675" y="4384350"/>
            <a:ext cx="839400" cy="484800"/>
          </a:xfrm>
          <a:prstGeom prst="rect">
            <a:avLst/>
          </a:prstGeom>
          <a:noFill/>
          <a:ln cap="flat" cmpd="sng" w="38100">
            <a:solidFill>
              <a:srgbClr val="ABFF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bbeee67e43_0_53"/>
          <p:cNvSpPr/>
          <p:nvPr/>
        </p:nvSpPr>
        <p:spPr>
          <a:xfrm>
            <a:off x="8327950" y="804000"/>
            <a:ext cx="358800" cy="315900"/>
          </a:xfrm>
          <a:prstGeom prst="rect">
            <a:avLst/>
          </a:prstGeom>
          <a:noFill/>
          <a:ln cap="flat" cmpd="sng" w="38100">
            <a:solidFill>
              <a:srgbClr val="ABFF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bbeee67e43_0_53"/>
          <p:cNvSpPr/>
          <p:nvPr/>
        </p:nvSpPr>
        <p:spPr>
          <a:xfrm>
            <a:off x="5543400" y="1316800"/>
            <a:ext cx="1600500" cy="315900"/>
          </a:xfrm>
          <a:prstGeom prst="rect">
            <a:avLst/>
          </a:prstGeom>
          <a:noFill/>
          <a:ln cap="flat" cmpd="sng" w="38100">
            <a:solidFill>
              <a:srgbClr val="ABFF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8" name="Google Shape;198;g3bbeee67e43_0_53"/>
          <p:cNvCxnSpPr>
            <a:endCxn id="196" idx="2"/>
          </p:cNvCxnSpPr>
          <p:nvPr/>
        </p:nvCxnSpPr>
        <p:spPr>
          <a:xfrm flipH="1" rot="10800000">
            <a:off x="7143850" y="1119900"/>
            <a:ext cx="1363500" cy="354900"/>
          </a:xfrm>
          <a:prstGeom prst="curvedConnector2">
            <a:avLst/>
          </a:prstGeom>
          <a:noFill/>
          <a:ln cap="flat" cmpd="sng" w="38100">
            <a:solidFill>
              <a:srgbClr val="ABFF9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g3bbeee67e43_0_53"/>
          <p:cNvCxnSpPr>
            <a:stCxn id="195" idx="3"/>
            <a:endCxn id="197" idx="2"/>
          </p:cNvCxnSpPr>
          <p:nvPr/>
        </p:nvCxnSpPr>
        <p:spPr>
          <a:xfrm flipH="1" rot="10800000">
            <a:off x="5378075" y="1632750"/>
            <a:ext cx="965700" cy="2994000"/>
          </a:xfrm>
          <a:prstGeom prst="curvedConnector2">
            <a:avLst/>
          </a:prstGeom>
          <a:noFill/>
          <a:ln cap="flat" cmpd="sng" w="38100">
            <a:solidFill>
              <a:srgbClr val="ABFF9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" name="Google Shape;200;g3bbeee67e43_0_53"/>
          <p:cNvSpPr/>
          <p:nvPr/>
        </p:nvSpPr>
        <p:spPr>
          <a:xfrm>
            <a:off x="4617275" y="1738925"/>
            <a:ext cx="420000" cy="315900"/>
          </a:xfrm>
          <a:prstGeom prst="rect">
            <a:avLst/>
          </a:prstGeom>
          <a:noFill/>
          <a:ln cap="flat" cmpd="sng" w="38100">
            <a:solidFill>
              <a:srgbClr val="95D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bbeee67e43_0_53"/>
          <p:cNvSpPr/>
          <p:nvPr/>
        </p:nvSpPr>
        <p:spPr>
          <a:xfrm>
            <a:off x="2594250" y="5503900"/>
            <a:ext cx="420000" cy="219900"/>
          </a:xfrm>
          <a:prstGeom prst="rect">
            <a:avLst/>
          </a:prstGeom>
          <a:noFill/>
          <a:ln cap="flat" cmpd="sng" w="38100">
            <a:solidFill>
              <a:srgbClr val="95D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" name="Google Shape;202;g3bbeee67e43_0_53"/>
          <p:cNvCxnSpPr>
            <a:stCxn id="201" idx="0"/>
            <a:endCxn id="200" idx="1"/>
          </p:cNvCxnSpPr>
          <p:nvPr/>
        </p:nvCxnSpPr>
        <p:spPr>
          <a:xfrm rot="-5400000">
            <a:off x="1907250" y="2794000"/>
            <a:ext cx="3606900" cy="1812900"/>
          </a:xfrm>
          <a:prstGeom prst="curvedConnector2">
            <a:avLst/>
          </a:prstGeom>
          <a:noFill/>
          <a:ln cap="flat" cmpd="sng" w="38100">
            <a:solidFill>
              <a:srgbClr val="95DC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g3bbeee67e43_0_53"/>
          <p:cNvCxnSpPr>
            <a:stCxn id="193" idx="0"/>
            <a:endCxn id="195" idx="1"/>
          </p:cNvCxnSpPr>
          <p:nvPr/>
        </p:nvCxnSpPr>
        <p:spPr>
          <a:xfrm rot="-5400000">
            <a:off x="3001500" y="3966700"/>
            <a:ext cx="877200" cy="2197200"/>
          </a:xfrm>
          <a:prstGeom prst="curvedConnector2">
            <a:avLst/>
          </a:prstGeom>
          <a:noFill/>
          <a:ln cap="flat" cmpd="sng" w="38100">
            <a:solidFill>
              <a:srgbClr val="ABFF9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B Them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