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mWI7UKz6TTUaE2d1VeW70kU9+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33f833e2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c33f833e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eee67e43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bbeee67e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c33f833e2_0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bc33f833e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c35b5116e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bc35b5116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eee67e43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bbeee67e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beee67e43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bbeee67e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35b5116e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c35b5116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beee67e43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beee67e4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35b5116e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c35b5116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beee67e43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beee67e4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beee67e43_0_1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bbeee67e4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eee67e43_0_1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beee67e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c35b5116e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c35b5116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35b5116e_0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c35b5116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c35b5116e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c35b5116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35b5116e_0_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c35b5116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c35b5116e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c35b5116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eee67e43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beee67e4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c35b5116e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c35b5116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35b5116e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35b5116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c35b5116e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c35b5116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beee67e43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bbeee67e4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c35b5116e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c35b5116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3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Given two points as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tuples</a:t>
            </a:r>
            <a:r>
              <a:rPr lang="en"/>
              <a:t>, write a function to calculate the distance between the two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1, 1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1.4142135623731</a:t>
            </a:r>
            <a:endParaRPr b="1" sz="2600">
              <a:solidFill>
                <a:srgbClr val="46551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" name="Google Shape;36;g3b8409de4d6_0_50"/>
          <p:cNvPicPr preferRelativeResize="0"/>
          <p:nvPr/>
        </p:nvPicPr>
        <p:blipFill rotWithShape="1">
          <a:blip r:embed="rId3">
            <a:alphaModFix/>
          </a:blip>
          <a:srcRect b="5565" l="0" r="0" t="28104"/>
          <a:stretch/>
        </p:blipFill>
        <p:spPr>
          <a:xfrm>
            <a:off x="4233000" y="4084575"/>
            <a:ext cx="4512675" cy="16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b8409de4d6_0_50"/>
          <p:cNvSpPr txBox="1"/>
          <p:nvPr/>
        </p:nvSpPr>
        <p:spPr>
          <a:xfrm>
            <a:off x="457200" y="4410288"/>
            <a:ext cx="39057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rgbClr val="000000"/>
                </a:solidFill>
              </a:rPr>
              <a:t> We can </a:t>
            </a:r>
            <a:r>
              <a:rPr b="1" lang="en" sz="18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import math</a:t>
            </a:r>
            <a:r>
              <a:rPr lang="en" sz="1800">
                <a:solidFill>
                  <a:srgbClr val="000000"/>
                </a:solidFill>
              </a:rPr>
              <a:t> a</a:t>
            </a:r>
            <a:r>
              <a:rPr lang="en" sz="1800"/>
              <a:t>nd use the </a:t>
            </a:r>
            <a:r>
              <a:rPr b="1"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math.sqrt()</a:t>
            </a:r>
            <a:r>
              <a:rPr lang="en" sz="1800"/>
              <a:t> and </a:t>
            </a:r>
            <a:r>
              <a:rPr b="1" lang="en" sz="1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math.pow()</a:t>
            </a:r>
            <a:r>
              <a:rPr lang="en" sz="1800"/>
              <a:t> functions!</a:t>
            </a:r>
            <a:endParaRPr b="1" sz="18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01 Solution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3" name="Google Shape;43;g3b8409de4d6_0_60" title="Screenshot 2026-01-29 at 11.40.1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75513"/>
            <a:ext cx="8839200" cy="2517219"/>
          </a:xfrm>
          <a:prstGeom prst="rect">
            <a:avLst/>
          </a:prstGeom>
          <a:noFill/>
          <a:ln cap="flat" cmpd="sng" w="38100">
            <a:solidFill>
              <a:srgbClr val="4655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" name="Google Shape;44;g3b8409de4d6_0_60" title="Screenshot 2026-01-29 at 11.42.2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0038"/>
            <a:ext cx="8839200" cy="2002631"/>
          </a:xfrm>
          <a:prstGeom prst="rect">
            <a:avLst/>
          </a:prstGeom>
          <a:noFill/>
          <a:ln cap="flat" cmpd="sng" w="38100">
            <a:solidFill>
              <a:srgbClr val="46551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Embeddings 01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c33f833e2_0_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DCB439"/>
                </a:solidFill>
              </a:rPr>
              <a:t>Homework 02</a:t>
            </a:r>
            <a:endParaRPr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g3bc33f833e2_0_67"/>
          <p:cNvSpPr txBox="1"/>
          <p:nvPr>
            <p:ph idx="1" type="body"/>
          </p:nvPr>
        </p:nvSpPr>
        <p:spPr>
          <a:xfrm>
            <a:off x="457200" y="1600200"/>
            <a:ext cx="8229600" cy="4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There was a question last class of whether, with only one lecture on </a:t>
            </a:r>
            <a:r>
              <a:rPr b="1" lang="en">
                <a:solidFill>
                  <a:srgbClr val="002B5B"/>
                </a:solidFill>
              </a:rPr>
              <a:t>embeddings</a:t>
            </a:r>
            <a:r>
              <a:rPr lang="en"/>
              <a:t>, would it be doable. I think it should be, but if you have issues or questions on it please ask!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Due to slowing the class down a bit, </a:t>
            </a:r>
            <a:r>
              <a:rPr b="1" lang="en">
                <a:solidFill>
                  <a:srgbClr val="DCB439"/>
                </a:solidFill>
              </a:rPr>
              <a:t>Homework 03</a:t>
            </a:r>
            <a:r>
              <a:rPr lang="en"/>
              <a:t> will also be on </a:t>
            </a:r>
            <a:r>
              <a:rPr b="1" lang="en">
                <a:solidFill>
                  <a:srgbClr val="002B5B"/>
                </a:solidFill>
              </a:rPr>
              <a:t>embeddings</a:t>
            </a:r>
            <a:r>
              <a:rPr lang="en"/>
              <a:t>, though taking it a step or two further.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beee67e43_0_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Labs</a:t>
            </a:r>
            <a:endParaRPr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g3bbeee67e43_0_30"/>
          <p:cNvSpPr txBox="1"/>
          <p:nvPr>
            <p:ph idx="1" type="body"/>
          </p:nvPr>
        </p:nvSpPr>
        <p:spPr>
          <a:xfrm>
            <a:off x="457200" y="1600200"/>
            <a:ext cx="5001900" cy="43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01</a:t>
            </a:r>
            <a:r>
              <a:rPr lang="en"/>
              <a:t> will be a guided walkthrough of </a:t>
            </a:r>
            <a:r>
              <a:rPr b="1" lang="en">
                <a:solidFill>
                  <a:srgbClr val="002B5B"/>
                </a:solidFill>
              </a:rPr>
              <a:t>tokenization</a:t>
            </a:r>
            <a:r>
              <a:rPr lang="en"/>
              <a:t> and programming the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RegexTokenizer() class </a:t>
            </a:r>
            <a:r>
              <a:rPr lang="en"/>
              <a:t>which will be the first piece of code for our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r>
              <a:rPr lang="en"/>
              <a:t> we’re building this semester.</a:t>
            </a:r>
            <a:endParaRPr/>
          </a:p>
        </p:txBody>
      </p:sp>
      <p:pic>
        <p:nvPicPr>
          <p:cNvPr id="62" name="Google Shape;62;g3bbeee67e43_0_30" title="transformer_arch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522" y="159938"/>
            <a:ext cx="3632302" cy="6538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bbeee67e43_0_30"/>
          <p:cNvSpPr/>
          <p:nvPr/>
        </p:nvSpPr>
        <p:spPr>
          <a:xfrm>
            <a:off x="5397500" y="5709300"/>
            <a:ext cx="2933700" cy="8439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beee67e43_0_30"/>
          <p:cNvSpPr/>
          <p:nvPr/>
        </p:nvSpPr>
        <p:spPr>
          <a:xfrm>
            <a:off x="457200" y="1600200"/>
            <a:ext cx="1384200" cy="5970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g3bbeee67e43_0_30"/>
          <p:cNvCxnSpPr>
            <a:stCxn id="64" idx="1"/>
            <a:endCxn id="63" idx="1"/>
          </p:cNvCxnSpPr>
          <p:nvPr/>
        </p:nvCxnSpPr>
        <p:spPr>
          <a:xfrm>
            <a:off x="457200" y="1898700"/>
            <a:ext cx="4940400" cy="4232700"/>
          </a:xfrm>
          <a:prstGeom prst="bentConnector3">
            <a:avLst>
              <a:gd fmla="val -4820" name="adj1"/>
            </a:avLst>
          </a:prstGeom>
          <a:noFill/>
          <a:ln cap="flat" cmpd="sng" w="28575">
            <a:solidFill>
              <a:srgbClr val="A3151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c33f833e2_0_29"/>
          <p:cNvSpPr txBox="1"/>
          <p:nvPr>
            <p:ph type="title"/>
          </p:nvPr>
        </p:nvSpPr>
        <p:spPr>
          <a:xfrm>
            <a:off x="3974850" y="1913275"/>
            <a:ext cx="50532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>
                <a:solidFill>
                  <a:srgbClr val="DCB439"/>
                </a:solidFill>
              </a:rPr>
              <a:t>Where were we?</a:t>
            </a:r>
            <a:endParaRPr sz="4800">
              <a:solidFill>
                <a:srgbClr val="DCB439"/>
              </a:solidFill>
            </a:endParaRPr>
          </a:p>
        </p:txBody>
      </p:sp>
      <p:cxnSp>
        <p:nvCxnSpPr>
          <p:cNvPr id="71" name="Google Shape;71;g3bc33f833e2_0_29"/>
          <p:cNvCxnSpPr>
            <a:stCxn id="70" idx="1"/>
            <a:endCxn id="72" idx="3"/>
          </p:cNvCxnSpPr>
          <p:nvPr/>
        </p:nvCxnSpPr>
        <p:spPr>
          <a:xfrm flipH="1">
            <a:off x="3359250" y="2317675"/>
            <a:ext cx="615600" cy="3719100"/>
          </a:xfrm>
          <a:prstGeom prst="curvedConnector3">
            <a:avLst>
              <a:gd fmla="val 50012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3" name="Google Shape;73;g3bc33f833e2_0_29" title="transformer_arch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75" y="303250"/>
            <a:ext cx="3473050" cy="62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bc33f833e2_0_29"/>
          <p:cNvSpPr/>
          <p:nvPr/>
        </p:nvSpPr>
        <p:spPr>
          <a:xfrm>
            <a:off x="457200" y="5607700"/>
            <a:ext cx="2901900" cy="85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c33f833e2_0_29"/>
          <p:cNvSpPr txBox="1"/>
          <p:nvPr/>
        </p:nvSpPr>
        <p:spPr>
          <a:xfrm>
            <a:off x="3993500" y="2892500"/>
            <a:ext cx="5053200" cy="24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In the prior 3 lectures we </a:t>
            </a:r>
            <a:r>
              <a:rPr lang="en" sz="3000">
                <a:solidFill>
                  <a:schemeClr val="dk1"/>
                </a:solidFill>
              </a:rPr>
              <a:t>focused on </a:t>
            </a:r>
            <a:r>
              <a:rPr b="1" lang="en" sz="3000">
                <a:solidFill>
                  <a:srgbClr val="002B5B"/>
                </a:solidFill>
              </a:rPr>
              <a:t>tokenization</a:t>
            </a:r>
            <a:r>
              <a:rPr lang="en" sz="3000">
                <a:solidFill>
                  <a:schemeClr val="dk1"/>
                </a:solidFill>
              </a:rPr>
              <a:t>, which is </a:t>
            </a:r>
            <a:r>
              <a:rPr b="1" lang="en" sz="3000">
                <a:solidFill>
                  <a:srgbClr val="DCB439"/>
                </a:solidFill>
              </a:rPr>
              <a:t>the first thing that happens</a:t>
            </a:r>
            <a:r>
              <a:rPr lang="en" sz="3000">
                <a:solidFill>
                  <a:schemeClr val="dk1"/>
                </a:solidFill>
              </a:rPr>
              <a:t> when you type your prompt into an </a:t>
            </a:r>
            <a:r>
              <a:rPr b="1" lang="en" sz="3000">
                <a:solidFill>
                  <a:srgbClr val="002B5B"/>
                </a:solidFill>
              </a:rPr>
              <a:t>LLM</a:t>
            </a:r>
            <a:endParaRPr b="1" sz="3000">
              <a:solidFill>
                <a:srgbClr val="002B5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bc35b5116e_0_22" title="transformer_arch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75" y="303250"/>
            <a:ext cx="3473050" cy="62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bc35b5116e_0_22"/>
          <p:cNvSpPr txBox="1"/>
          <p:nvPr>
            <p:ph type="title"/>
          </p:nvPr>
        </p:nvSpPr>
        <p:spPr>
          <a:xfrm>
            <a:off x="3974950" y="1100850"/>
            <a:ext cx="50532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>
                <a:solidFill>
                  <a:srgbClr val="002B5B"/>
                </a:solidFill>
              </a:rPr>
              <a:t>Where are we?</a:t>
            </a:r>
            <a:endParaRPr sz="4800">
              <a:solidFill>
                <a:srgbClr val="002B5B"/>
              </a:solidFill>
            </a:endParaRPr>
          </a:p>
        </p:txBody>
      </p:sp>
      <p:cxnSp>
        <p:nvCxnSpPr>
          <p:cNvPr id="81" name="Google Shape;81;g3bc35b5116e_0_22"/>
          <p:cNvCxnSpPr>
            <a:stCxn id="80" idx="1"/>
            <a:endCxn id="82" idx="3"/>
          </p:cNvCxnSpPr>
          <p:nvPr/>
        </p:nvCxnSpPr>
        <p:spPr>
          <a:xfrm flipH="1">
            <a:off x="2600650" y="1505250"/>
            <a:ext cx="1374300" cy="39009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g3bc35b5116e_0_22"/>
          <p:cNvSpPr/>
          <p:nvPr/>
        </p:nvSpPr>
        <p:spPr>
          <a:xfrm>
            <a:off x="1287950" y="5206450"/>
            <a:ext cx="1312800" cy="39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bc35b5116e_0_22"/>
          <p:cNvSpPr txBox="1"/>
          <p:nvPr/>
        </p:nvSpPr>
        <p:spPr>
          <a:xfrm>
            <a:off x="3993600" y="2080075"/>
            <a:ext cx="5053200" cy="4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Today we’re going to start on the step that follows </a:t>
            </a:r>
            <a:r>
              <a:rPr b="1" lang="en" sz="3000">
                <a:solidFill>
                  <a:srgbClr val="002B5B"/>
                </a:solidFill>
              </a:rPr>
              <a:t>tokenization</a:t>
            </a:r>
            <a:r>
              <a:rPr lang="en" sz="3000">
                <a:solidFill>
                  <a:schemeClr val="dk1"/>
                </a:solidFill>
              </a:rPr>
              <a:t>, which is called </a:t>
            </a:r>
            <a:r>
              <a:rPr b="1" lang="en" sz="3000">
                <a:solidFill>
                  <a:srgbClr val="002B5B"/>
                </a:solidFill>
              </a:rPr>
              <a:t>embedding</a:t>
            </a:r>
            <a:r>
              <a:rPr lang="en" sz="3000">
                <a:solidFill>
                  <a:schemeClr val="dk1"/>
                </a:solidFill>
              </a:rPr>
              <a:t>.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DCB43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31515"/>
                </a:solidFill>
              </a:rPr>
              <a:t>Understanding the concept of embedding is crucial to understanding deep learning in general.</a:t>
            </a:r>
            <a:endParaRPr b="1" sz="3000">
              <a:solidFill>
                <a:srgbClr val="A3151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beee67e43_0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89" name="Google Shape;89;g3bbeee67e43_0_44"/>
          <p:cNvSpPr txBox="1"/>
          <p:nvPr>
            <p:ph idx="1" type="body"/>
          </p:nvPr>
        </p:nvSpPr>
        <p:spPr>
          <a:xfrm>
            <a:off x="457200" y="1600200"/>
            <a:ext cx="82296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A31515"/>
                </a:solidFill>
              </a:rPr>
              <a:t>Are we actually gaining anything from this?</a:t>
            </a:r>
            <a:endParaRPr b="1">
              <a:solidFill>
                <a:srgbClr val="A31515"/>
              </a:solidFill>
            </a:endParaRPr>
          </a:p>
        </p:txBody>
      </p:sp>
      <p:pic>
        <p:nvPicPr>
          <p:cNvPr id="90" name="Google Shape;90;g3bbeee67e43_0_44" title="Screenshot 2026-01-27 at 11.03.21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588" y="2292300"/>
            <a:ext cx="6274823" cy="384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bbeee67e43_0_44" title="Screenshot 2026-01-27 at 11.04.18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4602" y="6135868"/>
            <a:ext cx="6274799" cy="48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eee67e43_0_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Tokenization</a:t>
            </a:r>
            <a:endParaRPr/>
          </a:p>
        </p:txBody>
      </p:sp>
      <p:pic>
        <p:nvPicPr>
          <p:cNvPr id="97" name="Google Shape;97;g3bbeee67e43_0_53" title="Screenshot 2026-01-27 at 11.06.13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8" y="1417650"/>
            <a:ext cx="5444989" cy="40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bbeee67e43_0_53" title="Screenshot 2026-01-27 at 11.06.43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9" y="5489746"/>
            <a:ext cx="5444989" cy="24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beee67e43_0_53" title="Screenshot 2026-01-27 at 11.12.02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4681" y="274650"/>
            <a:ext cx="4300518" cy="170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bbeee67e43_0_53" title="Screenshot 2026-01-27 at 11.12.43 A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4673" y="1988409"/>
            <a:ext cx="4300518" cy="2632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bbeee67e43_0_53" title="Screenshot 2026-01-27 at 11.12.59 A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4675" y="4625225"/>
            <a:ext cx="4300525" cy="21991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bbeee67e43_0_53"/>
          <p:cNvSpPr/>
          <p:nvPr/>
        </p:nvSpPr>
        <p:spPr>
          <a:xfrm>
            <a:off x="557725" y="4869025"/>
            <a:ext cx="420000" cy="219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beee67e43_0_53"/>
          <p:cNvSpPr/>
          <p:nvPr/>
        </p:nvSpPr>
        <p:spPr>
          <a:xfrm>
            <a:off x="2088750" y="5503900"/>
            <a:ext cx="505500" cy="219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bbeee67e43_0_53"/>
          <p:cNvCxnSpPr>
            <a:stCxn id="102" idx="3"/>
            <a:endCxn id="103" idx="0"/>
          </p:cNvCxnSpPr>
          <p:nvPr/>
        </p:nvCxnSpPr>
        <p:spPr>
          <a:xfrm>
            <a:off x="977725" y="4978975"/>
            <a:ext cx="1363800" cy="5250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g3bbeee67e43_0_53"/>
          <p:cNvSpPr/>
          <p:nvPr/>
        </p:nvSpPr>
        <p:spPr>
          <a:xfrm>
            <a:off x="4538675" y="4384350"/>
            <a:ext cx="839400" cy="4848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bbeee67e43_0_53"/>
          <p:cNvSpPr/>
          <p:nvPr/>
        </p:nvSpPr>
        <p:spPr>
          <a:xfrm>
            <a:off x="8327950" y="804000"/>
            <a:ext cx="358800" cy="315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bbeee67e43_0_53"/>
          <p:cNvSpPr/>
          <p:nvPr/>
        </p:nvSpPr>
        <p:spPr>
          <a:xfrm>
            <a:off x="5543400" y="1316800"/>
            <a:ext cx="1600500" cy="315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g3bbeee67e43_0_53"/>
          <p:cNvCxnSpPr>
            <a:endCxn id="106" idx="2"/>
          </p:cNvCxnSpPr>
          <p:nvPr/>
        </p:nvCxnSpPr>
        <p:spPr>
          <a:xfrm flipH="1" rot="10800000">
            <a:off x="7143850" y="1119900"/>
            <a:ext cx="1363500" cy="3549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g3bbeee67e43_0_53"/>
          <p:cNvCxnSpPr>
            <a:stCxn id="105" idx="3"/>
            <a:endCxn id="107" idx="2"/>
          </p:cNvCxnSpPr>
          <p:nvPr/>
        </p:nvCxnSpPr>
        <p:spPr>
          <a:xfrm flipH="1" rot="10800000">
            <a:off x="5378075" y="1632750"/>
            <a:ext cx="965700" cy="29940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g3bbeee67e43_0_53"/>
          <p:cNvSpPr/>
          <p:nvPr/>
        </p:nvSpPr>
        <p:spPr>
          <a:xfrm>
            <a:off x="4617275" y="1738925"/>
            <a:ext cx="420000" cy="315900"/>
          </a:xfrm>
          <a:prstGeom prst="rect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bbeee67e43_0_53"/>
          <p:cNvSpPr/>
          <p:nvPr/>
        </p:nvSpPr>
        <p:spPr>
          <a:xfrm>
            <a:off x="2594250" y="5503900"/>
            <a:ext cx="420000" cy="219900"/>
          </a:xfrm>
          <a:prstGeom prst="rect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g3bbeee67e43_0_53"/>
          <p:cNvCxnSpPr>
            <a:stCxn id="111" idx="0"/>
            <a:endCxn id="110" idx="1"/>
          </p:cNvCxnSpPr>
          <p:nvPr/>
        </p:nvCxnSpPr>
        <p:spPr>
          <a:xfrm rot="-5400000">
            <a:off x="1907250" y="2794000"/>
            <a:ext cx="3606900" cy="1812900"/>
          </a:xfrm>
          <a:prstGeom prst="curvedConnector2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g3bbeee67e43_0_53"/>
          <p:cNvCxnSpPr>
            <a:stCxn id="103" idx="0"/>
            <a:endCxn id="105" idx="1"/>
          </p:cNvCxnSpPr>
          <p:nvPr/>
        </p:nvCxnSpPr>
        <p:spPr>
          <a:xfrm rot="-5400000">
            <a:off x="3001500" y="3966700"/>
            <a:ext cx="877200" cy="21972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c35b5116e_0_1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words similar?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eee67e43_0_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GPA Predicting Dataset</a:t>
            </a:r>
            <a:endParaRPr/>
          </a:p>
        </p:txBody>
      </p:sp>
      <p:sp>
        <p:nvSpPr>
          <p:cNvPr id="124" name="Google Shape;124;g3bbeee67e43_0_9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Lets design a dataset to </a:t>
            </a:r>
            <a:r>
              <a:rPr b="1" lang="en">
                <a:solidFill>
                  <a:srgbClr val="A31515"/>
                </a:solidFill>
              </a:rPr>
              <a:t>predict whether incoming students will graduate or not</a:t>
            </a:r>
            <a:endParaRPr b="1">
              <a:solidFill>
                <a:srgbClr val="A3151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35b5116e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Space - Embeddings</a:t>
            </a:r>
            <a:endParaRPr/>
          </a:p>
        </p:txBody>
      </p:sp>
      <p:pic>
        <p:nvPicPr>
          <p:cNvPr id="130" name="Google Shape;130;g3bc35b5116e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95238"/>
            <a:ext cx="8839204" cy="303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eee67e43_0_1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Deep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g3bbeee67e43_0_137"/>
          <p:cNvSpPr txBox="1"/>
          <p:nvPr>
            <p:ph idx="1" type="body"/>
          </p:nvPr>
        </p:nvSpPr>
        <p:spPr>
          <a:xfrm>
            <a:off x="457200" y="1600200"/>
            <a:ext cx="8229600" cy="1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 </a:t>
            </a:r>
            <a:r>
              <a:rPr lang="en"/>
              <a:t>is a collection of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 vectors</a:t>
            </a:r>
            <a:r>
              <a:rPr lang="en"/>
              <a:t> for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samples</a:t>
            </a:r>
            <a:r>
              <a:rPr lang="en"/>
              <a:t> that are </a:t>
            </a:r>
            <a:r>
              <a:rPr b="1" lang="en">
                <a:solidFill>
                  <a:srgbClr val="DCB439"/>
                </a:solidFill>
              </a:rPr>
              <a:t>ideally representative of the population</a:t>
            </a:r>
            <a:r>
              <a:rPr lang="en"/>
              <a:t> we’re interested 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beee67e43_0_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Deep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g3bbeee67e43_0_1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</a:t>
            </a:r>
            <a:r>
              <a:rPr b="1" lang="en">
                <a:solidFill>
                  <a:srgbClr val="A31515"/>
                </a:solidFill>
              </a:rPr>
              <a:t>deep learning</a:t>
            </a:r>
            <a:r>
              <a:rPr lang="en"/>
              <a:t>,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</a:t>
            </a:r>
            <a:r>
              <a:rPr lang="en"/>
              <a:t> is a way to describe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</a:t>
            </a:r>
            <a:endParaRPr b="1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</a:t>
            </a:r>
            <a:r>
              <a:rPr lang="en"/>
              <a:t> is one individual “thing” in our dataset. Maybe a bird, a flower, or a person.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beee67e43_0_1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Deep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 vector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g3bbeee67e43_0_1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feature vector</a:t>
            </a:r>
            <a:r>
              <a:rPr lang="en"/>
              <a:t> then is a representation of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 </a:t>
            </a:r>
            <a:r>
              <a:rPr lang="en"/>
              <a:t>in some high-dimensional space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c35b5116e_0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Features: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Numeric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g3bc35b5116e_0_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Numerical (continuous):</a:t>
            </a:r>
            <a:r>
              <a:rPr lang="en" sz="2400"/>
              <a:t> Values that can take any number within a range, including decimals. You can always find a value between any two values.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solidFill>
                  <a:srgbClr val="DCB439"/>
                </a:solidFill>
              </a:rPr>
              <a:t>Examples:</a:t>
            </a:r>
            <a:r>
              <a:rPr lang="en" sz="2400"/>
              <a:t> 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Numerical (discrete):</a:t>
            </a:r>
            <a:r>
              <a:rPr lang="en" sz="2400"/>
              <a:t> Values that are countable whole numbers—you can't have "half" of one. There are gaps between valid values.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b="1" lang="en" sz="2400">
                <a:solidFill>
                  <a:srgbClr val="DCB439"/>
                </a:solidFill>
              </a:rPr>
              <a:t>Examples: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35b5116e_0_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Dangers of Numeric Variables</a:t>
            </a:r>
            <a:endParaRPr/>
          </a:p>
        </p:txBody>
      </p:sp>
      <p:sp>
        <p:nvSpPr>
          <p:cNvPr id="160" name="Google Shape;160;g3bc35b5116e_0_7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35b5116e_0_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Normalization/Scaling</a:t>
            </a:r>
            <a:endParaRPr/>
          </a:p>
        </p:txBody>
      </p:sp>
      <p:sp>
        <p:nvSpPr>
          <p:cNvPr id="166" name="Google Shape;166;g3bc35b5116e_0_7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35b5116e_0_80"/>
          <p:cNvSpPr txBox="1"/>
          <p:nvPr>
            <p:ph type="title"/>
          </p:nvPr>
        </p:nvSpPr>
        <p:spPr>
          <a:xfrm>
            <a:off x="508675" y="1185225"/>
            <a:ext cx="4286400" cy="2067300"/>
          </a:xfrm>
          <a:prstGeom prst="rect">
            <a:avLst/>
          </a:prstGeom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A31515"/>
                </a:solidFill>
              </a:rPr>
              <a:t>Wait a Second…</a:t>
            </a:r>
            <a:endParaRPr sz="3000">
              <a:solidFill>
                <a:srgbClr val="A3151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1"/>
                </a:solidFill>
              </a:rPr>
              <a:t>We’ve seen the word </a:t>
            </a:r>
            <a:r>
              <a:rPr lang="en" sz="3000">
                <a:solidFill>
                  <a:srgbClr val="002B5B"/>
                </a:solidFill>
              </a:rPr>
              <a:t>“normalization”</a:t>
            </a:r>
            <a:r>
              <a:rPr b="0" lang="en" sz="3000">
                <a:solidFill>
                  <a:schemeClr val="dk1"/>
                </a:solidFill>
              </a:rPr>
              <a:t> before</a:t>
            </a:r>
            <a:endParaRPr b="0" sz="3000">
              <a:solidFill>
                <a:schemeClr val="dk1"/>
              </a:solidFill>
            </a:endParaRPr>
          </a:p>
        </p:txBody>
      </p:sp>
      <p:pic>
        <p:nvPicPr>
          <p:cNvPr id="172" name="Google Shape;172;g3bc35b5116e_0_80" title="transformer_arch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700" y="171003"/>
            <a:ext cx="3593450" cy="6468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bc35b5116e_0_80"/>
          <p:cNvSpPr/>
          <p:nvPr/>
        </p:nvSpPr>
        <p:spPr>
          <a:xfrm>
            <a:off x="6652775" y="2470725"/>
            <a:ext cx="1107300" cy="48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c35b5116e_0_80"/>
          <p:cNvSpPr/>
          <p:nvPr/>
        </p:nvSpPr>
        <p:spPr>
          <a:xfrm>
            <a:off x="6639125" y="3992625"/>
            <a:ext cx="1134600" cy="48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g3bc35b5116e_0_80"/>
          <p:cNvCxnSpPr>
            <a:stCxn id="171" idx="3"/>
            <a:endCxn id="173" idx="1"/>
          </p:cNvCxnSpPr>
          <p:nvPr/>
        </p:nvCxnSpPr>
        <p:spPr>
          <a:xfrm>
            <a:off x="4795075" y="2218875"/>
            <a:ext cx="1857600" cy="496800"/>
          </a:xfrm>
          <a:prstGeom prst="curvedConnector3">
            <a:avLst>
              <a:gd fmla="val 50003" name="adj1"/>
            </a:avLst>
          </a:prstGeom>
          <a:noFill/>
          <a:ln cap="flat" cmpd="sng" w="28575">
            <a:solidFill>
              <a:srgbClr val="A3151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g3bc35b5116e_0_80"/>
          <p:cNvCxnSpPr>
            <a:stCxn id="171" idx="3"/>
            <a:endCxn id="174" idx="1"/>
          </p:cNvCxnSpPr>
          <p:nvPr/>
        </p:nvCxnSpPr>
        <p:spPr>
          <a:xfrm>
            <a:off x="4795075" y="2218875"/>
            <a:ext cx="1844100" cy="2018700"/>
          </a:xfrm>
          <a:prstGeom prst="curvedConnector3">
            <a:avLst>
              <a:gd fmla="val 49999" name="adj1"/>
            </a:avLst>
          </a:prstGeom>
          <a:noFill/>
          <a:ln cap="flat" cmpd="sng" w="28575">
            <a:solidFill>
              <a:srgbClr val="A3151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c35b5116e_0_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Features: </a:t>
            </a:r>
            <a:r>
              <a:rPr lang="en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Categorical</a:t>
            </a:r>
            <a:endParaRPr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g3bc35b5116e_0_4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5AABBC"/>
              </a:buClr>
              <a:buSzPts val="2400"/>
              <a:buFont typeface="Consolas"/>
              <a:buChar char="●"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Categorical (nominal): </a:t>
            </a:r>
            <a:r>
              <a:rPr lang="en" sz="2400"/>
              <a:t>Categories with no inherent order or ranking—just different labels. Assigning numbers to them would be arbitrary.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DCB439"/>
              </a:buClr>
              <a:buSzPts val="2400"/>
              <a:buChar char="●"/>
            </a:pPr>
            <a:r>
              <a:rPr b="1" lang="en" sz="2400">
                <a:solidFill>
                  <a:srgbClr val="DCB439"/>
                </a:solidFill>
              </a:rPr>
              <a:t>Examples:</a:t>
            </a:r>
            <a:endParaRPr b="1" sz="2400">
              <a:solidFill>
                <a:srgbClr val="DCB439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CB439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CB439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5AABBC"/>
              </a:buClr>
              <a:buSzPts val="2400"/>
              <a:buFont typeface="Consolas"/>
              <a:buChar char="●"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Categorical (ordinal): </a:t>
            </a:r>
            <a:r>
              <a:rPr lang="en" sz="2400"/>
              <a:t>Categories that have a meaningful order or ranking, but the "distance" between categories isn't necessarily equal or measurable.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DCB439"/>
              </a:buClr>
              <a:buSzPts val="2400"/>
              <a:buFont typeface="Consolas"/>
              <a:buChar char="●"/>
            </a:pPr>
            <a:r>
              <a:rPr b="1" lang="en" sz="2400">
                <a:solidFill>
                  <a:srgbClr val="DCB439"/>
                </a:solidFill>
              </a:rPr>
              <a:t>Examples:</a:t>
            </a:r>
            <a:endParaRPr b="1" sz="24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beee67e43_0_1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Machine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Classification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g3bbeee67e43_0_147"/>
          <p:cNvSpPr txBox="1"/>
          <p:nvPr>
            <p:ph idx="1" type="body"/>
          </p:nvPr>
        </p:nvSpPr>
        <p:spPr>
          <a:xfrm>
            <a:off x="457200" y="1600200"/>
            <a:ext cx="8229600" cy="4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</a:t>
            </a:r>
            <a:r>
              <a:rPr b="1" lang="en">
                <a:solidFill>
                  <a:srgbClr val="A31515"/>
                </a:solidFill>
              </a:rPr>
              <a:t>machine learning</a:t>
            </a:r>
            <a:r>
              <a:rPr lang="en"/>
              <a:t>,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classification</a:t>
            </a:r>
            <a:r>
              <a:rPr b="1" lang="en"/>
              <a:t> </a:t>
            </a:r>
            <a:r>
              <a:rPr lang="en"/>
              <a:t>task is one in which we’re trying to </a:t>
            </a:r>
            <a:r>
              <a:rPr b="1" lang="en">
                <a:solidFill>
                  <a:srgbClr val="465510"/>
                </a:solidFill>
              </a:rPr>
              <a:t>predict a category or label</a:t>
            </a:r>
            <a:r>
              <a:rPr lang="en"/>
              <a:t> given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sample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For our student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</a:t>
            </a:r>
            <a:r>
              <a:rPr lang="en"/>
              <a:t>, our categories are: </a:t>
            </a:r>
            <a:r>
              <a:rPr b="1" lang="en">
                <a:solidFill>
                  <a:srgbClr val="DCB439"/>
                </a:solidFill>
              </a:rPr>
              <a:t>“Will Graduate”</a:t>
            </a:r>
            <a:r>
              <a:rPr lang="en"/>
              <a:t> and </a:t>
            </a:r>
            <a:r>
              <a:rPr b="1" lang="en">
                <a:solidFill>
                  <a:srgbClr val="DCB439"/>
                </a:solidFill>
              </a:rPr>
              <a:t>“Will not graduate”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c35b5116e_0_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Dangers of Categorical Variables</a:t>
            </a:r>
            <a:endParaRPr/>
          </a:p>
        </p:txBody>
      </p:sp>
      <p:sp>
        <p:nvSpPr>
          <p:cNvPr id="194" name="Google Shape;194;g3bc35b5116e_0_5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c35b5116e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One-Hot Encoding</a:t>
            </a:r>
            <a:endParaRPr/>
          </a:p>
        </p:txBody>
      </p:sp>
      <p:sp>
        <p:nvSpPr>
          <p:cNvPr id="200" name="Google Shape;200;g3bc35b5116e_0_6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2B5B"/>
                </a:solidFill>
              </a:rPr>
              <a:t>One-Hot Encoding</a:t>
            </a:r>
            <a:r>
              <a:rPr lang="en"/>
              <a:t> is the most common way to </a:t>
            </a:r>
            <a:r>
              <a:rPr b="1" lang="en">
                <a:solidFill>
                  <a:srgbClr val="DCB439"/>
                </a:solidFill>
              </a:rPr>
              <a:t>convert a categorical variable into a numeric one</a:t>
            </a:r>
            <a:r>
              <a:rPr lang="en"/>
              <a:t>.</a:t>
            </a:r>
            <a:endParaRPr/>
          </a:p>
        </p:txBody>
      </p:sp>
      <p:pic>
        <p:nvPicPr>
          <p:cNvPr id="201" name="Google Shape;201;g3bc35b5116e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575" y="3351926"/>
            <a:ext cx="7814826" cy="25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35b5116e_0_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One-Hot Encoding in LLMs</a:t>
            </a:r>
            <a:endParaRPr/>
          </a:p>
        </p:txBody>
      </p:sp>
      <p:sp>
        <p:nvSpPr>
          <p:cNvPr id="207" name="Google Shape;207;g3bc35b5116e_0_6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beee67e43_0_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</a:rPr>
              <a:t>Machine Learning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Supervised Learning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g3bbeee67e43_0_142"/>
          <p:cNvSpPr txBox="1"/>
          <p:nvPr>
            <p:ph idx="1" type="body"/>
          </p:nvPr>
        </p:nvSpPr>
        <p:spPr>
          <a:xfrm>
            <a:off x="457200" y="1600200"/>
            <a:ext cx="82296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call it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supervised learning</a:t>
            </a:r>
            <a:r>
              <a:rPr lang="en"/>
              <a:t> when we have examples of the correct answer in our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dataset</a:t>
            </a:r>
            <a:r>
              <a:rPr lang="en"/>
              <a:t>, because </a:t>
            </a:r>
            <a:r>
              <a:rPr b="1" lang="en">
                <a:solidFill>
                  <a:srgbClr val="465510"/>
                </a:solidFill>
              </a:rPr>
              <a:t>we can tell our model if it guessed correctly or not</a:t>
            </a:r>
            <a:r>
              <a:rPr lang="en"/>
              <a:t>. We call these correct answers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ground truth</a:t>
            </a:r>
            <a:endParaRPr b="1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c35b5116e_0_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bc35b5116e_0_10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