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ltt5QXfiREjCIRnSFBphXGKeA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ca1707a95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bca1707a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c35b5116e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bc35b5116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d1f6d9d27_0_1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bd1f6d9d2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d1f6d9d27_0_1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bd1f6d9d2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1f6d9d27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1f6d9d2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1f6d9d27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bd1f6d9d2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1f6d9d27_0_2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d1f6d9d27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d1f6d9d27_0_2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d1f6d9d2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d1f6d9d27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d1f6d9d2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a1707a95_0_2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bca1707a95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Embeddings 03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ca1707a95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Logistics: </a:t>
            </a:r>
            <a:r>
              <a:rPr lang="en">
                <a:solidFill>
                  <a:srgbClr val="A31415"/>
                </a:solidFill>
              </a:rPr>
              <a:t>Exam 01</a:t>
            </a:r>
            <a:endParaRPr>
              <a:solidFill>
                <a:srgbClr val="A31415"/>
              </a:solidFill>
            </a:endParaRPr>
          </a:p>
        </p:txBody>
      </p:sp>
      <p:pic>
        <p:nvPicPr>
          <p:cNvPr id="40" name="Google Shape;40;g3bca1707a95_0_7" title="Screenshot 2026-02-05 at 7.33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825" y="1627574"/>
            <a:ext cx="8512349" cy="63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g3bc35b5116e_0_22" title="transformer_arch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75" y="303250"/>
            <a:ext cx="3473050" cy="6251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g3bc35b5116e_0_22"/>
          <p:cNvSpPr txBox="1"/>
          <p:nvPr>
            <p:ph type="title"/>
          </p:nvPr>
        </p:nvSpPr>
        <p:spPr>
          <a:xfrm>
            <a:off x="3974950" y="1100850"/>
            <a:ext cx="50532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>
                <a:solidFill>
                  <a:srgbClr val="002B5B"/>
                </a:solidFill>
              </a:rPr>
              <a:t>Where are we?</a:t>
            </a:r>
            <a:endParaRPr sz="4800">
              <a:solidFill>
                <a:srgbClr val="002B5B"/>
              </a:solidFill>
            </a:endParaRPr>
          </a:p>
        </p:txBody>
      </p:sp>
      <p:cxnSp>
        <p:nvCxnSpPr>
          <p:cNvPr id="47" name="Google Shape;47;g3bc35b5116e_0_22"/>
          <p:cNvCxnSpPr>
            <a:stCxn id="46" idx="1"/>
            <a:endCxn id="48" idx="3"/>
          </p:cNvCxnSpPr>
          <p:nvPr/>
        </p:nvCxnSpPr>
        <p:spPr>
          <a:xfrm flipH="1">
            <a:off x="2600650" y="1505250"/>
            <a:ext cx="1374300" cy="39009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" name="Google Shape;48;g3bc35b5116e_0_22"/>
          <p:cNvSpPr/>
          <p:nvPr/>
        </p:nvSpPr>
        <p:spPr>
          <a:xfrm>
            <a:off x="1287950" y="5206450"/>
            <a:ext cx="1312800" cy="39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bc35b5116e_0_22"/>
          <p:cNvSpPr txBox="1"/>
          <p:nvPr/>
        </p:nvSpPr>
        <p:spPr>
          <a:xfrm>
            <a:off x="3993600" y="2080075"/>
            <a:ext cx="5053200" cy="4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Today we’</a:t>
            </a:r>
            <a:r>
              <a:rPr lang="en" sz="3000">
                <a:solidFill>
                  <a:schemeClr val="dk1"/>
                </a:solidFill>
              </a:rPr>
              <a:t>ll</a:t>
            </a: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3000">
                <a:solidFill>
                  <a:schemeClr val="dk1"/>
                </a:solidFill>
              </a:rPr>
              <a:t>talk about </a:t>
            </a:r>
            <a:r>
              <a:rPr b="1" lang="en" sz="3000">
                <a:solidFill>
                  <a:srgbClr val="DCB439"/>
                </a:solidFill>
              </a:rPr>
              <a:t>linear transformations</a:t>
            </a:r>
            <a:r>
              <a:rPr lang="en" sz="3000">
                <a:solidFill>
                  <a:schemeClr val="dk1"/>
                </a:solidFill>
              </a:rPr>
              <a:t>.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This is the process through which embeddings are actually created!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0" name="Google Shape;50;g3bc35b5116e_0_22"/>
          <p:cNvSpPr/>
          <p:nvPr/>
        </p:nvSpPr>
        <p:spPr>
          <a:xfrm>
            <a:off x="1287950" y="1989050"/>
            <a:ext cx="1312800" cy="470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g3bc35b5116e_0_22"/>
          <p:cNvCxnSpPr>
            <a:stCxn id="46" idx="1"/>
            <a:endCxn id="50" idx="3"/>
          </p:cNvCxnSpPr>
          <p:nvPr/>
        </p:nvCxnSpPr>
        <p:spPr>
          <a:xfrm flipH="1">
            <a:off x="2600650" y="1505250"/>
            <a:ext cx="1374300" cy="7191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d1f6d9d27_0_1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 Model</a:t>
            </a:r>
            <a:endParaRPr/>
          </a:p>
        </p:txBody>
      </p:sp>
      <p:sp>
        <p:nvSpPr>
          <p:cNvPr id="57" name="Google Shape;57;g3bd1f6d9d27_0_173"/>
          <p:cNvSpPr/>
          <p:nvPr/>
        </p:nvSpPr>
        <p:spPr>
          <a:xfrm>
            <a:off x="896425" y="4134150"/>
            <a:ext cx="1977600" cy="8991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bd1f6d9d27_0_173"/>
          <p:cNvSpPr txBox="1"/>
          <p:nvPr/>
        </p:nvSpPr>
        <p:spPr>
          <a:xfrm>
            <a:off x="870625" y="4134150"/>
            <a:ext cx="2029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</a:rPr>
              <a:t>Magic Box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SLM</a:t>
            </a:r>
            <a:endParaRPr b="1" sz="2400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" name="Google Shape;59;g3bd1f6d9d27_0_173"/>
          <p:cNvSpPr/>
          <p:nvPr/>
        </p:nvSpPr>
        <p:spPr>
          <a:xfrm>
            <a:off x="1068775" y="1417650"/>
            <a:ext cx="1631700" cy="601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“Hello there”</a:t>
            </a:r>
            <a:endParaRPr/>
          </a:p>
        </p:txBody>
      </p:sp>
      <p:sp>
        <p:nvSpPr>
          <p:cNvPr id="60" name="Google Shape;60;g3bd1f6d9d27_0_173"/>
          <p:cNvSpPr/>
          <p:nvPr/>
        </p:nvSpPr>
        <p:spPr>
          <a:xfrm>
            <a:off x="807325" y="2267550"/>
            <a:ext cx="2155200" cy="6015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{“hello”: 3, “there”: 7}</a:t>
            </a:r>
            <a:endParaRPr/>
          </a:p>
        </p:txBody>
      </p:sp>
      <p:sp>
        <p:nvSpPr>
          <p:cNvPr id="61" name="Google Shape;61;g3bd1f6d9d27_0_173"/>
          <p:cNvSpPr/>
          <p:nvPr/>
        </p:nvSpPr>
        <p:spPr>
          <a:xfrm>
            <a:off x="611275" y="3117450"/>
            <a:ext cx="2546700" cy="7683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{3: &lt;0.4, 0.3, …, -0.02&gt;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7: &lt;0.27, 0.8, …, 0.06&gt;</a:t>
            </a:r>
            <a:r>
              <a:rPr lang="en"/>
              <a:t>}</a:t>
            </a:r>
            <a:endParaRPr/>
          </a:p>
        </p:txBody>
      </p:sp>
      <p:cxnSp>
        <p:nvCxnSpPr>
          <p:cNvPr id="62" name="Google Shape;62;g3bd1f6d9d27_0_173"/>
          <p:cNvCxnSpPr>
            <a:stCxn id="59" idx="2"/>
            <a:endCxn id="60" idx="0"/>
          </p:cNvCxnSpPr>
          <p:nvPr/>
        </p:nvCxnSpPr>
        <p:spPr>
          <a:xfrm flipH="1" rot="-5400000">
            <a:off x="1760725" y="21430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g3bd1f6d9d27_0_173"/>
          <p:cNvCxnSpPr>
            <a:stCxn id="60" idx="2"/>
            <a:endCxn id="61" idx="0"/>
          </p:cNvCxnSpPr>
          <p:nvPr/>
        </p:nvCxnSpPr>
        <p:spPr>
          <a:xfrm flipH="1" rot="-5400000">
            <a:off x="1761025" y="29929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g3bd1f6d9d27_0_173"/>
          <p:cNvCxnSpPr>
            <a:stCxn id="61" idx="2"/>
            <a:endCxn id="57" idx="0"/>
          </p:cNvCxnSpPr>
          <p:nvPr/>
        </p:nvCxnSpPr>
        <p:spPr>
          <a:xfrm flipH="1" rot="-5400000">
            <a:off x="1760725" y="40096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g3bd1f6d9d27_0_173"/>
          <p:cNvSpPr/>
          <p:nvPr/>
        </p:nvSpPr>
        <p:spPr>
          <a:xfrm>
            <a:off x="971275" y="5358150"/>
            <a:ext cx="1827900" cy="601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Output: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&lt;0.19, 0.14, …, 0.08&gt;</a:t>
            </a:r>
            <a:endParaRPr sz="1100"/>
          </a:p>
        </p:txBody>
      </p:sp>
      <p:cxnSp>
        <p:nvCxnSpPr>
          <p:cNvPr id="66" name="Google Shape;66;g3bd1f6d9d27_0_173"/>
          <p:cNvCxnSpPr>
            <a:stCxn id="57" idx="2"/>
            <a:endCxn id="65" idx="0"/>
          </p:cNvCxnSpPr>
          <p:nvPr/>
        </p:nvCxnSpPr>
        <p:spPr>
          <a:xfrm>
            <a:off x="1885225" y="5033250"/>
            <a:ext cx="0" cy="3249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g3bd1f6d9d27_0_173"/>
          <p:cNvSpPr/>
          <p:nvPr/>
        </p:nvSpPr>
        <p:spPr>
          <a:xfrm>
            <a:off x="3870450" y="5115000"/>
            <a:ext cx="4988700" cy="10878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bd1f6d9d27_0_173"/>
          <p:cNvSpPr txBox="1"/>
          <p:nvPr/>
        </p:nvSpPr>
        <p:spPr>
          <a:xfrm>
            <a:off x="3883350" y="5516400"/>
            <a:ext cx="4962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&lt;0.19, 0.14, 0.12, 0.10, 0.09, 0.08, 0.07, 0.06, 0.07, 0.08&gt;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0     1     2     3     4     5     6     7     8     9 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g3bd1f6d9d27_0_173"/>
          <p:cNvSpPr txBox="1"/>
          <p:nvPr/>
        </p:nvSpPr>
        <p:spPr>
          <a:xfrm>
            <a:off x="4565850" y="5115000"/>
            <a:ext cx="3656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Predicted Output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0" name="Google Shape;70;g3bd1f6d9d27_0_173"/>
          <p:cNvSpPr/>
          <p:nvPr/>
        </p:nvSpPr>
        <p:spPr>
          <a:xfrm>
            <a:off x="4009350" y="5479275"/>
            <a:ext cx="556500" cy="686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bd1f6d9d27_0_173"/>
          <p:cNvSpPr/>
          <p:nvPr/>
        </p:nvSpPr>
        <p:spPr>
          <a:xfrm>
            <a:off x="5078625" y="3425175"/>
            <a:ext cx="2546700" cy="640200"/>
          </a:xfrm>
          <a:prstGeom prst="roundRect">
            <a:avLst>
              <a:gd fmla="val 16667" name="adj"/>
            </a:avLst>
          </a:prstGeom>
          <a:solidFill>
            <a:srgbClr val="9BA4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Cross Entropy Loss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g3bd1f6d9d27_0_173"/>
          <p:cNvSpPr/>
          <p:nvPr/>
        </p:nvSpPr>
        <p:spPr>
          <a:xfrm>
            <a:off x="3857625" y="1417650"/>
            <a:ext cx="4988700" cy="10878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d1f6d9d27_0_173"/>
          <p:cNvSpPr txBox="1"/>
          <p:nvPr/>
        </p:nvSpPr>
        <p:spPr>
          <a:xfrm>
            <a:off x="3883350" y="1819050"/>
            <a:ext cx="4962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&lt;0.0, 1.0, 0.0, 0.0, 0.0, 0.0, 0.0, 0.0, 0.0, 0.0&gt;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0    1    2    3    4    5    6    7    8    9 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g3bd1f6d9d27_0_173"/>
          <p:cNvSpPr txBox="1"/>
          <p:nvPr/>
        </p:nvSpPr>
        <p:spPr>
          <a:xfrm>
            <a:off x="4565850" y="1417650"/>
            <a:ext cx="3656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Expected</a:t>
            </a:r>
            <a:r>
              <a:rPr lang="en" sz="1800">
                <a:solidFill>
                  <a:schemeClr val="dk1"/>
                </a:solidFill>
              </a:rPr>
              <a:t> Output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5" name="Google Shape;75;g3bd1f6d9d27_0_173"/>
          <p:cNvSpPr/>
          <p:nvPr/>
        </p:nvSpPr>
        <p:spPr>
          <a:xfrm>
            <a:off x="4828500" y="1819050"/>
            <a:ext cx="422100" cy="6864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bd1f6d9d27_0_173"/>
          <p:cNvSpPr txBox="1"/>
          <p:nvPr/>
        </p:nvSpPr>
        <p:spPr>
          <a:xfrm>
            <a:off x="7716450" y="3463875"/>
            <a:ext cx="11877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= 1.97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77" name="Google Shape;77;g3bd1f6d9d27_0_173"/>
          <p:cNvCxnSpPr>
            <a:stCxn id="73" idx="2"/>
            <a:endCxn id="71" idx="0"/>
          </p:cNvCxnSpPr>
          <p:nvPr/>
        </p:nvCxnSpPr>
        <p:spPr>
          <a:xfrm flipH="1">
            <a:off x="6351900" y="2505450"/>
            <a:ext cx="12900" cy="9198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g3bd1f6d9d27_0_173"/>
          <p:cNvCxnSpPr>
            <a:stCxn id="69" idx="0"/>
            <a:endCxn id="71" idx="2"/>
          </p:cNvCxnSpPr>
          <p:nvPr/>
        </p:nvCxnSpPr>
        <p:spPr>
          <a:xfrm rot="10800000">
            <a:off x="6352050" y="4065300"/>
            <a:ext cx="42000" cy="10497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g3bd1f6d9d27_0_173"/>
          <p:cNvSpPr/>
          <p:nvPr/>
        </p:nvSpPr>
        <p:spPr>
          <a:xfrm>
            <a:off x="5078625" y="502675"/>
            <a:ext cx="2546700" cy="7683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Truth: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there general</a:t>
            </a:r>
            <a:endParaRPr/>
          </a:p>
        </p:txBody>
      </p:sp>
      <p:cxnSp>
        <p:nvCxnSpPr>
          <p:cNvPr id="80" name="Google Shape;80;g3bd1f6d9d27_0_173"/>
          <p:cNvCxnSpPr/>
          <p:nvPr/>
        </p:nvCxnSpPr>
        <p:spPr>
          <a:xfrm flipH="1" rot="10800000">
            <a:off x="2755650" y="5163850"/>
            <a:ext cx="1186200" cy="20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" name="Google Shape;81;g3bd1f6d9d27_0_173"/>
          <p:cNvCxnSpPr/>
          <p:nvPr/>
        </p:nvCxnSpPr>
        <p:spPr>
          <a:xfrm>
            <a:off x="2779625" y="5930650"/>
            <a:ext cx="1156200" cy="22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1f6d9d27_0_1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515"/>
                </a:solidFill>
              </a:rPr>
              <a:t>Deep Learning:</a:t>
            </a:r>
            <a:r>
              <a:rPr lang="en"/>
              <a:t>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Loss Functions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g3bd1f6d9d27_0_120"/>
          <p:cNvSpPr txBox="1"/>
          <p:nvPr>
            <p:ph idx="1" type="body"/>
          </p:nvPr>
        </p:nvSpPr>
        <p:spPr>
          <a:xfrm>
            <a:off x="457200" y="1600200"/>
            <a:ext cx="8229600" cy="1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loss function</a:t>
            </a:r>
            <a:r>
              <a:rPr lang="en"/>
              <a:t> allows us to numerically measure </a:t>
            </a:r>
            <a:r>
              <a:rPr b="1" lang="en">
                <a:solidFill>
                  <a:srgbClr val="DCB439"/>
                </a:solidFill>
              </a:rPr>
              <a:t>how far off our model’s predicted values are from what we expected them to be</a:t>
            </a:r>
            <a:r>
              <a:rPr lang="en"/>
              <a:t>, or what we know the right answer is.</a:t>
            </a:r>
            <a:endParaRPr/>
          </a:p>
        </p:txBody>
      </p:sp>
      <p:pic>
        <p:nvPicPr>
          <p:cNvPr id="88" name="Google Shape;88;g3bd1f6d9d27_0_120" title="Screenshot 2026-02-03 at 8.16.3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5" y="3588000"/>
            <a:ext cx="56578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bd1f6d9d27_0_120"/>
          <p:cNvSpPr txBox="1"/>
          <p:nvPr/>
        </p:nvSpPr>
        <p:spPr>
          <a:xfrm>
            <a:off x="457200" y="5378700"/>
            <a:ext cx="82296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Cross-Entropy: </a:t>
            </a:r>
            <a:r>
              <a:rPr b="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The loss function used to train LLMs is called “Cross-Entropy Loss” and it’s one of the most common loss functions. Heavily based on the principle of “entropy” as used in Information Theory, it’s a measure of how surprising our answer is relative to our ground-truth based on the entropy formula: -∑ p(x)log</a:t>
            </a:r>
            <a:r>
              <a:rPr b="0" baseline="-2500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 b="0" i="0" sz="12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Mostly outside the scope of the class, but it’s really not </a:t>
            </a:r>
            <a:r>
              <a:rPr b="0" i="1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0" lang="en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complicated.</a:t>
            </a:r>
            <a:endParaRPr b="0" i="0" sz="12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d1f6d9d27_0_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Generation</a:t>
            </a:r>
            <a:endParaRPr/>
          </a:p>
        </p:txBody>
      </p:sp>
      <p:sp>
        <p:nvSpPr>
          <p:cNvPr id="95" name="Google Shape;95;g3bd1f6d9d27_0_8"/>
          <p:cNvSpPr/>
          <p:nvPr/>
        </p:nvSpPr>
        <p:spPr>
          <a:xfrm>
            <a:off x="896425" y="4134150"/>
            <a:ext cx="1977600" cy="8991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d1f6d9d27_0_8"/>
          <p:cNvSpPr txBox="1"/>
          <p:nvPr/>
        </p:nvSpPr>
        <p:spPr>
          <a:xfrm>
            <a:off x="870625" y="4134150"/>
            <a:ext cx="2029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</a:rPr>
              <a:t>Magic Box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SLM</a:t>
            </a:r>
            <a:endParaRPr b="1" sz="2400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g3bd1f6d9d27_0_8"/>
          <p:cNvSpPr/>
          <p:nvPr/>
        </p:nvSpPr>
        <p:spPr>
          <a:xfrm>
            <a:off x="1068775" y="1417650"/>
            <a:ext cx="1631700" cy="601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“Hello there”</a:t>
            </a:r>
            <a:endParaRPr/>
          </a:p>
        </p:txBody>
      </p:sp>
      <p:sp>
        <p:nvSpPr>
          <p:cNvPr id="98" name="Google Shape;98;g3bd1f6d9d27_0_8"/>
          <p:cNvSpPr/>
          <p:nvPr/>
        </p:nvSpPr>
        <p:spPr>
          <a:xfrm>
            <a:off x="807325" y="2267550"/>
            <a:ext cx="2155200" cy="6015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{“hello”: 3, “there”: 7}</a:t>
            </a:r>
            <a:endParaRPr/>
          </a:p>
        </p:txBody>
      </p:sp>
      <p:sp>
        <p:nvSpPr>
          <p:cNvPr id="99" name="Google Shape;99;g3bd1f6d9d27_0_8"/>
          <p:cNvSpPr/>
          <p:nvPr/>
        </p:nvSpPr>
        <p:spPr>
          <a:xfrm>
            <a:off x="611275" y="3117450"/>
            <a:ext cx="2546700" cy="7683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{3: &lt;0.4, 0.3, …, -0.02&gt;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7</a:t>
            </a:r>
            <a:r>
              <a:rPr lang="en">
                <a:solidFill>
                  <a:schemeClr val="dk1"/>
                </a:solidFill>
              </a:rPr>
              <a:t>: &lt;0.27, 0.8, …, 0.06&gt;</a:t>
            </a:r>
            <a:r>
              <a:rPr lang="en"/>
              <a:t>}</a:t>
            </a:r>
            <a:endParaRPr/>
          </a:p>
        </p:txBody>
      </p:sp>
      <p:cxnSp>
        <p:nvCxnSpPr>
          <p:cNvPr id="100" name="Google Shape;100;g3bd1f6d9d27_0_8"/>
          <p:cNvCxnSpPr>
            <a:stCxn id="97" idx="2"/>
            <a:endCxn id="98" idx="0"/>
          </p:cNvCxnSpPr>
          <p:nvPr/>
        </p:nvCxnSpPr>
        <p:spPr>
          <a:xfrm flipH="1" rot="-5400000">
            <a:off x="1760725" y="21430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g3bd1f6d9d27_0_8"/>
          <p:cNvCxnSpPr>
            <a:stCxn id="98" idx="2"/>
            <a:endCxn id="99" idx="0"/>
          </p:cNvCxnSpPr>
          <p:nvPr/>
        </p:nvCxnSpPr>
        <p:spPr>
          <a:xfrm flipH="1" rot="-5400000">
            <a:off x="1761025" y="29929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g3bd1f6d9d27_0_8"/>
          <p:cNvCxnSpPr>
            <a:stCxn id="99" idx="2"/>
            <a:endCxn id="95" idx="0"/>
          </p:cNvCxnSpPr>
          <p:nvPr/>
        </p:nvCxnSpPr>
        <p:spPr>
          <a:xfrm flipH="1" rot="-5400000">
            <a:off x="1760725" y="40096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g3bd1f6d9d27_0_8"/>
          <p:cNvSpPr/>
          <p:nvPr/>
        </p:nvSpPr>
        <p:spPr>
          <a:xfrm>
            <a:off x="971275" y="5358150"/>
            <a:ext cx="1827900" cy="601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Output: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&lt;0.19, 0.14, …, 0.08&gt;</a:t>
            </a:r>
            <a:endParaRPr sz="1100"/>
          </a:p>
        </p:txBody>
      </p:sp>
      <p:cxnSp>
        <p:nvCxnSpPr>
          <p:cNvPr id="104" name="Google Shape;104;g3bd1f6d9d27_0_8"/>
          <p:cNvCxnSpPr>
            <a:stCxn id="95" idx="2"/>
            <a:endCxn id="103" idx="0"/>
          </p:cNvCxnSpPr>
          <p:nvPr/>
        </p:nvCxnSpPr>
        <p:spPr>
          <a:xfrm>
            <a:off x="1885225" y="5033250"/>
            <a:ext cx="0" cy="3249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g3bd1f6d9d27_0_8"/>
          <p:cNvSpPr/>
          <p:nvPr/>
        </p:nvSpPr>
        <p:spPr>
          <a:xfrm>
            <a:off x="3857625" y="1917300"/>
            <a:ext cx="4988700" cy="10878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g3bd1f6d9d27_0_8"/>
          <p:cNvCxnSpPr/>
          <p:nvPr/>
        </p:nvCxnSpPr>
        <p:spPr>
          <a:xfrm flipH="1" rot="10800000">
            <a:off x="2784750" y="2027875"/>
            <a:ext cx="1086600" cy="336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7" name="Google Shape;107;g3bd1f6d9d27_0_8"/>
          <p:cNvCxnSpPr/>
          <p:nvPr/>
        </p:nvCxnSpPr>
        <p:spPr>
          <a:xfrm flipH="1" rot="10800000">
            <a:off x="2771500" y="3007975"/>
            <a:ext cx="1270200" cy="292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8" name="Google Shape;108;g3bd1f6d9d27_0_8"/>
          <p:cNvSpPr txBox="1"/>
          <p:nvPr/>
        </p:nvSpPr>
        <p:spPr>
          <a:xfrm>
            <a:off x="3883350" y="2318700"/>
            <a:ext cx="4962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&lt;0.19, 0.14, 0.12, 0.10, 0.09, 0.08, 0.07, 0.06, 0.07, 0.08&gt;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0     1     2     3     4     5     6     7     8     9 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g3bd1f6d9d27_0_8"/>
          <p:cNvSpPr txBox="1"/>
          <p:nvPr/>
        </p:nvSpPr>
        <p:spPr>
          <a:xfrm>
            <a:off x="4565850" y="1917300"/>
            <a:ext cx="3656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Predicted Output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" name="Google Shape;110;g3bd1f6d9d27_0_8"/>
          <p:cNvSpPr/>
          <p:nvPr/>
        </p:nvSpPr>
        <p:spPr>
          <a:xfrm>
            <a:off x="4009350" y="2281575"/>
            <a:ext cx="556500" cy="686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bd1f6d9d27_0_8"/>
          <p:cNvSpPr/>
          <p:nvPr/>
        </p:nvSpPr>
        <p:spPr>
          <a:xfrm>
            <a:off x="3883350" y="3408625"/>
            <a:ext cx="4988700" cy="8607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bd1f6d9d27_0_8"/>
          <p:cNvSpPr txBox="1"/>
          <p:nvPr/>
        </p:nvSpPr>
        <p:spPr>
          <a:xfrm>
            <a:off x="4165400" y="3404825"/>
            <a:ext cx="44853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Vocab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{0: “general”, 1: “bill”, 2: “kenobi”, 3: ”hello”, 4: “kitty”,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5: “mom”,    6: “dad”, 7: “there”,  8: “big”,    9: “bill”}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3" name="Google Shape;113;g3bd1f6d9d27_0_8"/>
          <p:cNvSpPr/>
          <p:nvPr/>
        </p:nvSpPr>
        <p:spPr>
          <a:xfrm>
            <a:off x="4234925" y="3678825"/>
            <a:ext cx="1032300" cy="27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g3bd1f6d9d27_0_8"/>
          <p:cNvCxnSpPr>
            <a:stCxn id="110" idx="2"/>
            <a:endCxn id="113" idx="0"/>
          </p:cNvCxnSpPr>
          <p:nvPr/>
        </p:nvCxnSpPr>
        <p:spPr>
          <a:xfrm flipH="1" rot="-5400000">
            <a:off x="4163850" y="3091725"/>
            <a:ext cx="711000" cy="463500"/>
          </a:xfrm>
          <a:prstGeom prst="curvedConnector3">
            <a:avLst>
              <a:gd fmla="val 49989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g3bd1f6d9d27_0_8"/>
          <p:cNvSpPr/>
          <p:nvPr/>
        </p:nvSpPr>
        <p:spPr>
          <a:xfrm>
            <a:off x="5120700" y="4672850"/>
            <a:ext cx="2546700" cy="7683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“Hello there” + “general”</a:t>
            </a:r>
            <a:endParaRPr/>
          </a:p>
        </p:txBody>
      </p:sp>
      <p:cxnSp>
        <p:nvCxnSpPr>
          <p:cNvPr id="116" name="Google Shape;116;g3bd1f6d9d27_0_8"/>
          <p:cNvCxnSpPr>
            <a:stCxn id="103" idx="2"/>
            <a:endCxn id="115" idx="1"/>
          </p:cNvCxnSpPr>
          <p:nvPr/>
        </p:nvCxnSpPr>
        <p:spPr>
          <a:xfrm rot="-5400000">
            <a:off x="3051625" y="3890550"/>
            <a:ext cx="902700" cy="3235500"/>
          </a:xfrm>
          <a:prstGeom prst="curvedConnector4">
            <a:avLst>
              <a:gd fmla="val -26379" name="adj1"/>
              <a:gd fmla="val 64123" name="adj2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g3bd1f6d9d27_0_8"/>
          <p:cNvSpPr/>
          <p:nvPr/>
        </p:nvSpPr>
        <p:spPr>
          <a:xfrm>
            <a:off x="6596300" y="5059050"/>
            <a:ext cx="795900" cy="27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g3bd1f6d9d27_0_8"/>
          <p:cNvCxnSpPr>
            <a:stCxn id="113" idx="2"/>
            <a:endCxn id="117" idx="0"/>
          </p:cNvCxnSpPr>
          <p:nvPr/>
        </p:nvCxnSpPr>
        <p:spPr>
          <a:xfrm flipH="1" rot="-5400000">
            <a:off x="5319125" y="3384075"/>
            <a:ext cx="1107000" cy="2243100"/>
          </a:xfrm>
          <a:prstGeom prst="curvedConnector3">
            <a:avLst>
              <a:gd fmla="val 49997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1f6d9d27_0_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Input and Output Embeddings</a:t>
            </a:r>
            <a:endParaRPr/>
          </a:p>
        </p:txBody>
      </p:sp>
      <p:sp>
        <p:nvSpPr>
          <p:cNvPr id="124" name="Google Shape;124;g3bd1f6d9d27_0_77"/>
          <p:cNvSpPr/>
          <p:nvPr/>
        </p:nvSpPr>
        <p:spPr>
          <a:xfrm>
            <a:off x="896425" y="4134150"/>
            <a:ext cx="1977600" cy="8991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d1f6d9d27_0_77"/>
          <p:cNvSpPr txBox="1"/>
          <p:nvPr/>
        </p:nvSpPr>
        <p:spPr>
          <a:xfrm>
            <a:off x="870625" y="4134150"/>
            <a:ext cx="2029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</a:rPr>
              <a:t>Magic Box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SLM</a:t>
            </a:r>
            <a:endParaRPr b="1" sz="2400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g3bd1f6d9d27_0_77"/>
          <p:cNvSpPr/>
          <p:nvPr/>
        </p:nvSpPr>
        <p:spPr>
          <a:xfrm>
            <a:off x="1068775" y="1417650"/>
            <a:ext cx="1631700" cy="601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“Hello there”</a:t>
            </a:r>
            <a:endParaRPr/>
          </a:p>
        </p:txBody>
      </p:sp>
      <p:sp>
        <p:nvSpPr>
          <p:cNvPr id="127" name="Google Shape;127;g3bd1f6d9d27_0_77"/>
          <p:cNvSpPr/>
          <p:nvPr/>
        </p:nvSpPr>
        <p:spPr>
          <a:xfrm>
            <a:off x="807325" y="2267550"/>
            <a:ext cx="2155200" cy="6015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{“hello”: 3}</a:t>
            </a:r>
            <a:endParaRPr/>
          </a:p>
        </p:txBody>
      </p:sp>
      <p:sp>
        <p:nvSpPr>
          <p:cNvPr id="128" name="Google Shape;128;g3bd1f6d9d27_0_77"/>
          <p:cNvSpPr/>
          <p:nvPr/>
        </p:nvSpPr>
        <p:spPr>
          <a:xfrm>
            <a:off x="611275" y="3117450"/>
            <a:ext cx="2546700" cy="7683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{3: &lt;0.4, 0.3, …, -0.02&gt;}</a:t>
            </a:r>
            <a:endParaRPr/>
          </a:p>
        </p:txBody>
      </p:sp>
      <p:cxnSp>
        <p:nvCxnSpPr>
          <p:cNvPr id="129" name="Google Shape;129;g3bd1f6d9d27_0_77"/>
          <p:cNvCxnSpPr>
            <a:stCxn id="126" idx="2"/>
            <a:endCxn id="127" idx="0"/>
          </p:cNvCxnSpPr>
          <p:nvPr/>
        </p:nvCxnSpPr>
        <p:spPr>
          <a:xfrm flipH="1" rot="-5400000">
            <a:off x="1760725" y="21430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g3bd1f6d9d27_0_77"/>
          <p:cNvCxnSpPr>
            <a:stCxn id="127" idx="2"/>
            <a:endCxn id="128" idx="0"/>
          </p:cNvCxnSpPr>
          <p:nvPr/>
        </p:nvCxnSpPr>
        <p:spPr>
          <a:xfrm flipH="1" rot="-5400000">
            <a:off x="1761025" y="29929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g3bd1f6d9d27_0_77"/>
          <p:cNvCxnSpPr>
            <a:stCxn id="128" idx="2"/>
            <a:endCxn id="124" idx="0"/>
          </p:cNvCxnSpPr>
          <p:nvPr/>
        </p:nvCxnSpPr>
        <p:spPr>
          <a:xfrm flipH="1" rot="-5400000">
            <a:off x="1760725" y="4009650"/>
            <a:ext cx="2484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g3bd1f6d9d27_0_77"/>
          <p:cNvSpPr/>
          <p:nvPr/>
        </p:nvSpPr>
        <p:spPr>
          <a:xfrm>
            <a:off x="971275" y="5358150"/>
            <a:ext cx="1827900" cy="601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Output: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&lt;0.19, 0.14, …, 0.08&gt;</a:t>
            </a:r>
            <a:endParaRPr sz="1100"/>
          </a:p>
        </p:txBody>
      </p:sp>
      <p:cxnSp>
        <p:nvCxnSpPr>
          <p:cNvPr id="133" name="Google Shape;133;g3bd1f6d9d27_0_77"/>
          <p:cNvCxnSpPr>
            <a:stCxn id="124" idx="2"/>
            <a:endCxn id="132" idx="0"/>
          </p:cNvCxnSpPr>
          <p:nvPr/>
        </p:nvCxnSpPr>
        <p:spPr>
          <a:xfrm>
            <a:off x="1885225" y="5033250"/>
            <a:ext cx="0" cy="3249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g3bd1f6d9d27_0_77"/>
          <p:cNvSpPr/>
          <p:nvPr/>
        </p:nvSpPr>
        <p:spPr>
          <a:xfrm>
            <a:off x="3998775" y="5115000"/>
            <a:ext cx="4988700" cy="10878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g3bd1f6d9d27_0_77"/>
          <p:cNvCxnSpPr/>
          <p:nvPr/>
        </p:nvCxnSpPr>
        <p:spPr>
          <a:xfrm flipH="1" rot="10800000">
            <a:off x="2682175" y="5132250"/>
            <a:ext cx="1440600" cy="22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6" name="Google Shape;136;g3bd1f6d9d27_0_77"/>
          <p:cNvCxnSpPr/>
          <p:nvPr/>
        </p:nvCxnSpPr>
        <p:spPr>
          <a:xfrm>
            <a:off x="2701125" y="5961425"/>
            <a:ext cx="1502100" cy="24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7" name="Google Shape;137;g3bd1f6d9d27_0_77"/>
          <p:cNvSpPr txBox="1"/>
          <p:nvPr/>
        </p:nvSpPr>
        <p:spPr>
          <a:xfrm>
            <a:off x="4011675" y="5516400"/>
            <a:ext cx="49629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&lt;0.19, 0.14, 0.12, 0.10, 0.09, 0.08, 0.07, 0.06, 0.07, 0.08&gt;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0     1     2     3     4     5     6     7     8     9 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g3bd1f6d9d27_0_77"/>
          <p:cNvSpPr txBox="1"/>
          <p:nvPr/>
        </p:nvSpPr>
        <p:spPr>
          <a:xfrm>
            <a:off x="4664925" y="5114350"/>
            <a:ext cx="3656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Predicted Output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9" name="Google Shape;139;g3bd1f6d9d27_0_77"/>
          <p:cNvSpPr/>
          <p:nvPr/>
        </p:nvSpPr>
        <p:spPr>
          <a:xfrm>
            <a:off x="4011675" y="2267550"/>
            <a:ext cx="4962900" cy="10878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 &lt;1, 1024&gt;</a:t>
            </a:r>
            <a:endParaRPr/>
          </a:p>
        </p:txBody>
      </p:sp>
      <p:cxnSp>
        <p:nvCxnSpPr>
          <p:cNvPr id="140" name="Google Shape;140;g3bd1f6d9d27_0_77"/>
          <p:cNvCxnSpPr/>
          <p:nvPr/>
        </p:nvCxnSpPr>
        <p:spPr>
          <a:xfrm flipH="1" rot="10800000">
            <a:off x="2984500" y="2315975"/>
            <a:ext cx="1093200" cy="8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1" name="Google Shape;141;g3bd1f6d9d27_0_77"/>
          <p:cNvCxnSpPr/>
          <p:nvPr/>
        </p:nvCxnSpPr>
        <p:spPr>
          <a:xfrm flipH="1" rot="10800000">
            <a:off x="3018700" y="3361750"/>
            <a:ext cx="1196100" cy="53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" name="Google Shape;142;g3bd1f6d9d27_0_77"/>
          <p:cNvSpPr/>
          <p:nvPr/>
        </p:nvSpPr>
        <p:spPr>
          <a:xfrm>
            <a:off x="4750275" y="3704450"/>
            <a:ext cx="3485700" cy="10608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Somehow in here our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 changes from: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</a:rPr>
              <a:t>(1, 1024) to (1, 10)</a:t>
            </a:r>
            <a:endParaRPr b="1">
              <a:solidFill>
                <a:srgbClr val="A31415"/>
              </a:solidFill>
            </a:endParaRPr>
          </a:p>
        </p:txBody>
      </p:sp>
      <p:cxnSp>
        <p:nvCxnSpPr>
          <p:cNvPr id="143" name="Google Shape;143;g3bd1f6d9d27_0_77"/>
          <p:cNvCxnSpPr/>
          <p:nvPr/>
        </p:nvCxnSpPr>
        <p:spPr>
          <a:xfrm flipH="1" rot="10800000">
            <a:off x="2804900" y="4774075"/>
            <a:ext cx="2133000" cy="23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4" name="Google Shape;144;g3bd1f6d9d27_0_77"/>
          <p:cNvCxnSpPr/>
          <p:nvPr/>
        </p:nvCxnSpPr>
        <p:spPr>
          <a:xfrm flipH="1" rot="10800000">
            <a:off x="2775700" y="3734050"/>
            <a:ext cx="2056800" cy="40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d1f6d9d27_0_2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Multiplications</a:t>
            </a:r>
            <a:endParaRPr/>
          </a:p>
        </p:txBody>
      </p:sp>
      <p:pic>
        <p:nvPicPr>
          <p:cNvPr id="150" name="Google Shape;150;g3bd1f6d9d27_0_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425" y="1693100"/>
            <a:ext cx="7891159" cy="478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d1f6d9d27_0_2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Transformations</a:t>
            </a:r>
            <a:endParaRPr/>
          </a:p>
        </p:txBody>
      </p:sp>
      <p:pic>
        <p:nvPicPr>
          <p:cNvPr id="156" name="Google Shape;156;g3bd1f6d9d27_0_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729575"/>
            <a:ext cx="8572500" cy="33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d1f6d9d27_0_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MNIST “Equations”</a:t>
            </a:r>
            <a:endParaRPr/>
          </a:p>
        </p:txBody>
      </p:sp>
      <p:pic>
        <p:nvPicPr>
          <p:cNvPr id="162" name="Google Shape;162;g3bd1f6d9d2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2337" y="1417650"/>
            <a:ext cx="1259324" cy="125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ca1707a95_0_2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Visualizations</a:t>
            </a:r>
            <a:endParaRPr/>
          </a:p>
        </p:txBody>
      </p:sp>
      <p:pic>
        <p:nvPicPr>
          <p:cNvPr id="168" name="Google Shape;168;g3bca1707a95_0_266" title="Screenshot 2026-02-05 at 12.09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600" y="1417638"/>
            <a:ext cx="7614802" cy="513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