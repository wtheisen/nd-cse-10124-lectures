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95sfQdgcHu7PFftQLvpWVeU9v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dae2bb03d_0_4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bdae2bb03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dae2bb03d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g3bdae2bb03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bbeee67e43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g3bbeee67e4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ae2bb03d_0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ae2bb03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c35b5116e_0_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bc35b5116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d1f6d9d27_0_17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bd1f6d9d27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d1f6d9d27_0_1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bd1f6d9d2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d1f6d9d27_0_2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bd1f6d9d27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dae2bb03d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dae2bb03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d1f6d9d27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bd1f6d9d2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dae2bb03d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dae2bb0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B439"/>
              </a:buClr>
              <a:buSzPts val="3000"/>
              <a:buNone/>
              <a:defRPr b="1">
                <a:solidFill>
                  <a:srgbClr val="DCB43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■"/>
              <a:defRPr>
                <a:solidFill>
                  <a:srgbClr val="9E9E9E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1709"/>
              </a:buClr>
              <a:buSzPts val="1800"/>
              <a:buChar char="●"/>
              <a:defRPr>
                <a:solidFill>
                  <a:srgbClr val="5F1709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510"/>
              </a:buClr>
              <a:buSzPts val="1800"/>
              <a:buChar char="○"/>
              <a:defRPr>
                <a:solidFill>
                  <a:srgbClr val="46551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BBC"/>
              </a:buClr>
              <a:buSzPts val="1800"/>
              <a:buChar char="■"/>
              <a:defRPr>
                <a:solidFill>
                  <a:srgbClr val="5AABBC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B5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dae2bb03d_0_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Programming Practice 01</a:t>
            </a:r>
            <a:endParaRPr/>
          </a:p>
        </p:txBody>
      </p:sp>
      <p:sp>
        <p:nvSpPr>
          <p:cNvPr id="35" name="Google Shape;35;g3bdae2bb03d_0_43"/>
          <p:cNvSpPr txBox="1"/>
          <p:nvPr>
            <p:ph idx="1" type="body"/>
          </p:nvPr>
        </p:nvSpPr>
        <p:spPr>
          <a:xfrm>
            <a:off x="457200" y="1600200"/>
            <a:ext cx="8229600" cy="3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Given two matrices, write a function to multiply them together: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mat_mult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([[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, 3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2, 2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, 1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]]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[[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2, 3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],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3, 2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]])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&gt; [[15, 15], [10, 10], [5, 5]]</a:t>
            </a:r>
            <a:endParaRPr b="1" sz="2600">
              <a:solidFill>
                <a:srgbClr val="46551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6" name="Google Shape;36;g3bdae2bb03d_0_43"/>
          <p:cNvPicPr preferRelativeResize="0"/>
          <p:nvPr/>
        </p:nvPicPr>
        <p:blipFill rotWithShape="1">
          <a:blip r:embed="rId3">
            <a:alphaModFix/>
          </a:blip>
          <a:srcRect b="0" l="0" r="0" t="24505"/>
          <a:stretch/>
        </p:blipFill>
        <p:spPr>
          <a:xfrm>
            <a:off x="3409777" y="4329448"/>
            <a:ext cx="5436250" cy="230860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g3bdae2bb03d_0_43"/>
          <p:cNvSpPr txBox="1"/>
          <p:nvPr/>
        </p:nvSpPr>
        <p:spPr>
          <a:xfrm>
            <a:off x="319700" y="4545475"/>
            <a:ext cx="39057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CB439"/>
                </a:solidFill>
              </a:rPr>
              <a:t>NOTE:</a:t>
            </a:r>
            <a:r>
              <a:rPr lang="en" sz="1800">
                <a:solidFill>
                  <a:srgbClr val="000000"/>
                </a:solidFill>
              </a:rPr>
              <a:t> </a:t>
            </a:r>
            <a:r>
              <a:rPr lang="en" sz="1800"/>
              <a:t>I thought this was really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tricky and it took me a while!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dae2bb03d_0_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465510"/>
                </a:solidFill>
              </a:rPr>
              <a:t>Programming Practice 01 Solution</a:t>
            </a:r>
            <a:endParaRPr>
              <a:solidFill>
                <a:srgbClr val="465510"/>
              </a:solidFill>
            </a:endParaRPr>
          </a:p>
        </p:txBody>
      </p:sp>
      <p:pic>
        <p:nvPicPr>
          <p:cNvPr id="43" name="Google Shape;43;g3bdae2bb03d_0_50" title="Screenshot 2026-02-10 at 11.26.3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450" y="1417649"/>
            <a:ext cx="5819100" cy="25906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" name="Google Shape;44;g3bdae2bb03d_0_50" title="Screenshot 2026-02-10 at 11.28.42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138" y="4170449"/>
            <a:ext cx="7981716" cy="2544952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bbeee67e43_0_26"/>
          <p:cNvSpPr txBox="1"/>
          <p:nvPr>
            <p:ph type="ctrTitle"/>
          </p:nvPr>
        </p:nvSpPr>
        <p:spPr>
          <a:xfrm>
            <a:off x="685800" y="2655750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002B5B"/>
                </a:solidFill>
              </a:rPr>
              <a:t>CSE </a:t>
            </a:r>
            <a:r>
              <a:rPr lang="en"/>
              <a:t>1</a:t>
            </a:r>
            <a:r>
              <a:rPr lang="en">
                <a:solidFill>
                  <a:srgbClr val="002B5B"/>
                </a:solidFill>
              </a:rPr>
              <a:t>0124</a:t>
            </a:r>
            <a:br>
              <a:rPr lang="en">
                <a:solidFill>
                  <a:srgbClr val="002B5B"/>
                </a:solidFill>
              </a:rPr>
            </a:br>
            <a:r>
              <a:rPr lang="en">
                <a:solidFill>
                  <a:srgbClr val="DCB439"/>
                </a:solidFill>
              </a:rPr>
              <a:t>Learning Weights</a:t>
            </a:r>
            <a:endParaRPr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dae2bb03d_0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Schedule</a:t>
            </a:r>
            <a:endParaRPr/>
          </a:p>
        </p:txBody>
      </p:sp>
      <p:pic>
        <p:nvPicPr>
          <p:cNvPr id="55" name="Google Shape;55;g3bdae2bb03d_0_16" title="Screenshot 2026-02-10 at 9.55.1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1737" y="1531012"/>
            <a:ext cx="6600526" cy="510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g3bc35b5116e_0_22" title="transformer_arch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375" y="303250"/>
            <a:ext cx="3473050" cy="625150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bc35b5116e_0_22"/>
          <p:cNvSpPr txBox="1"/>
          <p:nvPr>
            <p:ph type="title"/>
          </p:nvPr>
        </p:nvSpPr>
        <p:spPr>
          <a:xfrm>
            <a:off x="3974950" y="1100850"/>
            <a:ext cx="5053200" cy="808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800">
                <a:solidFill>
                  <a:srgbClr val="002B5B"/>
                </a:solidFill>
              </a:rPr>
              <a:t>Where are we?</a:t>
            </a:r>
            <a:endParaRPr sz="4800">
              <a:solidFill>
                <a:srgbClr val="002B5B"/>
              </a:solidFill>
            </a:endParaRPr>
          </a:p>
        </p:txBody>
      </p:sp>
      <p:cxnSp>
        <p:nvCxnSpPr>
          <p:cNvPr id="62" name="Google Shape;62;g3bc35b5116e_0_22"/>
          <p:cNvCxnSpPr>
            <a:stCxn id="61" idx="1"/>
            <a:endCxn id="63" idx="3"/>
          </p:cNvCxnSpPr>
          <p:nvPr/>
        </p:nvCxnSpPr>
        <p:spPr>
          <a:xfrm flipH="1">
            <a:off x="2600650" y="1505250"/>
            <a:ext cx="1374300" cy="3900900"/>
          </a:xfrm>
          <a:prstGeom prst="curvedConnector3">
            <a:avLst>
              <a:gd fmla="val 49996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" name="Google Shape;63;g3bc35b5116e_0_22"/>
          <p:cNvSpPr/>
          <p:nvPr/>
        </p:nvSpPr>
        <p:spPr>
          <a:xfrm>
            <a:off x="1287950" y="5206450"/>
            <a:ext cx="1312800" cy="399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bc35b5116e_0_22"/>
          <p:cNvSpPr txBox="1"/>
          <p:nvPr/>
        </p:nvSpPr>
        <p:spPr>
          <a:xfrm>
            <a:off x="3993600" y="2080075"/>
            <a:ext cx="5053200" cy="4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000">
                <a:solidFill>
                  <a:srgbClr val="A31415"/>
                </a:solidFill>
              </a:rPr>
              <a:t>I lied!</a:t>
            </a:r>
            <a:endParaRPr b="1" sz="3000">
              <a:solidFill>
                <a:srgbClr val="A3141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Today we’ll talk about </a:t>
            </a:r>
            <a:r>
              <a:rPr b="1" lang="en" sz="3000">
                <a:solidFill>
                  <a:srgbClr val="DCB439"/>
                </a:solidFill>
              </a:rPr>
              <a:t>how we learn our weights</a:t>
            </a:r>
            <a:r>
              <a:rPr b="0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>
                <a:solidFill>
                  <a:schemeClr val="dk1"/>
                </a:solidFill>
              </a:rPr>
              <a:t>This is called </a:t>
            </a:r>
            <a:r>
              <a:rPr b="1" lang="en" sz="3000">
                <a:solidFill>
                  <a:srgbClr val="002B5B"/>
                </a:solidFill>
              </a:rPr>
              <a:t>gradient descent</a:t>
            </a:r>
            <a:endParaRPr b="1" i="0" sz="3000" u="none" cap="none" strike="noStrike">
              <a:solidFill>
                <a:srgbClr val="002B5B"/>
              </a:solidFill>
            </a:endParaRPr>
          </a:p>
        </p:txBody>
      </p:sp>
      <p:sp>
        <p:nvSpPr>
          <p:cNvPr id="65" name="Google Shape;65;g3bc35b5116e_0_22"/>
          <p:cNvSpPr/>
          <p:nvPr/>
        </p:nvSpPr>
        <p:spPr>
          <a:xfrm>
            <a:off x="1287950" y="1989050"/>
            <a:ext cx="1312800" cy="470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" name="Google Shape;66;g3bc35b5116e_0_22"/>
          <p:cNvCxnSpPr>
            <a:stCxn id="61" idx="1"/>
            <a:endCxn id="65" idx="3"/>
          </p:cNvCxnSpPr>
          <p:nvPr/>
        </p:nvCxnSpPr>
        <p:spPr>
          <a:xfrm flipH="1">
            <a:off x="2600650" y="1505250"/>
            <a:ext cx="1374300" cy="719100"/>
          </a:xfrm>
          <a:prstGeom prst="curvedConnector3">
            <a:avLst>
              <a:gd fmla="val 49996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d1f6d9d27_0_1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Training a Model</a:t>
            </a:r>
            <a:endParaRPr/>
          </a:p>
        </p:txBody>
      </p:sp>
      <p:sp>
        <p:nvSpPr>
          <p:cNvPr id="72" name="Google Shape;72;g3bd1f6d9d27_0_173"/>
          <p:cNvSpPr/>
          <p:nvPr/>
        </p:nvSpPr>
        <p:spPr>
          <a:xfrm>
            <a:off x="896425" y="4134150"/>
            <a:ext cx="1977600" cy="8991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bd1f6d9d27_0_173"/>
          <p:cNvSpPr txBox="1"/>
          <p:nvPr/>
        </p:nvSpPr>
        <p:spPr>
          <a:xfrm>
            <a:off x="870625" y="4134150"/>
            <a:ext cx="20292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A31415"/>
                </a:solidFill>
                <a:latin typeface="Arial"/>
                <a:ea typeface="Arial"/>
                <a:cs typeface="Arial"/>
                <a:sym typeface="Arial"/>
              </a:rPr>
              <a:t>Magic Box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SLM</a:t>
            </a:r>
            <a:endParaRPr b="1" i="0" sz="2400" u="none" cap="none" strike="noStrike"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g3bd1f6d9d27_0_173"/>
          <p:cNvSpPr/>
          <p:nvPr/>
        </p:nvSpPr>
        <p:spPr>
          <a:xfrm>
            <a:off x="1068775" y="1417650"/>
            <a:ext cx="1631700" cy="6015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“Hello there”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bd1f6d9d27_0_173"/>
          <p:cNvSpPr/>
          <p:nvPr/>
        </p:nvSpPr>
        <p:spPr>
          <a:xfrm>
            <a:off x="807325" y="2267550"/>
            <a:ext cx="2155200" cy="6015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{“hello”: 3, “there”: 7}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bd1f6d9d27_0_173"/>
          <p:cNvSpPr/>
          <p:nvPr/>
        </p:nvSpPr>
        <p:spPr>
          <a:xfrm>
            <a:off x="611275" y="3117450"/>
            <a:ext cx="2546700" cy="7683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{3: &lt;0.4, 0.3, …, -0.02&gt;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7: &lt;0.27, 0.8, …, 0.06&gt;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g3bd1f6d9d27_0_173"/>
          <p:cNvCxnSpPr>
            <a:stCxn id="74" idx="2"/>
            <a:endCxn id="75" idx="0"/>
          </p:cNvCxnSpPr>
          <p:nvPr/>
        </p:nvCxnSpPr>
        <p:spPr>
          <a:xfrm flipH="1" rot="-5400000">
            <a:off x="1760725" y="2143050"/>
            <a:ext cx="2484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" name="Google Shape;78;g3bd1f6d9d27_0_173"/>
          <p:cNvCxnSpPr>
            <a:stCxn id="75" idx="2"/>
            <a:endCxn id="76" idx="0"/>
          </p:cNvCxnSpPr>
          <p:nvPr/>
        </p:nvCxnSpPr>
        <p:spPr>
          <a:xfrm flipH="1" rot="-5400000">
            <a:off x="1761025" y="2992950"/>
            <a:ext cx="2484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" name="Google Shape;79;g3bd1f6d9d27_0_173"/>
          <p:cNvCxnSpPr>
            <a:stCxn id="76" idx="2"/>
            <a:endCxn id="72" idx="0"/>
          </p:cNvCxnSpPr>
          <p:nvPr/>
        </p:nvCxnSpPr>
        <p:spPr>
          <a:xfrm flipH="1" rot="-5400000">
            <a:off x="1760725" y="4009650"/>
            <a:ext cx="2484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" name="Google Shape;80;g3bd1f6d9d27_0_173"/>
          <p:cNvSpPr/>
          <p:nvPr/>
        </p:nvSpPr>
        <p:spPr>
          <a:xfrm>
            <a:off x="971275" y="5358150"/>
            <a:ext cx="1827900" cy="6015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Predicted 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&lt;0.19, 0.14, …, 0.08&gt;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g3bd1f6d9d27_0_173"/>
          <p:cNvCxnSpPr>
            <a:stCxn id="72" idx="2"/>
            <a:endCxn id="80" idx="0"/>
          </p:cNvCxnSpPr>
          <p:nvPr/>
        </p:nvCxnSpPr>
        <p:spPr>
          <a:xfrm>
            <a:off x="1885225" y="5033250"/>
            <a:ext cx="0" cy="32490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" name="Google Shape;82;g3bd1f6d9d27_0_173"/>
          <p:cNvSpPr/>
          <p:nvPr/>
        </p:nvSpPr>
        <p:spPr>
          <a:xfrm>
            <a:off x="3870450" y="5115000"/>
            <a:ext cx="4988700" cy="10878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bd1f6d9d27_0_173"/>
          <p:cNvSpPr txBox="1"/>
          <p:nvPr/>
        </p:nvSpPr>
        <p:spPr>
          <a:xfrm>
            <a:off x="3883350" y="5516400"/>
            <a:ext cx="49629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&lt;0.19, 0.14, 0.12, 0.10, 0.09, 0.08, 0.07, 0.06, 0.07, 0.08&gt;</a:t>
            </a:r>
            <a:endParaRPr b="0" i="0" sz="1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0     1     2     3     4     5     6     7     8     9  </a:t>
            </a:r>
            <a:endParaRPr b="0" i="0" sz="1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" name="Google Shape;84;g3bd1f6d9d27_0_173"/>
          <p:cNvSpPr txBox="1"/>
          <p:nvPr/>
        </p:nvSpPr>
        <p:spPr>
          <a:xfrm>
            <a:off x="4565850" y="5115000"/>
            <a:ext cx="36564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Predicted Output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bd1f6d9d27_0_173"/>
          <p:cNvSpPr/>
          <p:nvPr/>
        </p:nvSpPr>
        <p:spPr>
          <a:xfrm>
            <a:off x="4009350" y="5479275"/>
            <a:ext cx="556500" cy="686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bd1f6d9d27_0_173"/>
          <p:cNvSpPr/>
          <p:nvPr/>
        </p:nvSpPr>
        <p:spPr>
          <a:xfrm>
            <a:off x="5078625" y="3425175"/>
            <a:ext cx="2546700" cy="640200"/>
          </a:xfrm>
          <a:prstGeom prst="roundRect">
            <a:avLst>
              <a:gd fmla="val 16667" name="adj"/>
            </a:avLst>
          </a:prstGeom>
          <a:solidFill>
            <a:srgbClr val="9BA4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Cross Entropy Loss</a:t>
            </a:r>
            <a:endParaRPr b="1" i="0" sz="1400" u="none" cap="none" strike="noStrike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" name="Google Shape;87;g3bd1f6d9d27_0_173"/>
          <p:cNvSpPr/>
          <p:nvPr/>
        </p:nvSpPr>
        <p:spPr>
          <a:xfrm>
            <a:off x="3857625" y="1417650"/>
            <a:ext cx="4988700" cy="10878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bd1f6d9d27_0_173"/>
          <p:cNvSpPr txBox="1"/>
          <p:nvPr/>
        </p:nvSpPr>
        <p:spPr>
          <a:xfrm>
            <a:off x="3883350" y="1819050"/>
            <a:ext cx="49629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&lt;0.0, 1.0, 0.0, 0.0, 0.0, 0.0, 0.0, 0.0, 0.0, 0.0&gt;</a:t>
            </a:r>
            <a:endParaRPr b="0" i="0" sz="1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0    1    2    3    4    5    6    7    8    9  </a:t>
            </a:r>
            <a:endParaRPr b="0" i="0" sz="1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" name="Google Shape;89;g3bd1f6d9d27_0_173"/>
          <p:cNvSpPr txBox="1"/>
          <p:nvPr/>
        </p:nvSpPr>
        <p:spPr>
          <a:xfrm>
            <a:off x="4565850" y="1417650"/>
            <a:ext cx="36564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Expected Output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bd1f6d9d27_0_173"/>
          <p:cNvSpPr/>
          <p:nvPr/>
        </p:nvSpPr>
        <p:spPr>
          <a:xfrm>
            <a:off x="4828500" y="1819050"/>
            <a:ext cx="422100" cy="6864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bd1f6d9d27_0_173"/>
          <p:cNvSpPr txBox="1"/>
          <p:nvPr/>
        </p:nvSpPr>
        <p:spPr>
          <a:xfrm>
            <a:off x="7716450" y="3463875"/>
            <a:ext cx="1187700" cy="5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1.97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g3bd1f6d9d27_0_173"/>
          <p:cNvCxnSpPr>
            <a:stCxn id="88" idx="2"/>
            <a:endCxn id="86" idx="0"/>
          </p:cNvCxnSpPr>
          <p:nvPr/>
        </p:nvCxnSpPr>
        <p:spPr>
          <a:xfrm flipH="1">
            <a:off x="6351900" y="2505450"/>
            <a:ext cx="12900" cy="91980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" name="Google Shape;93;g3bd1f6d9d27_0_173"/>
          <p:cNvCxnSpPr>
            <a:stCxn id="84" idx="0"/>
            <a:endCxn id="86" idx="2"/>
          </p:cNvCxnSpPr>
          <p:nvPr/>
        </p:nvCxnSpPr>
        <p:spPr>
          <a:xfrm rot="10800000">
            <a:off x="6352050" y="4065300"/>
            <a:ext cx="42000" cy="104970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" name="Google Shape;94;g3bd1f6d9d27_0_173"/>
          <p:cNvSpPr/>
          <p:nvPr/>
        </p:nvSpPr>
        <p:spPr>
          <a:xfrm>
            <a:off x="5078625" y="502675"/>
            <a:ext cx="2546700" cy="7683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Ground Truth: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Hello there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g3bd1f6d9d27_0_173"/>
          <p:cNvCxnSpPr/>
          <p:nvPr/>
        </p:nvCxnSpPr>
        <p:spPr>
          <a:xfrm flipH="1" rot="10800000">
            <a:off x="2755650" y="5163850"/>
            <a:ext cx="1186200" cy="203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6" name="Google Shape;96;g3bd1f6d9d27_0_173"/>
          <p:cNvCxnSpPr/>
          <p:nvPr/>
        </p:nvCxnSpPr>
        <p:spPr>
          <a:xfrm>
            <a:off x="2779625" y="5930650"/>
            <a:ext cx="1156200" cy="22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d1f6d9d27_0_1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515"/>
                </a:solidFill>
              </a:rPr>
              <a:t>Deep Learning:</a:t>
            </a:r>
            <a:r>
              <a:rPr lang="en"/>
              <a:t>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Loss Functions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" name="Google Shape;102;g3bd1f6d9d27_0_120"/>
          <p:cNvSpPr txBox="1"/>
          <p:nvPr>
            <p:ph idx="1" type="body"/>
          </p:nvPr>
        </p:nvSpPr>
        <p:spPr>
          <a:xfrm>
            <a:off x="457200" y="1600200"/>
            <a:ext cx="8229600" cy="19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loss function</a:t>
            </a:r>
            <a:r>
              <a:rPr lang="en"/>
              <a:t> allows us to numerically measure </a:t>
            </a:r>
            <a:r>
              <a:rPr b="1" lang="en">
                <a:solidFill>
                  <a:srgbClr val="DCB439"/>
                </a:solidFill>
              </a:rPr>
              <a:t>how far off our model’s predicted values are from what we expected them to be</a:t>
            </a:r>
            <a:r>
              <a:rPr lang="en"/>
              <a:t>, or what we know the right answer is.</a:t>
            </a:r>
            <a:endParaRPr/>
          </a:p>
        </p:txBody>
      </p:sp>
      <p:pic>
        <p:nvPicPr>
          <p:cNvPr id="103" name="Google Shape;103;g3bd1f6d9d27_0_120" title="Screenshot 2026-02-03 at 8.16.38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3075" y="3588000"/>
            <a:ext cx="5657850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bd1f6d9d27_0_120"/>
          <p:cNvSpPr txBox="1"/>
          <p:nvPr/>
        </p:nvSpPr>
        <p:spPr>
          <a:xfrm>
            <a:off x="457200" y="5378700"/>
            <a:ext cx="82296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6925" lIns="96925" spcFirstLastPara="1" rIns="96925" wrap="square" tIns="96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rPr>
              <a:t>Cross-Entropy: </a:t>
            </a:r>
            <a:r>
              <a:rPr b="0" i="0" lang="en" sz="1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The loss function used to train LLMs is called “Cross-Entropy Loss” and it’s one of the most common loss functions. Heavily based on the principle of “entropy” as used in Information Theory, it’s a measure of how surprising our answer is relative to our ground-truth based on the entropy formula: -∑ p(x)log</a:t>
            </a:r>
            <a:r>
              <a:rPr b="0" baseline="-25000" i="0" lang="en" sz="1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p(x)</a:t>
            </a:r>
            <a:endParaRPr b="0" i="0" sz="12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Mostly outside the scope of the class, but it’s really not </a:t>
            </a:r>
            <a:r>
              <a:rPr b="0" i="1" lang="en" sz="1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b="0" i="0" lang="en" sz="1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complicated.</a:t>
            </a:r>
            <a:endParaRPr b="0" i="0" sz="12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d1f6d9d27_0_2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Linear Transformations</a:t>
            </a:r>
            <a:endParaRPr/>
          </a:p>
        </p:txBody>
      </p:sp>
      <p:pic>
        <p:nvPicPr>
          <p:cNvPr id="110" name="Google Shape;110;g3bd1f6d9d27_0_2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1729575"/>
            <a:ext cx="8572500" cy="339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bd1f6d9d27_0_214"/>
          <p:cNvSpPr/>
          <p:nvPr/>
        </p:nvSpPr>
        <p:spPr>
          <a:xfrm>
            <a:off x="2158950" y="3938675"/>
            <a:ext cx="252300" cy="2523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" name="Google Shape;112;g3bd1f6d9d27_0_214"/>
          <p:cNvCxnSpPr>
            <a:stCxn id="111" idx="6"/>
            <a:endCxn id="113" idx="2"/>
          </p:cNvCxnSpPr>
          <p:nvPr/>
        </p:nvCxnSpPr>
        <p:spPr>
          <a:xfrm flipH="1" rot="10800000">
            <a:off x="2411250" y="3214625"/>
            <a:ext cx="2256000" cy="850200"/>
          </a:xfrm>
          <a:prstGeom prst="curvedConnector2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g3bd1f6d9d27_0_214"/>
          <p:cNvSpPr/>
          <p:nvPr/>
        </p:nvSpPr>
        <p:spPr>
          <a:xfrm>
            <a:off x="5045875" y="2637225"/>
            <a:ext cx="440400" cy="577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bd1f6d9d27_0_214"/>
          <p:cNvSpPr/>
          <p:nvPr/>
        </p:nvSpPr>
        <p:spPr>
          <a:xfrm>
            <a:off x="8035575" y="3411175"/>
            <a:ext cx="252300" cy="2523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" name="Google Shape;116;g3bd1f6d9d27_0_214"/>
          <p:cNvCxnSpPr>
            <a:endCxn id="115" idx="1"/>
          </p:cNvCxnSpPr>
          <p:nvPr/>
        </p:nvCxnSpPr>
        <p:spPr>
          <a:xfrm>
            <a:off x="5486223" y="2926123"/>
            <a:ext cx="2586300" cy="522000"/>
          </a:xfrm>
          <a:prstGeom prst="curvedConnector2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g3bd1f6d9d27_0_214"/>
          <p:cNvCxnSpPr>
            <a:stCxn id="113" idx="0"/>
            <a:endCxn id="114" idx="0"/>
          </p:cNvCxnSpPr>
          <p:nvPr/>
        </p:nvCxnSpPr>
        <p:spPr>
          <a:xfrm flipH="1" rot="-5400000">
            <a:off x="4966300" y="2338125"/>
            <a:ext cx="600" cy="5988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" name="Google Shape;118;g3bd1f6d9d27_0_214"/>
          <p:cNvSpPr/>
          <p:nvPr/>
        </p:nvSpPr>
        <p:spPr>
          <a:xfrm>
            <a:off x="3623950" y="2637225"/>
            <a:ext cx="823200" cy="5775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bd1f6d9d27_0_214"/>
          <p:cNvSpPr/>
          <p:nvPr/>
        </p:nvSpPr>
        <p:spPr>
          <a:xfrm>
            <a:off x="4447000" y="2637225"/>
            <a:ext cx="440400" cy="577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bd1f6d9d27_0_214"/>
          <p:cNvSpPr txBox="1"/>
          <p:nvPr/>
        </p:nvSpPr>
        <p:spPr>
          <a:xfrm>
            <a:off x="1686700" y="3551600"/>
            <a:ext cx="2123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2B5B"/>
                </a:solidFill>
              </a:rPr>
              <a:t>Input Vector: X</a:t>
            </a:r>
            <a:endParaRPr b="1" sz="1800">
              <a:solidFill>
                <a:srgbClr val="002B5B"/>
              </a:solidFill>
            </a:endParaRPr>
          </a:p>
        </p:txBody>
      </p:sp>
      <p:sp>
        <p:nvSpPr>
          <p:cNvPr id="120" name="Google Shape;120;g3bd1f6d9d27_0_214"/>
          <p:cNvSpPr txBox="1"/>
          <p:nvPr/>
        </p:nvSpPr>
        <p:spPr>
          <a:xfrm>
            <a:off x="6978600" y="2707375"/>
            <a:ext cx="2123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2B5B"/>
                </a:solidFill>
              </a:rPr>
              <a:t>Output</a:t>
            </a:r>
            <a:r>
              <a:rPr b="1" lang="en" sz="1800">
                <a:solidFill>
                  <a:srgbClr val="002B5B"/>
                </a:solidFill>
              </a:rPr>
              <a:t> Vector: Ŷ</a:t>
            </a:r>
            <a:endParaRPr b="1" sz="1800">
              <a:solidFill>
                <a:srgbClr val="002B5B"/>
              </a:solidFill>
            </a:endParaRPr>
          </a:p>
        </p:txBody>
      </p:sp>
      <p:sp>
        <p:nvSpPr>
          <p:cNvPr id="121" name="Google Shape;121;g3bd1f6d9d27_0_214"/>
          <p:cNvSpPr txBox="1"/>
          <p:nvPr/>
        </p:nvSpPr>
        <p:spPr>
          <a:xfrm>
            <a:off x="4763825" y="2252900"/>
            <a:ext cx="2808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2B5B"/>
                </a:solidFill>
              </a:rPr>
              <a:t>transformed (multiplied) by </a:t>
            </a:r>
            <a:r>
              <a:rPr b="1" lang="en" sz="1200">
                <a:solidFill>
                  <a:srgbClr val="00FF00"/>
                </a:solidFill>
              </a:rPr>
              <a:t>W</a:t>
            </a:r>
            <a:endParaRPr b="1" sz="1200">
              <a:solidFill>
                <a:srgbClr val="00FF00"/>
              </a:solidFill>
            </a:endParaRPr>
          </a:p>
        </p:txBody>
      </p:sp>
      <p:sp>
        <p:nvSpPr>
          <p:cNvPr id="122" name="Google Shape;122;g3bd1f6d9d27_0_214"/>
          <p:cNvSpPr/>
          <p:nvPr/>
        </p:nvSpPr>
        <p:spPr>
          <a:xfrm>
            <a:off x="3713550" y="2411250"/>
            <a:ext cx="642900" cy="1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bd1f6d9d27_0_214"/>
          <p:cNvSpPr txBox="1"/>
          <p:nvPr/>
        </p:nvSpPr>
        <p:spPr>
          <a:xfrm>
            <a:off x="3765800" y="2121550"/>
            <a:ext cx="3918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FF00"/>
                </a:solidFill>
              </a:rPr>
              <a:t>W</a:t>
            </a:r>
            <a:endParaRPr sz="3000">
              <a:solidFill>
                <a:srgbClr val="00FF00"/>
              </a:solidFill>
            </a:endParaRPr>
          </a:p>
        </p:txBody>
      </p:sp>
      <p:pic>
        <p:nvPicPr>
          <p:cNvPr id="124" name="Google Shape;124;g3bd1f6d9d27_0_214" title="IMG_027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7500" y="5027750"/>
            <a:ext cx="3469007" cy="1722975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dae2bb03d_0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Resources</a:t>
            </a:r>
            <a:endParaRPr/>
          </a:p>
        </p:txBody>
      </p:sp>
      <p:pic>
        <p:nvPicPr>
          <p:cNvPr id="130" name="Google Shape;130;g3bdae2bb03d_0_5" title="Screenshot 2026-02-10 at 9.54.2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713" y="1600201"/>
            <a:ext cx="7632576" cy="468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d1f6d9d27_0_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Writing MNIST “Equations”</a:t>
            </a:r>
            <a:endParaRPr/>
          </a:p>
        </p:txBody>
      </p:sp>
      <p:pic>
        <p:nvPicPr>
          <p:cNvPr id="136" name="Google Shape;136;g3bd1f6d9d27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2337" y="1417650"/>
            <a:ext cx="1259324" cy="125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dae2bb03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</a:t>
            </a:r>
            <a:endParaRPr/>
          </a:p>
        </p:txBody>
      </p:sp>
      <p:pic>
        <p:nvPicPr>
          <p:cNvPr descr="Please clean this image up" id="142" name="Google Shape;142;g3bdae2bb03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488" y="1600194"/>
            <a:ext cx="7595025" cy="47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B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