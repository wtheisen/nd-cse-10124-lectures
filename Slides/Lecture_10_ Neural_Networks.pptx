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BjD9dqy4CPvYtUw5q2RYSSfZO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dae2bb03d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dae2bb0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dae2bb03d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bdae2bb0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79c4a09ec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79c4a09e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dae2bb03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bdae2bb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1f6d9d27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bd1f6d9d2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70c3f9d8e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70c3f9d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70c3f9d8e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70c3f9d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70c3f9d8e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70c3f9d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9c4a09ec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79c4a09e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70c3f9d8e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70c3f9d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70c3f9d8e_0_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c70c3f9d8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70c3f9d8e_0_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70c3f9d8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79c4a09ec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79c4a09e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70c3f9d8e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70c3f9d8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dae2bb03d_0_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dae2bb03d_0_43"/>
          <p:cNvSpPr txBox="1"/>
          <p:nvPr>
            <p:ph idx="1" type="body"/>
          </p:nvPr>
        </p:nvSpPr>
        <p:spPr>
          <a:xfrm>
            <a:off x="457200" y="1600200"/>
            <a:ext cx="8229600" cy="3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Given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of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floats</a:t>
            </a:r>
            <a:r>
              <a:rPr lang="en"/>
              <a:t>,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"/>
              <a:t>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that will return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with every number less than 0 replaced with a 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neg_to_zero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3, 3, -1, -5, 2, 4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3, 3, 0, 0, 2, 4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2600">
              <a:solidFill>
                <a:srgbClr val="46551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dae2bb03d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01 Solution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41" name="Google Shape;41;g3bdae2bb03d_0_50" title="Screenshot 2026-02-12 at 7.09.0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900" y="4198947"/>
            <a:ext cx="6356200" cy="2044575"/>
          </a:xfrm>
          <a:prstGeom prst="rect">
            <a:avLst/>
          </a:prstGeom>
          <a:noFill/>
          <a:ln cap="flat" cmpd="sng" w="38100">
            <a:solidFill>
              <a:srgbClr val="4655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" name="Google Shape;42;g3bdae2bb03d_0_50" title="Screenshot 2026-02-12 at 7.09.5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0038"/>
            <a:ext cx="5086350" cy="2476500"/>
          </a:xfrm>
          <a:prstGeom prst="rect">
            <a:avLst/>
          </a:prstGeom>
          <a:noFill/>
          <a:ln cap="flat" cmpd="sng" w="38100">
            <a:solidFill>
              <a:srgbClr val="4655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" name="Google Shape;43;g3bdae2bb03d_0_50" title="Screenshot 2026-02-12 at 7.11.05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1150" y="1653325"/>
            <a:ext cx="3600450" cy="2309927"/>
          </a:xfrm>
          <a:prstGeom prst="rect">
            <a:avLst/>
          </a:prstGeom>
          <a:noFill/>
          <a:ln cap="flat" cmpd="sng" w="38100">
            <a:solidFill>
              <a:srgbClr val="46551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g3c79c4a09ec_0_3" title="Screenshot 2026-02-12 at 7.34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015" y="736175"/>
            <a:ext cx="7143976" cy="53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Neural Networks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dae2bb03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Gradient Descent</a:t>
            </a:r>
            <a:endParaRPr/>
          </a:p>
        </p:txBody>
      </p:sp>
      <p:pic>
        <p:nvPicPr>
          <p:cNvPr descr="Please clean this image up" id="59" name="Google Shape;59;g3bdae2bb03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88" y="1600194"/>
            <a:ext cx="7595025" cy="47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d1f6d9d27_0_3"/>
          <p:cNvSpPr/>
          <p:nvPr/>
        </p:nvSpPr>
        <p:spPr>
          <a:xfrm rot="5400000">
            <a:off x="2693150" y="-227675"/>
            <a:ext cx="233700" cy="5021400"/>
          </a:xfrm>
          <a:prstGeom prst="bracePair">
            <a:avLst/>
          </a:prstGeom>
          <a:noFill/>
          <a:ln cap="flat" cmpd="sng" w="952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bd1f6d9d27_0_3"/>
          <p:cNvSpPr txBox="1"/>
          <p:nvPr>
            <p:ph type="title"/>
          </p:nvPr>
        </p:nvSpPr>
        <p:spPr>
          <a:xfrm>
            <a:off x="3639250" y="75725"/>
            <a:ext cx="54096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Writing MNIST “Equations”</a:t>
            </a:r>
            <a:endParaRPr sz="3000"/>
          </a:p>
        </p:txBody>
      </p:sp>
      <p:pic>
        <p:nvPicPr>
          <p:cNvPr id="66" name="Google Shape;66;g3bd1f6d9d2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119" y="97525"/>
            <a:ext cx="1887097" cy="187934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bd1f6d9d27_0_3"/>
          <p:cNvSpPr/>
          <p:nvPr/>
        </p:nvSpPr>
        <p:spPr>
          <a:xfrm>
            <a:off x="1102021" y="107040"/>
            <a:ext cx="1810200" cy="66900"/>
          </a:xfrm>
          <a:prstGeom prst="rect">
            <a:avLst/>
          </a:prstGeom>
          <a:noFill/>
          <a:ln cap="flat" cmpd="sng" w="14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0" lIns="137000" spcFirstLastPara="1" rIns="137000" wrap="square" tIns="1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97"/>
          </a:p>
        </p:txBody>
      </p:sp>
      <p:sp>
        <p:nvSpPr>
          <p:cNvPr id="68" name="Google Shape;68;g3bd1f6d9d27_0_3"/>
          <p:cNvSpPr/>
          <p:nvPr/>
        </p:nvSpPr>
        <p:spPr>
          <a:xfrm>
            <a:off x="1102002" y="1850059"/>
            <a:ext cx="1810200" cy="66900"/>
          </a:xfrm>
          <a:prstGeom prst="rect">
            <a:avLst/>
          </a:prstGeom>
          <a:noFill/>
          <a:ln cap="flat" cmpd="sng" w="142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0" lIns="137000" spcFirstLastPara="1" rIns="137000" wrap="square" tIns="1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97"/>
          </a:p>
        </p:txBody>
      </p:sp>
      <p:pic>
        <p:nvPicPr>
          <p:cNvPr id="69" name="Google Shape;69;g3bd1f6d9d27_0_3" title="Screenshot 2026-02-11 at 7.24.0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00" y="2247180"/>
            <a:ext cx="1493949" cy="6637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bd1f6d9d27_0_3"/>
          <p:cNvSpPr/>
          <p:nvPr/>
        </p:nvSpPr>
        <p:spPr>
          <a:xfrm>
            <a:off x="1102021" y="434163"/>
            <a:ext cx="1810200" cy="66900"/>
          </a:xfrm>
          <a:prstGeom prst="rect">
            <a:avLst/>
          </a:prstGeom>
          <a:noFill/>
          <a:ln cap="flat" cmpd="sng" w="142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0" lIns="137000" spcFirstLastPara="1" rIns="137000" wrap="square" tIns="1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97"/>
          </a:p>
        </p:txBody>
      </p:sp>
      <p:pic>
        <p:nvPicPr>
          <p:cNvPr id="71" name="Google Shape;71;g3bd1f6d9d27_0_3" title="Screenshot 2026-02-11 at 7.25.28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8925" y="2247177"/>
            <a:ext cx="1447171" cy="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bd1f6d9d27_0_3" title="Screenshot 2026-02-11 at 7.25.3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6775" y="2247177"/>
            <a:ext cx="1446857" cy="6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g3bd1f6d9d27_0_3"/>
          <p:cNvCxnSpPr>
            <a:stCxn id="67" idx="1"/>
            <a:endCxn id="69" idx="0"/>
          </p:cNvCxnSpPr>
          <p:nvPr/>
        </p:nvCxnSpPr>
        <p:spPr>
          <a:xfrm>
            <a:off x="1102021" y="140490"/>
            <a:ext cx="39300" cy="2106600"/>
          </a:xfrm>
          <a:prstGeom prst="curvedConnector4">
            <a:avLst>
              <a:gd fmla="val -936376" name="adj1"/>
              <a:gd fmla="val 83761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g3bd1f6d9d27_0_3"/>
          <p:cNvCxnSpPr>
            <a:stCxn id="70" idx="3"/>
            <a:endCxn id="71" idx="0"/>
          </p:cNvCxnSpPr>
          <p:nvPr/>
        </p:nvCxnSpPr>
        <p:spPr>
          <a:xfrm flipH="1">
            <a:off x="2822521" y="467613"/>
            <a:ext cx="89700" cy="1779600"/>
          </a:xfrm>
          <a:prstGeom prst="curvedConnector4">
            <a:avLst>
              <a:gd fmla="val -601454" name="adj1"/>
              <a:gd fmla="val 87645" name="adj2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g3bd1f6d9d27_0_3"/>
          <p:cNvCxnSpPr>
            <a:stCxn id="68" idx="3"/>
            <a:endCxn id="72" idx="0"/>
          </p:cNvCxnSpPr>
          <p:nvPr/>
        </p:nvCxnSpPr>
        <p:spPr>
          <a:xfrm>
            <a:off x="2912202" y="1883509"/>
            <a:ext cx="1568100" cy="363600"/>
          </a:xfrm>
          <a:prstGeom prst="curvedConnector2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g3bd1f6d9d27_0_3"/>
          <p:cNvSpPr txBox="1"/>
          <p:nvPr/>
        </p:nvSpPr>
        <p:spPr>
          <a:xfrm>
            <a:off x="1853050" y="2215700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…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7" name="Google Shape;77;g3bd1f6d9d27_0_3"/>
          <p:cNvSpPr txBox="1"/>
          <p:nvPr/>
        </p:nvSpPr>
        <p:spPr>
          <a:xfrm>
            <a:off x="3510200" y="2215700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…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8" name="Google Shape;78;g3bd1f6d9d27_0_3"/>
          <p:cNvSpPr txBox="1"/>
          <p:nvPr/>
        </p:nvSpPr>
        <p:spPr>
          <a:xfrm>
            <a:off x="216900" y="2215713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&lt;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9" name="Google Shape;79;g3bd1f6d9d27_0_3"/>
          <p:cNvSpPr txBox="1"/>
          <p:nvPr/>
        </p:nvSpPr>
        <p:spPr>
          <a:xfrm>
            <a:off x="5134075" y="2215713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&gt;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80" name="Google Shape;80;g3bd1f6d9d27_0_3"/>
          <p:cNvSpPr txBox="1"/>
          <p:nvPr/>
        </p:nvSpPr>
        <p:spPr>
          <a:xfrm>
            <a:off x="1475365" y="2777838"/>
            <a:ext cx="2694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&lt;1, 784&gt;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" name="Google Shape;81;g3bd1f6d9d27_0_3"/>
          <p:cNvSpPr txBox="1"/>
          <p:nvPr/>
        </p:nvSpPr>
        <p:spPr>
          <a:xfrm>
            <a:off x="1568518" y="3571275"/>
            <a:ext cx="2508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ŷ = X  ⍵</a:t>
            </a:r>
            <a:r>
              <a:rPr baseline="30000"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b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2" name="Google Shape;82;g3bd1f6d9d27_0_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68513" y="4437310"/>
            <a:ext cx="2508000" cy="71976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bd1f6d9d27_0_3"/>
          <p:cNvSpPr/>
          <p:nvPr/>
        </p:nvSpPr>
        <p:spPr>
          <a:xfrm>
            <a:off x="1762250" y="2771175"/>
            <a:ext cx="252000" cy="385800"/>
          </a:xfrm>
          <a:prstGeom prst="rect">
            <a:avLst/>
          </a:prstGeom>
          <a:noFill/>
          <a:ln cap="flat" cmpd="sng" w="28575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bd1f6d9d27_0_3"/>
          <p:cNvSpPr/>
          <p:nvPr/>
        </p:nvSpPr>
        <p:spPr>
          <a:xfrm>
            <a:off x="2297325" y="3555400"/>
            <a:ext cx="384300" cy="506700"/>
          </a:xfrm>
          <a:prstGeom prst="rect">
            <a:avLst/>
          </a:prstGeom>
          <a:noFill/>
          <a:ln cap="flat" cmpd="sng" w="28575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g3bd1f6d9d27_0_3"/>
          <p:cNvCxnSpPr>
            <a:stCxn id="83" idx="2"/>
            <a:endCxn id="84" idx="0"/>
          </p:cNvCxnSpPr>
          <p:nvPr/>
        </p:nvCxnSpPr>
        <p:spPr>
          <a:xfrm flipH="1" rot="-5400000">
            <a:off x="1989650" y="3055575"/>
            <a:ext cx="398400" cy="6012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ABFF9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g3bd1f6d9d27_0_3"/>
          <p:cNvSpPr/>
          <p:nvPr/>
        </p:nvSpPr>
        <p:spPr>
          <a:xfrm>
            <a:off x="1675125" y="3575375"/>
            <a:ext cx="323100" cy="506700"/>
          </a:xfrm>
          <a:prstGeom prst="rect">
            <a:avLst/>
          </a:prstGeom>
          <a:noFill/>
          <a:ln cap="flat" cmpd="sng" w="28575">
            <a:solidFill>
              <a:srgbClr val="5AAB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d1f6d9d27_0_3"/>
          <p:cNvSpPr/>
          <p:nvPr/>
        </p:nvSpPr>
        <p:spPr>
          <a:xfrm>
            <a:off x="3756775" y="4604288"/>
            <a:ext cx="252000" cy="385800"/>
          </a:xfrm>
          <a:prstGeom prst="rect">
            <a:avLst/>
          </a:prstGeom>
          <a:noFill/>
          <a:ln cap="flat" cmpd="sng" w="28575">
            <a:solidFill>
              <a:srgbClr val="5AAB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g3bd1f6d9d27_0_3"/>
          <p:cNvCxnSpPr>
            <a:stCxn id="86" idx="2"/>
            <a:endCxn id="87" idx="0"/>
          </p:cNvCxnSpPr>
          <p:nvPr/>
        </p:nvCxnSpPr>
        <p:spPr>
          <a:xfrm flipH="1" rot="-5400000">
            <a:off x="2598525" y="3320225"/>
            <a:ext cx="522300" cy="2046000"/>
          </a:xfrm>
          <a:prstGeom prst="curvedConnector3">
            <a:avLst>
              <a:gd fmla="val 49992" name="adj1"/>
            </a:avLst>
          </a:prstGeom>
          <a:noFill/>
          <a:ln cap="flat" cmpd="sng" w="19050">
            <a:solidFill>
              <a:srgbClr val="5AABB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g3bd1f6d9d27_0_3"/>
          <p:cNvSpPr/>
          <p:nvPr/>
        </p:nvSpPr>
        <p:spPr>
          <a:xfrm>
            <a:off x="2441575" y="2805275"/>
            <a:ext cx="1447200" cy="360600"/>
          </a:xfrm>
          <a:prstGeom prst="rect">
            <a:avLst/>
          </a:prstGeom>
          <a:noFill/>
          <a:ln cap="flat" cmpd="sng" w="2857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g3bd1f6d9d27_0_3"/>
          <p:cNvCxnSpPr>
            <a:stCxn id="64" idx="3"/>
            <a:endCxn id="89" idx="0"/>
          </p:cNvCxnSpPr>
          <p:nvPr/>
        </p:nvCxnSpPr>
        <p:spPr>
          <a:xfrm flipH="1" rot="-5400000">
            <a:off x="2784950" y="2424925"/>
            <a:ext cx="405300" cy="355200"/>
          </a:xfrm>
          <a:prstGeom prst="curvedConnector3">
            <a:avLst>
              <a:gd fmla="val 50012" name="adj1"/>
            </a:avLst>
          </a:prstGeom>
          <a:noFill/>
          <a:ln cap="flat" cmpd="sng" w="9525">
            <a:solidFill>
              <a:srgbClr val="9BA4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1" name="Google Shape;91;g3bd1f6d9d27_0_3"/>
          <p:cNvPicPr preferRelativeResize="0"/>
          <p:nvPr/>
        </p:nvPicPr>
        <p:blipFill rotWithShape="1">
          <a:blip r:embed="rId7">
            <a:alphaModFix/>
          </a:blip>
          <a:srcRect b="0" l="0" r="12141" t="0"/>
          <a:stretch/>
        </p:blipFill>
        <p:spPr>
          <a:xfrm>
            <a:off x="5134073" y="2625688"/>
            <a:ext cx="2203574" cy="7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bd1f6d9d27_0_3"/>
          <p:cNvSpPr txBox="1"/>
          <p:nvPr/>
        </p:nvSpPr>
        <p:spPr>
          <a:xfrm>
            <a:off x="7252775" y="2770838"/>
            <a:ext cx="152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X⍵</a:t>
            </a:r>
            <a:r>
              <a:rPr baseline="30000"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b)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g3bd1f6d9d27_0_3"/>
          <p:cNvSpPr txBox="1"/>
          <p:nvPr/>
        </p:nvSpPr>
        <p:spPr>
          <a:xfrm>
            <a:off x="1475365" y="5362838"/>
            <a:ext cx="2694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&lt;1, 10&gt;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g3bd1f6d9d27_0_3"/>
          <p:cNvSpPr/>
          <p:nvPr/>
        </p:nvSpPr>
        <p:spPr>
          <a:xfrm>
            <a:off x="1851675" y="5415150"/>
            <a:ext cx="252000" cy="3858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d1f6d9d27_0_3"/>
          <p:cNvSpPr/>
          <p:nvPr/>
        </p:nvSpPr>
        <p:spPr>
          <a:xfrm>
            <a:off x="2942625" y="4603500"/>
            <a:ext cx="252000" cy="3858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g3bd1f6d9d27_0_3"/>
          <p:cNvCxnSpPr>
            <a:stCxn id="94" idx="0"/>
            <a:endCxn id="95" idx="2"/>
          </p:cNvCxnSpPr>
          <p:nvPr/>
        </p:nvCxnSpPr>
        <p:spPr>
          <a:xfrm rot="-5400000">
            <a:off x="2310225" y="4656600"/>
            <a:ext cx="426000" cy="1091100"/>
          </a:xfrm>
          <a:prstGeom prst="curvedConnector3">
            <a:avLst>
              <a:gd fmla="val 30129" name="adj1"/>
            </a:avLst>
          </a:prstGeom>
          <a:noFill/>
          <a:ln cap="flat" cmpd="sng" w="19050">
            <a:solidFill>
              <a:srgbClr val="A3141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g3bd1f6d9d27_0_3"/>
          <p:cNvSpPr txBox="1"/>
          <p:nvPr/>
        </p:nvSpPr>
        <p:spPr>
          <a:xfrm>
            <a:off x="1242352" y="5929225"/>
            <a:ext cx="3135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&lt;0, 0, 0, 0, 0, 1, 0, 0, 0, 0&gt;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g3bd1f6d9d27_0_3"/>
          <p:cNvSpPr/>
          <p:nvPr/>
        </p:nvSpPr>
        <p:spPr>
          <a:xfrm rot="5400000">
            <a:off x="2693150" y="4817950"/>
            <a:ext cx="233700" cy="2612400"/>
          </a:xfrm>
          <a:prstGeom prst="bracePair">
            <a:avLst/>
          </a:prstGeom>
          <a:noFill/>
          <a:ln cap="flat" cmpd="sng" w="952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d1f6d9d27_0_3"/>
          <p:cNvSpPr/>
          <p:nvPr/>
        </p:nvSpPr>
        <p:spPr>
          <a:xfrm>
            <a:off x="2453475" y="5384950"/>
            <a:ext cx="1447200" cy="360600"/>
          </a:xfrm>
          <a:prstGeom prst="rect">
            <a:avLst/>
          </a:prstGeom>
          <a:noFill/>
          <a:ln cap="flat" cmpd="sng" w="2857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g3bd1f6d9d27_0_3"/>
          <p:cNvCxnSpPr>
            <a:stCxn id="98" idx="1"/>
            <a:endCxn id="99" idx="2"/>
          </p:cNvCxnSpPr>
          <p:nvPr/>
        </p:nvCxnSpPr>
        <p:spPr>
          <a:xfrm rot="-5400000">
            <a:off x="2862650" y="5692750"/>
            <a:ext cx="261900" cy="367200"/>
          </a:xfrm>
          <a:prstGeom prst="curvedConnector3">
            <a:avLst>
              <a:gd fmla="val 49971" name="adj1"/>
            </a:avLst>
          </a:prstGeom>
          <a:noFill/>
          <a:ln cap="flat" cmpd="sng" w="9525">
            <a:solidFill>
              <a:srgbClr val="9BA4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g3bd1f6d9d27_0_3"/>
          <p:cNvSpPr txBox="1"/>
          <p:nvPr/>
        </p:nvSpPr>
        <p:spPr>
          <a:xfrm>
            <a:off x="1611799" y="3848375"/>
            <a:ext cx="24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&lt;1, 10&gt;         =       &lt;1, 784&gt;     ᐧ    &lt;784, 10&gt;            +        &lt;1, 10&gt;</a:t>
            </a:r>
            <a:endParaRPr sz="600">
              <a:solidFill>
                <a:schemeClr val="dk1"/>
              </a:solidFill>
            </a:endParaRPr>
          </a:p>
        </p:txBody>
      </p:sp>
      <p:pic>
        <p:nvPicPr>
          <p:cNvPr id="102" name="Google Shape;102;g3bd1f6d9d2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408" y="6386450"/>
            <a:ext cx="406973" cy="4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bd1f6d9d27_0_3"/>
          <p:cNvSpPr txBox="1"/>
          <p:nvPr/>
        </p:nvSpPr>
        <p:spPr>
          <a:xfrm>
            <a:off x="703275" y="6263350"/>
            <a:ext cx="1133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= 5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04" name="Google Shape;104;g3bd1f6d9d27_0_3"/>
          <p:cNvSpPr/>
          <p:nvPr/>
        </p:nvSpPr>
        <p:spPr>
          <a:xfrm>
            <a:off x="299300" y="6323800"/>
            <a:ext cx="1059000" cy="5067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bd1f6d9d27_0_3"/>
          <p:cNvSpPr txBox="1"/>
          <p:nvPr/>
        </p:nvSpPr>
        <p:spPr>
          <a:xfrm>
            <a:off x="1500977" y="6109600"/>
            <a:ext cx="3135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0,  1,   2,   3,   4,   5,   6,   7,   8,   9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g3bd1f6d9d27_0_3"/>
          <p:cNvSpPr/>
          <p:nvPr/>
        </p:nvSpPr>
        <p:spPr>
          <a:xfrm>
            <a:off x="2841675" y="5983750"/>
            <a:ext cx="227100" cy="4053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g3bd1f6d9d27_0_3"/>
          <p:cNvCxnSpPr>
            <a:stCxn id="104" idx="3"/>
            <a:endCxn id="106" idx="2"/>
          </p:cNvCxnSpPr>
          <p:nvPr/>
        </p:nvCxnSpPr>
        <p:spPr>
          <a:xfrm flipH="1" rot="10800000">
            <a:off x="1358300" y="6389050"/>
            <a:ext cx="1596900" cy="188100"/>
          </a:xfrm>
          <a:prstGeom prst="curvedConnector2">
            <a:avLst/>
          </a:prstGeom>
          <a:noFill/>
          <a:ln cap="flat" cmpd="sng" w="19050">
            <a:solidFill>
              <a:srgbClr val="A3141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70c3f9d8e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</a:t>
            </a:r>
            <a:endParaRPr/>
          </a:p>
        </p:txBody>
      </p:sp>
      <p:pic>
        <p:nvPicPr>
          <p:cNvPr id="113" name="Google Shape;113;g3c70c3f9d8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050" y="1985015"/>
            <a:ext cx="5369900" cy="419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70c3f9d8e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Non-linearity</a:t>
            </a:r>
            <a:endParaRPr/>
          </a:p>
        </p:txBody>
      </p:sp>
      <p:sp>
        <p:nvSpPr>
          <p:cNvPr id="119" name="Google Shape;119;g3c70c3f9d8e_0_10"/>
          <p:cNvSpPr txBox="1"/>
          <p:nvPr>
            <p:ph idx="1" type="body"/>
          </p:nvPr>
        </p:nvSpPr>
        <p:spPr>
          <a:xfrm>
            <a:off x="457200" y="5663275"/>
            <a:ext cx="82296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/>
              <a:t>Not all data can be separated with a straight line!</a:t>
            </a:r>
            <a:endParaRPr sz="2800"/>
          </a:p>
        </p:txBody>
      </p:sp>
      <p:pic>
        <p:nvPicPr>
          <p:cNvPr id="120" name="Google Shape;120;g3c70c3f9d8e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3" y="1600203"/>
            <a:ext cx="8229600" cy="3880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70c3f9d8e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Activation Functions</a:t>
            </a:r>
            <a:endParaRPr/>
          </a:p>
        </p:txBody>
      </p:sp>
      <p:sp>
        <p:nvSpPr>
          <p:cNvPr id="126" name="Google Shape;126;g3c70c3f9d8e_0_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add non-linearity to our network by wrapping our linear transformations in </a:t>
            </a:r>
            <a:r>
              <a:rPr lang="en"/>
              <a:t>nonlinear</a:t>
            </a:r>
            <a:r>
              <a:rPr lang="en"/>
              <a:t> functions called activation functions</a:t>
            </a:r>
            <a:endParaRPr/>
          </a:p>
        </p:txBody>
      </p:sp>
      <p:pic>
        <p:nvPicPr>
          <p:cNvPr id="127" name="Google Shape;127;g3c70c3f9d8e_0_15"/>
          <p:cNvPicPr preferRelativeResize="0"/>
          <p:nvPr/>
        </p:nvPicPr>
        <p:blipFill rotWithShape="1">
          <a:blip r:embed="rId3">
            <a:alphaModFix/>
          </a:blip>
          <a:srcRect b="0" l="0" r="0" t="14697"/>
          <a:stretch/>
        </p:blipFill>
        <p:spPr>
          <a:xfrm>
            <a:off x="598950" y="3251650"/>
            <a:ext cx="7946100" cy="34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79c4a09ec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Neurons</a:t>
            </a:r>
            <a:endParaRPr/>
          </a:p>
        </p:txBody>
      </p:sp>
      <p:pic>
        <p:nvPicPr>
          <p:cNvPr id="133" name="Google Shape;133;g3c79c4a09ec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1765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70c3f9d8e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  <p:pic>
        <p:nvPicPr>
          <p:cNvPr id="139" name="Google Shape;139;g3c70c3f9d8e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63" y="1417638"/>
            <a:ext cx="7251468" cy="5135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c70c3f9d8e_0_80" title="transformer_arch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75" y="303250"/>
            <a:ext cx="3473050" cy="6251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c70c3f9d8e_0_80"/>
          <p:cNvSpPr txBox="1"/>
          <p:nvPr>
            <p:ph type="title"/>
          </p:nvPr>
        </p:nvSpPr>
        <p:spPr>
          <a:xfrm>
            <a:off x="3974950" y="1100850"/>
            <a:ext cx="50532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>
                <a:solidFill>
                  <a:srgbClr val="002B5B"/>
                </a:solidFill>
              </a:rPr>
              <a:t>Where are we?</a:t>
            </a:r>
            <a:endParaRPr sz="4800">
              <a:solidFill>
                <a:srgbClr val="002B5B"/>
              </a:solidFill>
            </a:endParaRPr>
          </a:p>
        </p:txBody>
      </p:sp>
      <p:cxnSp>
        <p:nvCxnSpPr>
          <p:cNvPr id="146" name="Google Shape;146;g3c70c3f9d8e_0_80"/>
          <p:cNvCxnSpPr>
            <a:stCxn id="145" idx="1"/>
            <a:endCxn id="147" idx="3"/>
          </p:cNvCxnSpPr>
          <p:nvPr/>
        </p:nvCxnSpPr>
        <p:spPr>
          <a:xfrm flipH="1">
            <a:off x="2600650" y="1505250"/>
            <a:ext cx="1374300" cy="39009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g3c70c3f9d8e_0_80"/>
          <p:cNvSpPr/>
          <p:nvPr/>
        </p:nvSpPr>
        <p:spPr>
          <a:xfrm>
            <a:off x="1287950" y="5206450"/>
            <a:ext cx="1312800" cy="39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c70c3f9d8e_0_80"/>
          <p:cNvSpPr/>
          <p:nvPr/>
        </p:nvSpPr>
        <p:spPr>
          <a:xfrm>
            <a:off x="1287950" y="1989050"/>
            <a:ext cx="1312800" cy="470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g3c70c3f9d8e_0_80"/>
          <p:cNvCxnSpPr>
            <a:stCxn id="145" idx="1"/>
            <a:endCxn id="148" idx="3"/>
          </p:cNvCxnSpPr>
          <p:nvPr/>
        </p:nvCxnSpPr>
        <p:spPr>
          <a:xfrm flipH="1">
            <a:off x="2600650" y="1505250"/>
            <a:ext cx="1374300" cy="7191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70c3f9d8e_0_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nanochat - MLP</a:t>
            </a:r>
            <a:endParaRPr/>
          </a:p>
        </p:txBody>
      </p:sp>
      <p:pic>
        <p:nvPicPr>
          <p:cNvPr id="155" name="Google Shape;155;g3c70c3f9d8e_0_74" title="Screenshot 2026-02-11 at 9.35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75" y="1822724"/>
            <a:ext cx="7675839" cy="45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79c4a09ec_0_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icrogpt (earlier today!!)</a:t>
            </a:r>
            <a:endParaRPr/>
          </a:p>
        </p:txBody>
      </p:sp>
      <p:pic>
        <p:nvPicPr>
          <p:cNvPr id="161" name="Google Shape;161;g3c79c4a09ec_0_19" title="Screenshot 2026-02-12 at 11.57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88" y="1600200"/>
            <a:ext cx="8904428" cy="433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70c3f9d8e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Networks</a:t>
            </a:r>
            <a:endParaRPr/>
          </a:p>
        </p:txBody>
      </p:sp>
      <p:sp>
        <p:nvSpPr>
          <p:cNvPr id="167" name="Google Shape;167;g3c70c3f9d8e_0_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