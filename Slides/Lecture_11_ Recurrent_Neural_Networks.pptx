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6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48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</p:sldIdLst>
  <p:sldSz cy="68580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:id="rId13" roundtripDataSignature="AMtx7mi0NMfLLPY90WTqJaxypBkpgzEYR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customschemas.google.com/relationships/presentationmetadata" Target="metadata"/><Relationship Id="rId12" Type="http://schemas.openxmlformats.org/officeDocument/2006/relationships/slide" Target="slides/slide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g3bdae2bb03d_0_43:notes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2" name="Google Shape;32;g3bdae2bb03d_0_4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g3bdae2bb03d_0_50:notes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8" name="Google Shape;38;g3bdae2bb03d_0_5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g3bbeee67e43_0_26:notes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6" name="Google Shape;46;g3bbeee67e43_0_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g3bd1f6d9d27_0_3:notes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1" name="Google Shape;51;g3bd1f6d9d27_0_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g3c70c3f9d8e_0_10:notes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g3c70c3f9d8e_0_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g3c70c3f9d8e_0_15:notes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6" name="Google Shape;106;g3c70c3f9d8e_0_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g3c70c3f9d8e_0_74:notes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3" name="Google Shape;113;g3c70c3f9d8e_0_7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g3c70c3f9d8e_0_20:notes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9" name="Google Shape;119;g3c70c3f9d8e_0_2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0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9pPr>
          </a:lstStyle>
          <a:p/>
        </p:txBody>
      </p:sp>
      <p:sp>
        <p:nvSpPr>
          <p:cNvPr id="11" name="Google Shape;11;p20"/>
          <p:cNvSpPr txBox="1"/>
          <p:nvPr>
            <p:ph idx="1" type="body"/>
          </p:nvPr>
        </p:nvSpPr>
        <p:spPr>
          <a:xfrm>
            <a:off x="457200" y="1600200"/>
            <a:ext cx="8229600" cy="4967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419100" lvl="0" marL="4572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3000"/>
              <a:buChar char="●"/>
              <a:defRPr/>
            </a:lvl1pPr>
            <a:lvl2pPr indent="-3810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Char char="○"/>
              <a:defRPr/>
            </a:lvl2pPr>
            <a:lvl3pPr indent="-3810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Char char="■"/>
              <a:defRPr/>
            </a:lvl3pPr>
            <a:lvl4pPr indent="-3429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12" name="Google Shape;12;p20"/>
          <p:cNvSpPr txBox="1"/>
          <p:nvPr>
            <p:ph idx="12" type="sldNum"/>
          </p:nvPr>
        </p:nvSpPr>
        <p:spPr>
          <a:xfrm>
            <a:off x="8556791" y="6333134"/>
            <a:ext cx="548700" cy="524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19"/>
          <p:cNvSpPr txBox="1"/>
          <p:nvPr>
            <p:ph type="ctrTitle"/>
          </p:nvPr>
        </p:nvSpPr>
        <p:spPr>
          <a:xfrm>
            <a:off x="685800" y="2111123"/>
            <a:ext cx="7772400" cy="1546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15" name="Google Shape;15;p19"/>
          <p:cNvSpPr txBox="1"/>
          <p:nvPr>
            <p:ph idx="1" type="subTitle"/>
          </p:nvPr>
        </p:nvSpPr>
        <p:spPr>
          <a:xfrm>
            <a:off x="685800" y="3786738"/>
            <a:ext cx="7772400" cy="104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CB439"/>
              </a:buClr>
              <a:buSzPts val="3000"/>
              <a:buNone/>
              <a:defRPr b="1">
                <a:solidFill>
                  <a:srgbClr val="DCB439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None/>
              <a:defRPr sz="3000">
                <a:solidFill>
                  <a:schemeClr val="dk2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None/>
              <a:defRPr sz="3000">
                <a:solidFill>
                  <a:schemeClr val="dk2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None/>
              <a:defRPr sz="3000">
                <a:solidFill>
                  <a:schemeClr val="dk2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None/>
              <a:defRPr sz="3000">
                <a:solidFill>
                  <a:schemeClr val="dk2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None/>
              <a:defRPr sz="3000">
                <a:solidFill>
                  <a:schemeClr val="dk2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None/>
              <a:defRPr sz="3000">
                <a:solidFill>
                  <a:schemeClr val="dk2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None/>
              <a:defRPr sz="3000">
                <a:solidFill>
                  <a:schemeClr val="dk2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None/>
              <a:defRPr sz="3000"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16" name="Google Shape;16;p19"/>
          <p:cNvSpPr txBox="1"/>
          <p:nvPr>
            <p:ph idx="12" type="sldNum"/>
          </p:nvPr>
        </p:nvSpPr>
        <p:spPr>
          <a:xfrm>
            <a:off x="8556791" y="6333134"/>
            <a:ext cx="548700" cy="524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23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9pPr>
          </a:lstStyle>
          <a:p/>
        </p:txBody>
      </p:sp>
      <p:sp>
        <p:nvSpPr>
          <p:cNvPr id="19" name="Google Shape;19;p23"/>
          <p:cNvSpPr txBox="1"/>
          <p:nvPr>
            <p:ph idx="1" type="body"/>
          </p:nvPr>
        </p:nvSpPr>
        <p:spPr>
          <a:xfrm>
            <a:off x="457200" y="1600200"/>
            <a:ext cx="3994500" cy="4967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419100" lvl="0" marL="4572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3000"/>
              <a:buChar char="●"/>
              <a:defRPr/>
            </a:lvl1pPr>
            <a:lvl2pPr indent="-3810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Char char="○"/>
              <a:defRPr/>
            </a:lvl2pPr>
            <a:lvl3pPr indent="-3810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Char char="■"/>
              <a:defRPr/>
            </a:lvl3pPr>
            <a:lvl4pPr indent="-3429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E9E9E"/>
              </a:buClr>
              <a:buSzPts val="1800"/>
              <a:buChar char="■"/>
              <a:defRPr>
                <a:solidFill>
                  <a:srgbClr val="9E9E9E"/>
                </a:solidFill>
              </a:defRPr>
            </a:lvl6pPr>
            <a:lvl7pPr indent="-3429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F1709"/>
              </a:buClr>
              <a:buSzPts val="1800"/>
              <a:buChar char="●"/>
              <a:defRPr>
                <a:solidFill>
                  <a:srgbClr val="5F1709"/>
                </a:solidFill>
              </a:defRPr>
            </a:lvl7pPr>
            <a:lvl8pPr indent="-3429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65510"/>
              </a:buClr>
              <a:buSzPts val="1800"/>
              <a:buChar char="○"/>
              <a:defRPr>
                <a:solidFill>
                  <a:srgbClr val="465510"/>
                </a:solidFill>
              </a:defRPr>
            </a:lvl8pPr>
            <a:lvl9pPr indent="-3429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AABBC"/>
              </a:buClr>
              <a:buSzPts val="1800"/>
              <a:buChar char="■"/>
              <a:defRPr>
                <a:solidFill>
                  <a:srgbClr val="5AABBC"/>
                </a:solidFill>
              </a:defRPr>
            </a:lvl9pPr>
          </a:lstStyle>
          <a:p/>
        </p:txBody>
      </p:sp>
      <p:sp>
        <p:nvSpPr>
          <p:cNvPr id="20" name="Google Shape;20;p23"/>
          <p:cNvSpPr txBox="1"/>
          <p:nvPr>
            <p:ph idx="2" type="body"/>
          </p:nvPr>
        </p:nvSpPr>
        <p:spPr>
          <a:xfrm>
            <a:off x="4692274" y="1600200"/>
            <a:ext cx="3994500" cy="4967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419100" lvl="0" marL="4572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3000"/>
              <a:buChar char="●"/>
              <a:defRPr/>
            </a:lvl1pPr>
            <a:lvl2pPr indent="-3810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Char char="○"/>
              <a:defRPr/>
            </a:lvl2pPr>
            <a:lvl3pPr indent="-3810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Char char="■"/>
              <a:defRPr/>
            </a:lvl3pPr>
            <a:lvl4pPr indent="-3429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21" name="Google Shape;21;p23"/>
          <p:cNvSpPr txBox="1"/>
          <p:nvPr>
            <p:ph idx="12" type="sldNum"/>
          </p:nvPr>
        </p:nvSpPr>
        <p:spPr>
          <a:xfrm>
            <a:off x="8556791" y="6333134"/>
            <a:ext cx="548700" cy="524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2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24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9pPr>
          </a:lstStyle>
          <a:p/>
        </p:txBody>
      </p:sp>
      <p:sp>
        <p:nvSpPr>
          <p:cNvPr id="24" name="Google Shape;24;p24"/>
          <p:cNvSpPr txBox="1"/>
          <p:nvPr>
            <p:ph idx="12" type="sldNum"/>
          </p:nvPr>
        </p:nvSpPr>
        <p:spPr>
          <a:xfrm>
            <a:off x="8556791" y="6333134"/>
            <a:ext cx="548700" cy="524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25"/>
          <p:cNvSpPr txBox="1"/>
          <p:nvPr>
            <p:ph idx="1" type="body"/>
          </p:nvPr>
        </p:nvSpPr>
        <p:spPr>
          <a:xfrm>
            <a:off x="457200" y="5875079"/>
            <a:ext cx="8229600" cy="69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28600" lvl="0" marL="457200" algn="ctr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None/>
              <a:defRPr sz="1800"/>
            </a:lvl1pPr>
          </a:lstStyle>
          <a:p/>
        </p:txBody>
      </p:sp>
      <p:sp>
        <p:nvSpPr>
          <p:cNvPr id="27" name="Google Shape;27;p25"/>
          <p:cNvSpPr txBox="1"/>
          <p:nvPr>
            <p:ph idx="12" type="sldNum"/>
          </p:nvPr>
        </p:nvSpPr>
        <p:spPr>
          <a:xfrm>
            <a:off x="8556791" y="6333134"/>
            <a:ext cx="548700" cy="524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26"/>
          <p:cNvSpPr txBox="1"/>
          <p:nvPr>
            <p:ph idx="12" type="sldNum"/>
          </p:nvPr>
        </p:nvSpPr>
        <p:spPr>
          <a:xfrm>
            <a:off x="8556791" y="6333134"/>
            <a:ext cx="548700" cy="524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8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2B5B"/>
              </a:buClr>
              <a:buSzPts val="3600"/>
              <a:buFont typeface="Arial"/>
              <a:buNone/>
              <a:defRPr b="1" i="0" sz="3600" u="none" cap="none" strike="noStrike">
                <a:solidFill>
                  <a:srgbClr val="002B5B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Arial"/>
              <a:buNone/>
              <a:defRPr b="1" i="0" sz="3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Arial"/>
              <a:buNone/>
              <a:defRPr b="1" i="0" sz="3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Arial"/>
              <a:buNone/>
              <a:defRPr b="1" i="0" sz="3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Arial"/>
              <a:buNone/>
              <a:defRPr b="1" i="0" sz="3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Arial"/>
              <a:buNone/>
              <a:defRPr b="1" i="0" sz="3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Arial"/>
              <a:buNone/>
              <a:defRPr b="1" i="0" sz="3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Arial"/>
              <a:buNone/>
              <a:defRPr b="1" i="0" sz="3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Arial"/>
              <a:buNone/>
              <a:defRPr b="1" i="0" sz="3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" name="Google Shape;7;p18"/>
          <p:cNvSpPr txBox="1"/>
          <p:nvPr>
            <p:ph idx="1" type="body"/>
          </p:nvPr>
        </p:nvSpPr>
        <p:spPr>
          <a:xfrm>
            <a:off x="457200" y="1600200"/>
            <a:ext cx="8229600" cy="4967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419100" lvl="0" marL="457200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Char char="●"/>
              <a:defRPr b="0" i="0" sz="3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○"/>
              <a:defRPr b="0" i="0" sz="2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810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■"/>
              <a:defRPr b="0" i="0" sz="2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○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■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429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429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○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429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■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8"/>
          <p:cNvSpPr txBox="1"/>
          <p:nvPr>
            <p:ph idx="12" type="sldNum"/>
          </p:nvPr>
        </p:nvSpPr>
        <p:spPr>
          <a:xfrm>
            <a:off x="8556791" y="6333134"/>
            <a:ext cx="548700" cy="524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0.png"/><Relationship Id="rId4" Type="http://schemas.openxmlformats.org/officeDocument/2006/relationships/image" Target="../media/image2.png"/><Relationship Id="rId5" Type="http://schemas.openxmlformats.org/officeDocument/2006/relationships/image" Target="../media/image12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Relationship Id="rId4" Type="http://schemas.openxmlformats.org/officeDocument/2006/relationships/image" Target="../media/image13.png"/><Relationship Id="rId5" Type="http://schemas.openxmlformats.org/officeDocument/2006/relationships/image" Target="../media/image11.png"/><Relationship Id="rId6" Type="http://schemas.openxmlformats.org/officeDocument/2006/relationships/image" Target="../media/image4.png"/><Relationship Id="rId7" Type="http://schemas.openxmlformats.org/officeDocument/2006/relationships/image" Target="../media/image9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g3bdae2bb03d_0_43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</a:pPr>
            <a:r>
              <a:rPr lang="en"/>
              <a:t>Programming Practice 01</a:t>
            </a:r>
            <a:endParaRPr/>
          </a:p>
        </p:txBody>
      </p:sp>
      <p:sp>
        <p:nvSpPr>
          <p:cNvPr id="35" name="Google Shape;35;g3bdae2bb03d_0_43"/>
          <p:cNvSpPr txBox="1"/>
          <p:nvPr>
            <p:ph idx="1" type="body"/>
          </p:nvPr>
        </p:nvSpPr>
        <p:spPr>
          <a:xfrm>
            <a:off x="457200" y="1600200"/>
            <a:ext cx="8229600" cy="3801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rPr lang="en"/>
              <a:t>Given a </a:t>
            </a:r>
            <a:r>
              <a:rPr b="1" lang="en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list</a:t>
            </a:r>
            <a:r>
              <a:rPr lang="en"/>
              <a:t> of </a:t>
            </a:r>
            <a:r>
              <a:rPr b="1" lang="en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floats</a:t>
            </a:r>
            <a:r>
              <a:rPr lang="en"/>
              <a:t>, </a:t>
            </a:r>
            <a:r>
              <a:rPr b="1" lang="en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define</a:t>
            </a:r>
            <a:r>
              <a:rPr lang="en"/>
              <a:t> a </a:t>
            </a:r>
            <a:r>
              <a:rPr b="1" lang="en">
                <a:solidFill>
                  <a:srgbClr val="5AABBC"/>
                </a:solidFill>
                <a:latin typeface="Consolas"/>
                <a:ea typeface="Consolas"/>
                <a:cs typeface="Consolas"/>
                <a:sym typeface="Consolas"/>
              </a:rPr>
              <a:t>function</a:t>
            </a:r>
            <a:r>
              <a:rPr lang="en"/>
              <a:t> that will return the </a:t>
            </a:r>
            <a:r>
              <a:rPr b="1" lang="en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list</a:t>
            </a:r>
            <a:r>
              <a:rPr lang="en"/>
              <a:t> with every number less than 0 replaced with a 0: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rPr b="1" lang="en">
                <a:solidFill>
                  <a:srgbClr val="DCB439"/>
                </a:solidFill>
                <a:latin typeface="Consolas"/>
                <a:ea typeface="Consolas"/>
                <a:cs typeface="Consolas"/>
                <a:sym typeface="Consolas"/>
              </a:rPr>
              <a:t>print</a:t>
            </a:r>
            <a:r>
              <a:rPr lang="en"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b="1" lang="en">
                <a:solidFill>
                  <a:srgbClr val="5AABBC"/>
                </a:solidFill>
                <a:latin typeface="Consolas"/>
                <a:ea typeface="Consolas"/>
                <a:cs typeface="Consolas"/>
                <a:sym typeface="Consolas"/>
              </a:rPr>
              <a:t>neg_to_zero</a:t>
            </a:r>
            <a:r>
              <a:rPr lang="en">
                <a:latin typeface="Consolas"/>
                <a:ea typeface="Consolas"/>
                <a:cs typeface="Consolas"/>
                <a:sym typeface="Consolas"/>
              </a:rPr>
              <a:t>([</a:t>
            </a:r>
            <a:r>
              <a:rPr b="1" lang="en" sz="2600">
                <a:solidFill>
                  <a:srgbClr val="465510"/>
                </a:solidFill>
                <a:latin typeface="Consolas"/>
                <a:ea typeface="Consolas"/>
                <a:cs typeface="Consolas"/>
                <a:sym typeface="Consolas"/>
              </a:rPr>
              <a:t>3, 3, -1, -5, 2, 4</a:t>
            </a:r>
            <a:r>
              <a:rPr lang="en">
                <a:latin typeface="Consolas"/>
                <a:ea typeface="Consolas"/>
                <a:cs typeface="Consolas"/>
                <a:sym typeface="Consolas"/>
              </a:rPr>
              <a:t>]))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rPr b="1" lang="en" sz="2600">
                <a:latin typeface="Consolas"/>
                <a:ea typeface="Consolas"/>
                <a:cs typeface="Consolas"/>
                <a:sym typeface="Consolas"/>
              </a:rPr>
              <a:t>&gt; [</a:t>
            </a:r>
            <a:r>
              <a:rPr b="1" lang="en" sz="2600">
                <a:solidFill>
                  <a:srgbClr val="465510"/>
                </a:solidFill>
                <a:latin typeface="Consolas"/>
                <a:ea typeface="Consolas"/>
                <a:cs typeface="Consolas"/>
                <a:sym typeface="Consolas"/>
              </a:rPr>
              <a:t>3, 3, 0, 0, 2, 4</a:t>
            </a:r>
            <a:r>
              <a:rPr b="1" lang="en" sz="2600">
                <a:latin typeface="Consolas"/>
                <a:ea typeface="Consolas"/>
                <a:cs typeface="Consolas"/>
                <a:sym typeface="Consolas"/>
              </a:rPr>
              <a:t>]</a:t>
            </a:r>
            <a:endParaRPr b="1" sz="2600">
              <a:solidFill>
                <a:srgbClr val="46551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9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g3bdae2bb03d_0_50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</a:pPr>
            <a:r>
              <a:rPr lang="en">
                <a:solidFill>
                  <a:srgbClr val="465510"/>
                </a:solidFill>
              </a:rPr>
              <a:t>Programming Practice 01 Solution</a:t>
            </a:r>
            <a:endParaRPr>
              <a:solidFill>
                <a:srgbClr val="465510"/>
              </a:solidFill>
            </a:endParaRPr>
          </a:p>
        </p:txBody>
      </p:sp>
      <p:pic>
        <p:nvPicPr>
          <p:cNvPr id="41" name="Google Shape;41;g3bdae2bb03d_0_50" title="Screenshot 2026-02-12 at 7.09.05 AM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393900" y="4198947"/>
            <a:ext cx="6356200" cy="2044575"/>
          </a:xfrm>
          <a:prstGeom prst="rect">
            <a:avLst/>
          </a:prstGeom>
          <a:noFill/>
          <a:ln cap="flat" cmpd="sng" w="38100">
            <a:solidFill>
              <a:srgbClr val="465510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42" name="Google Shape;42;g3bdae2bb03d_0_50" title="Screenshot 2026-02-12 at 7.09.59 AM.png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52400" y="1570038"/>
            <a:ext cx="5086350" cy="2476500"/>
          </a:xfrm>
          <a:prstGeom prst="rect">
            <a:avLst/>
          </a:prstGeom>
          <a:noFill/>
          <a:ln cap="flat" cmpd="sng" w="38100">
            <a:solidFill>
              <a:srgbClr val="465510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43" name="Google Shape;43;g3bdae2bb03d_0_50" title="Screenshot 2026-02-12 at 7.11.05 AM.png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391150" y="1653325"/>
            <a:ext cx="3600450" cy="2309927"/>
          </a:xfrm>
          <a:prstGeom prst="rect">
            <a:avLst/>
          </a:prstGeom>
          <a:noFill/>
          <a:ln cap="flat" cmpd="sng" w="38100">
            <a:solidFill>
              <a:srgbClr val="46551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7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g3bbeee67e43_0_26"/>
          <p:cNvSpPr txBox="1"/>
          <p:nvPr>
            <p:ph type="ctrTitle"/>
          </p:nvPr>
        </p:nvSpPr>
        <p:spPr>
          <a:xfrm>
            <a:off x="685800" y="2655750"/>
            <a:ext cx="7772400" cy="1546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">
                <a:solidFill>
                  <a:srgbClr val="002B5B"/>
                </a:solidFill>
              </a:rPr>
              <a:t>CSE </a:t>
            </a:r>
            <a:r>
              <a:rPr lang="en"/>
              <a:t>1</a:t>
            </a:r>
            <a:r>
              <a:rPr lang="en">
                <a:solidFill>
                  <a:srgbClr val="002B5B"/>
                </a:solidFill>
              </a:rPr>
              <a:t>0124</a:t>
            </a:r>
            <a:br>
              <a:rPr lang="en">
                <a:solidFill>
                  <a:srgbClr val="002B5B"/>
                </a:solidFill>
              </a:rPr>
            </a:br>
            <a:r>
              <a:rPr lang="en">
                <a:solidFill>
                  <a:srgbClr val="DCB439"/>
                </a:solidFill>
              </a:rPr>
              <a:t>Recurrent Neural Networks</a:t>
            </a:r>
            <a:endParaRPr>
              <a:solidFill>
                <a:srgbClr val="DCB439"/>
              </a:solidFill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g3bd1f6d9d27_0_3"/>
          <p:cNvSpPr/>
          <p:nvPr/>
        </p:nvSpPr>
        <p:spPr>
          <a:xfrm rot="5400000">
            <a:off x="2693150" y="-227675"/>
            <a:ext cx="233700" cy="5021400"/>
          </a:xfrm>
          <a:prstGeom prst="bracePair">
            <a:avLst/>
          </a:prstGeom>
          <a:noFill/>
          <a:ln cap="flat" cmpd="sng" w="9525">
            <a:solidFill>
              <a:srgbClr val="9BA4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4" name="Google Shape;54;g3bd1f6d9d27_0_3"/>
          <p:cNvSpPr txBox="1"/>
          <p:nvPr>
            <p:ph type="title"/>
          </p:nvPr>
        </p:nvSpPr>
        <p:spPr>
          <a:xfrm>
            <a:off x="3639250" y="75725"/>
            <a:ext cx="5409600" cy="719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</a:pPr>
            <a:r>
              <a:rPr lang="en" sz="3000"/>
              <a:t>Writing MNIST “Equations”</a:t>
            </a:r>
            <a:endParaRPr sz="3000"/>
          </a:p>
        </p:txBody>
      </p:sp>
      <p:pic>
        <p:nvPicPr>
          <p:cNvPr id="55" name="Google Shape;55;g3bd1f6d9d27_0_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34119" y="97525"/>
            <a:ext cx="1887097" cy="1879345"/>
          </a:xfrm>
          <a:prstGeom prst="rect">
            <a:avLst/>
          </a:prstGeom>
          <a:noFill/>
          <a:ln>
            <a:noFill/>
          </a:ln>
        </p:spPr>
      </p:pic>
      <p:sp>
        <p:nvSpPr>
          <p:cNvPr id="56" name="Google Shape;56;g3bd1f6d9d27_0_3"/>
          <p:cNvSpPr/>
          <p:nvPr/>
        </p:nvSpPr>
        <p:spPr>
          <a:xfrm>
            <a:off x="1102021" y="107040"/>
            <a:ext cx="1810200" cy="66900"/>
          </a:xfrm>
          <a:prstGeom prst="rect">
            <a:avLst/>
          </a:prstGeom>
          <a:noFill/>
          <a:ln cap="flat" cmpd="sng" w="1427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137000" lIns="137000" spcFirstLastPara="1" rIns="137000" wrap="square" tIns="1370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97"/>
              <a:buFont typeface="Arial"/>
              <a:buNone/>
            </a:pPr>
            <a:r>
              <a:t/>
            </a:r>
            <a:endParaRPr b="0" i="0" sz="2097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" name="Google Shape;57;g3bd1f6d9d27_0_3"/>
          <p:cNvSpPr/>
          <p:nvPr/>
        </p:nvSpPr>
        <p:spPr>
          <a:xfrm>
            <a:off x="1102002" y="1850059"/>
            <a:ext cx="1810200" cy="66900"/>
          </a:xfrm>
          <a:prstGeom prst="rect">
            <a:avLst/>
          </a:prstGeom>
          <a:noFill/>
          <a:ln cap="flat" cmpd="sng" w="14275">
            <a:solidFill>
              <a:srgbClr val="00F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137000" lIns="137000" spcFirstLastPara="1" rIns="137000" wrap="square" tIns="1370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97"/>
              <a:buFont typeface="Arial"/>
              <a:buNone/>
            </a:pPr>
            <a:r>
              <a:t/>
            </a:r>
            <a:endParaRPr b="0" i="0" sz="2097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58" name="Google Shape;58;g3bd1f6d9d27_0_3" title="Screenshot 2026-02-11 at 7.24.00 AM.png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394300" y="2247180"/>
            <a:ext cx="1493949" cy="66372"/>
          </a:xfrm>
          <a:prstGeom prst="rect">
            <a:avLst/>
          </a:prstGeom>
          <a:noFill/>
          <a:ln>
            <a:noFill/>
          </a:ln>
        </p:spPr>
      </p:pic>
      <p:sp>
        <p:nvSpPr>
          <p:cNvPr id="59" name="Google Shape;59;g3bd1f6d9d27_0_3"/>
          <p:cNvSpPr/>
          <p:nvPr/>
        </p:nvSpPr>
        <p:spPr>
          <a:xfrm>
            <a:off x="1102021" y="434163"/>
            <a:ext cx="1810200" cy="66900"/>
          </a:xfrm>
          <a:prstGeom prst="rect">
            <a:avLst/>
          </a:prstGeom>
          <a:noFill/>
          <a:ln cap="flat" cmpd="sng" w="14275">
            <a:solidFill>
              <a:srgbClr val="00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137000" lIns="137000" spcFirstLastPara="1" rIns="137000" wrap="square" tIns="1370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97"/>
              <a:buFont typeface="Arial"/>
              <a:buNone/>
            </a:pPr>
            <a:r>
              <a:t/>
            </a:r>
            <a:endParaRPr b="0" i="0" sz="2097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60" name="Google Shape;60;g3bd1f6d9d27_0_3" title="Screenshot 2026-02-11 at 7.25.28 AM.png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2098925" y="2247177"/>
            <a:ext cx="1447171" cy="66375"/>
          </a:xfrm>
          <a:prstGeom prst="rect">
            <a:avLst/>
          </a:prstGeom>
          <a:noFill/>
          <a:ln>
            <a:noFill/>
          </a:ln>
        </p:spPr>
      </p:pic>
      <p:pic>
        <p:nvPicPr>
          <p:cNvPr id="61" name="Google Shape;61;g3bd1f6d9d27_0_3" title="Screenshot 2026-02-11 at 7.25.39 AM.png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3756775" y="2247177"/>
            <a:ext cx="1446857" cy="6637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62" name="Google Shape;62;g3bd1f6d9d27_0_3"/>
          <p:cNvCxnSpPr>
            <a:stCxn id="56" idx="1"/>
            <a:endCxn id="58" idx="0"/>
          </p:cNvCxnSpPr>
          <p:nvPr/>
        </p:nvCxnSpPr>
        <p:spPr>
          <a:xfrm>
            <a:off x="1102021" y="140490"/>
            <a:ext cx="39300" cy="2106600"/>
          </a:xfrm>
          <a:prstGeom prst="curvedConnector4">
            <a:avLst>
              <a:gd fmla="val -936376" name="adj1"/>
              <a:gd fmla="val 83761" name="adj2"/>
            </a:avLst>
          </a:prstGeom>
          <a:noFill/>
          <a:ln cap="flat" cmpd="sng" w="9525">
            <a:solidFill>
              <a:srgbClr val="FF0000"/>
            </a:solidFill>
            <a:prstDash val="solid"/>
            <a:round/>
            <a:headEnd len="sm" w="sm" type="none"/>
            <a:tailEnd len="med" w="med" type="triangle"/>
          </a:ln>
        </p:spPr>
      </p:cxnSp>
      <p:cxnSp>
        <p:nvCxnSpPr>
          <p:cNvPr id="63" name="Google Shape;63;g3bd1f6d9d27_0_3"/>
          <p:cNvCxnSpPr>
            <a:stCxn id="59" idx="3"/>
            <a:endCxn id="60" idx="0"/>
          </p:cNvCxnSpPr>
          <p:nvPr/>
        </p:nvCxnSpPr>
        <p:spPr>
          <a:xfrm flipH="1">
            <a:off x="2822521" y="467613"/>
            <a:ext cx="89700" cy="1779600"/>
          </a:xfrm>
          <a:prstGeom prst="curvedConnector4">
            <a:avLst>
              <a:gd fmla="val -601454" name="adj1"/>
              <a:gd fmla="val 87645" name="adj2"/>
            </a:avLst>
          </a:prstGeom>
          <a:noFill/>
          <a:ln cap="flat" cmpd="sng" w="9525">
            <a:solidFill>
              <a:srgbClr val="00FFFF"/>
            </a:solidFill>
            <a:prstDash val="solid"/>
            <a:round/>
            <a:headEnd len="sm" w="sm" type="none"/>
            <a:tailEnd len="med" w="med" type="triangle"/>
          </a:ln>
        </p:spPr>
      </p:cxnSp>
      <p:cxnSp>
        <p:nvCxnSpPr>
          <p:cNvPr id="64" name="Google Shape;64;g3bd1f6d9d27_0_3"/>
          <p:cNvCxnSpPr>
            <a:stCxn id="57" idx="3"/>
            <a:endCxn id="61" idx="0"/>
          </p:cNvCxnSpPr>
          <p:nvPr/>
        </p:nvCxnSpPr>
        <p:spPr>
          <a:xfrm>
            <a:off x="2912202" y="1883509"/>
            <a:ext cx="1568100" cy="363600"/>
          </a:xfrm>
          <a:prstGeom prst="curvedConnector2">
            <a:avLst/>
          </a:prstGeom>
          <a:noFill/>
          <a:ln cap="flat" cmpd="sng" w="9525">
            <a:solidFill>
              <a:srgbClr val="00FF00"/>
            </a:solidFill>
            <a:prstDash val="solid"/>
            <a:round/>
            <a:headEnd len="sm" w="sm" type="none"/>
            <a:tailEnd len="med" w="med" type="triangle"/>
          </a:ln>
        </p:spPr>
      </p:cxnSp>
      <p:sp>
        <p:nvSpPr>
          <p:cNvPr id="65" name="Google Shape;65;g3bd1f6d9d27_0_3"/>
          <p:cNvSpPr txBox="1"/>
          <p:nvPr/>
        </p:nvSpPr>
        <p:spPr>
          <a:xfrm>
            <a:off x="1853050" y="2215700"/>
            <a:ext cx="202800" cy="129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…</a:t>
            </a:r>
            <a:endParaRPr b="0" i="0" sz="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6" name="Google Shape;66;g3bd1f6d9d27_0_3"/>
          <p:cNvSpPr txBox="1"/>
          <p:nvPr/>
        </p:nvSpPr>
        <p:spPr>
          <a:xfrm>
            <a:off x="3510200" y="2215700"/>
            <a:ext cx="202800" cy="129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…</a:t>
            </a:r>
            <a:endParaRPr b="0" i="0" sz="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7" name="Google Shape;67;g3bd1f6d9d27_0_3"/>
          <p:cNvSpPr txBox="1"/>
          <p:nvPr/>
        </p:nvSpPr>
        <p:spPr>
          <a:xfrm>
            <a:off x="216900" y="2215713"/>
            <a:ext cx="202800" cy="129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&lt;</a:t>
            </a:r>
            <a:endParaRPr b="0" i="0" sz="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" name="Google Shape;68;g3bd1f6d9d27_0_3"/>
          <p:cNvSpPr txBox="1"/>
          <p:nvPr/>
        </p:nvSpPr>
        <p:spPr>
          <a:xfrm>
            <a:off x="5134075" y="2215713"/>
            <a:ext cx="202800" cy="129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&gt;</a:t>
            </a:r>
            <a:endParaRPr b="0" i="0" sz="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9" name="Google Shape;69;g3bd1f6d9d27_0_3"/>
          <p:cNvSpPr txBox="1"/>
          <p:nvPr/>
        </p:nvSpPr>
        <p:spPr>
          <a:xfrm>
            <a:off x="1475365" y="2777838"/>
            <a:ext cx="2694300" cy="36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0" i="0" lang="en" sz="2400" u="none" cap="none" strike="noStrike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X = &lt;1, 784&gt;</a:t>
            </a:r>
            <a:endParaRPr b="0" i="0" sz="2400" u="none" cap="none" strike="noStrike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0" name="Google Shape;70;g3bd1f6d9d27_0_3"/>
          <p:cNvSpPr txBox="1"/>
          <p:nvPr/>
        </p:nvSpPr>
        <p:spPr>
          <a:xfrm>
            <a:off x="1568518" y="3571275"/>
            <a:ext cx="2508000" cy="36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0" i="0" lang="en" sz="2400" u="none" cap="none" strike="noStrike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ŷ = X  ⍵</a:t>
            </a:r>
            <a:r>
              <a:rPr b="0" baseline="30000" i="0" lang="en" sz="2400" u="none" cap="none" strike="noStrike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T</a:t>
            </a:r>
            <a:r>
              <a:rPr b="0" i="0" lang="en" sz="2400" u="none" cap="none" strike="noStrike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+ b</a:t>
            </a:r>
            <a:endParaRPr b="0" i="0" sz="2400" u="none" cap="none" strike="noStrike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pic>
        <p:nvPicPr>
          <p:cNvPr id="71" name="Google Shape;71;g3bd1f6d9d27_0_3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1568513" y="4437310"/>
            <a:ext cx="2508000" cy="719765"/>
          </a:xfrm>
          <a:prstGeom prst="rect">
            <a:avLst/>
          </a:prstGeom>
          <a:noFill/>
          <a:ln>
            <a:noFill/>
          </a:ln>
        </p:spPr>
      </p:pic>
      <p:sp>
        <p:nvSpPr>
          <p:cNvPr id="72" name="Google Shape;72;g3bd1f6d9d27_0_3"/>
          <p:cNvSpPr/>
          <p:nvPr/>
        </p:nvSpPr>
        <p:spPr>
          <a:xfrm>
            <a:off x="1762250" y="2771175"/>
            <a:ext cx="252000" cy="385800"/>
          </a:xfrm>
          <a:prstGeom prst="rect">
            <a:avLst/>
          </a:prstGeom>
          <a:noFill/>
          <a:ln cap="flat" cmpd="sng" w="28575">
            <a:solidFill>
              <a:srgbClr val="ABFF9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3" name="Google Shape;73;g3bd1f6d9d27_0_3"/>
          <p:cNvSpPr/>
          <p:nvPr/>
        </p:nvSpPr>
        <p:spPr>
          <a:xfrm>
            <a:off x="2297325" y="3555400"/>
            <a:ext cx="384300" cy="506700"/>
          </a:xfrm>
          <a:prstGeom prst="rect">
            <a:avLst/>
          </a:prstGeom>
          <a:noFill/>
          <a:ln cap="flat" cmpd="sng" w="28575">
            <a:solidFill>
              <a:srgbClr val="ABFF9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74" name="Google Shape;74;g3bd1f6d9d27_0_3"/>
          <p:cNvCxnSpPr>
            <a:stCxn id="72" idx="2"/>
            <a:endCxn id="73" idx="0"/>
          </p:cNvCxnSpPr>
          <p:nvPr/>
        </p:nvCxnSpPr>
        <p:spPr>
          <a:xfrm flipH="1" rot="-5400000">
            <a:off x="1989650" y="3055575"/>
            <a:ext cx="398400" cy="601200"/>
          </a:xfrm>
          <a:prstGeom prst="curvedConnector3">
            <a:avLst>
              <a:gd fmla="val 50003" name="adj1"/>
            </a:avLst>
          </a:prstGeom>
          <a:noFill/>
          <a:ln cap="flat" cmpd="sng" w="19050">
            <a:solidFill>
              <a:srgbClr val="ABFF95"/>
            </a:solidFill>
            <a:prstDash val="solid"/>
            <a:round/>
            <a:headEnd len="sm" w="sm" type="none"/>
            <a:tailEnd len="med" w="med" type="triangle"/>
          </a:ln>
        </p:spPr>
      </p:cxnSp>
      <p:sp>
        <p:nvSpPr>
          <p:cNvPr id="75" name="Google Shape;75;g3bd1f6d9d27_0_3"/>
          <p:cNvSpPr/>
          <p:nvPr/>
        </p:nvSpPr>
        <p:spPr>
          <a:xfrm>
            <a:off x="1675125" y="3575375"/>
            <a:ext cx="323100" cy="506700"/>
          </a:xfrm>
          <a:prstGeom prst="rect">
            <a:avLst/>
          </a:prstGeom>
          <a:noFill/>
          <a:ln cap="flat" cmpd="sng" w="28575">
            <a:solidFill>
              <a:srgbClr val="5AABB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6" name="Google Shape;76;g3bd1f6d9d27_0_3"/>
          <p:cNvSpPr/>
          <p:nvPr/>
        </p:nvSpPr>
        <p:spPr>
          <a:xfrm>
            <a:off x="3756775" y="4604288"/>
            <a:ext cx="252000" cy="385800"/>
          </a:xfrm>
          <a:prstGeom prst="rect">
            <a:avLst/>
          </a:prstGeom>
          <a:noFill/>
          <a:ln cap="flat" cmpd="sng" w="28575">
            <a:solidFill>
              <a:srgbClr val="5AABB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77" name="Google Shape;77;g3bd1f6d9d27_0_3"/>
          <p:cNvCxnSpPr>
            <a:stCxn id="75" idx="2"/>
            <a:endCxn id="76" idx="0"/>
          </p:cNvCxnSpPr>
          <p:nvPr/>
        </p:nvCxnSpPr>
        <p:spPr>
          <a:xfrm flipH="1" rot="-5400000">
            <a:off x="2598525" y="3320225"/>
            <a:ext cx="522300" cy="2046000"/>
          </a:xfrm>
          <a:prstGeom prst="curvedConnector3">
            <a:avLst>
              <a:gd fmla="val 49992" name="adj1"/>
            </a:avLst>
          </a:prstGeom>
          <a:noFill/>
          <a:ln cap="flat" cmpd="sng" w="19050">
            <a:solidFill>
              <a:srgbClr val="5AABBC"/>
            </a:solidFill>
            <a:prstDash val="solid"/>
            <a:round/>
            <a:headEnd len="sm" w="sm" type="none"/>
            <a:tailEnd len="med" w="med" type="triangle"/>
          </a:ln>
        </p:spPr>
      </p:cxnSp>
      <p:sp>
        <p:nvSpPr>
          <p:cNvPr id="78" name="Google Shape;78;g3bd1f6d9d27_0_3"/>
          <p:cNvSpPr/>
          <p:nvPr/>
        </p:nvSpPr>
        <p:spPr>
          <a:xfrm>
            <a:off x="2441575" y="2805275"/>
            <a:ext cx="1447200" cy="360600"/>
          </a:xfrm>
          <a:prstGeom prst="rect">
            <a:avLst/>
          </a:prstGeom>
          <a:noFill/>
          <a:ln cap="flat" cmpd="sng" w="28575">
            <a:solidFill>
              <a:srgbClr val="9BA4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79" name="Google Shape;79;g3bd1f6d9d27_0_3"/>
          <p:cNvCxnSpPr>
            <a:stCxn id="53" idx="3"/>
            <a:endCxn id="78" idx="0"/>
          </p:cNvCxnSpPr>
          <p:nvPr/>
        </p:nvCxnSpPr>
        <p:spPr>
          <a:xfrm flipH="1" rot="-5400000">
            <a:off x="2784950" y="2424925"/>
            <a:ext cx="405300" cy="355200"/>
          </a:xfrm>
          <a:prstGeom prst="curvedConnector3">
            <a:avLst>
              <a:gd fmla="val 50012" name="adj1"/>
            </a:avLst>
          </a:prstGeom>
          <a:noFill/>
          <a:ln cap="flat" cmpd="sng" w="9525">
            <a:solidFill>
              <a:srgbClr val="9BA4FF"/>
            </a:solidFill>
            <a:prstDash val="solid"/>
            <a:round/>
            <a:headEnd len="sm" w="sm" type="none"/>
            <a:tailEnd len="med" w="med" type="triangle"/>
          </a:ln>
        </p:spPr>
      </p:cxnSp>
      <p:pic>
        <p:nvPicPr>
          <p:cNvPr id="80" name="Google Shape;80;g3bd1f6d9d27_0_3"/>
          <p:cNvPicPr preferRelativeResize="0"/>
          <p:nvPr/>
        </p:nvPicPr>
        <p:blipFill rotWithShape="1">
          <a:blip r:embed="rId7">
            <a:alphaModFix/>
          </a:blip>
          <a:srcRect b="0" l="0" r="12140" t="0"/>
          <a:stretch/>
        </p:blipFill>
        <p:spPr>
          <a:xfrm>
            <a:off x="5134073" y="2625688"/>
            <a:ext cx="2203574" cy="719775"/>
          </a:xfrm>
          <a:prstGeom prst="rect">
            <a:avLst/>
          </a:prstGeom>
          <a:noFill/>
          <a:ln>
            <a:noFill/>
          </a:ln>
        </p:spPr>
      </p:pic>
      <p:sp>
        <p:nvSpPr>
          <p:cNvPr id="81" name="Google Shape;81;g3bd1f6d9d27_0_3"/>
          <p:cNvSpPr txBox="1"/>
          <p:nvPr/>
        </p:nvSpPr>
        <p:spPr>
          <a:xfrm>
            <a:off x="7252775" y="2770838"/>
            <a:ext cx="1527000" cy="36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0" i="0" lang="en" sz="2400" u="none" cap="none" strike="noStrike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X⍵</a:t>
            </a:r>
            <a:r>
              <a:rPr b="0" baseline="30000" i="0" lang="en" sz="2400" u="none" cap="none" strike="noStrike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T</a:t>
            </a:r>
            <a:r>
              <a:rPr b="0" i="0" lang="en" sz="2400" u="none" cap="none" strike="noStrike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+ b)</a:t>
            </a:r>
            <a:endParaRPr b="0" i="0" sz="2400" u="none" cap="none" strike="noStrike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2" name="Google Shape;82;g3bd1f6d9d27_0_3"/>
          <p:cNvSpPr txBox="1"/>
          <p:nvPr/>
        </p:nvSpPr>
        <p:spPr>
          <a:xfrm>
            <a:off x="1475365" y="5362838"/>
            <a:ext cx="2694300" cy="36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0" i="0" lang="en" sz="2400" u="none" cap="none" strike="noStrike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y = &lt;1, 10&gt;</a:t>
            </a:r>
            <a:endParaRPr b="0" i="0" sz="2400" u="none" cap="none" strike="noStrike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3" name="Google Shape;83;g3bd1f6d9d27_0_3"/>
          <p:cNvSpPr/>
          <p:nvPr/>
        </p:nvSpPr>
        <p:spPr>
          <a:xfrm>
            <a:off x="1851675" y="5415150"/>
            <a:ext cx="252000" cy="385800"/>
          </a:xfrm>
          <a:prstGeom prst="rect">
            <a:avLst/>
          </a:prstGeom>
          <a:noFill/>
          <a:ln cap="flat" cmpd="sng" w="28575">
            <a:solidFill>
              <a:srgbClr val="A3151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" name="Google Shape;84;g3bd1f6d9d27_0_3"/>
          <p:cNvSpPr/>
          <p:nvPr/>
        </p:nvSpPr>
        <p:spPr>
          <a:xfrm>
            <a:off x="2942625" y="4603500"/>
            <a:ext cx="252000" cy="385800"/>
          </a:xfrm>
          <a:prstGeom prst="rect">
            <a:avLst/>
          </a:prstGeom>
          <a:noFill/>
          <a:ln cap="flat" cmpd="sng" w="28575">
            <a:solidFill>
              <a:srgbClr val="A3151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85" name="Google Shape;85;g3bd1f6d9d27_0_3"/>
          <p:cNvCxnSpPr>
            <a:stCxn id="83" idx="0"/>
            <a:endCxn id="84" idx="2"/>
          </p:cNvCxnSpPr>
          <p:nvPr/>
        </p:nvCxnSpPr>
        <p:spPr>
          <a:xfrm rot="-5400000">
            <a:off x="2310225" y="4656600"/>
            <a:ext cx="426000" cy="1091100"/>
          </a:xfrm>
          <a:prstGeom prst="curvedConnector3">
            <a:avLst>
              <a:gd fmla="val 30129" name="adj1"/>
            </a:avLst>
          </a:prstGeom>
          <a:noFill/>
          <a:ln cap="flat" cmpd="sng" w="19050">
            <a:solidFill>
              <a:srgbClr val="A31415"/>
            </a:solidFill>
            <a:prstDash val="solid"/>
            <a:round/>
            <a:headEnd len="sm" w="sm" type="none"/>
            <a:tailEnd len="med" w="med" type="triangle"/>
          </a:ln>
        </p:spPr>
      </p:cxnSp>
      <p:sp>
        <p:nvSpPr>
          <p:cNvPr id="86" name="Google Shape;86;g3bd1f6d9d27_0_3"/>
          <p:cNvSpPr txBox="1"/>
          <p:nvPr/>
        </p:nvSpPr>
        <p:spPr>
          <a:xfrm>
            <a:off x="1242352" y="5929225"/>
            <a:ext cx="3135300" cy="36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" sz="1200" u="none" cap="none" strike="noStrike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&lt;0, 0, 0, 0, 0, 1, 0, 0, 0, 0&gt;</a:t>
            </a:r>
            <a:endParaRPr b="0" i="0" sz="1200" u="none" cap="none" strike="noStrike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7" name="Google Shape;87;g3bd1f6d9d27_0_3"/>
          <p:cNvSpPr/>
          <p:nvPr/>
        </p:nvSpPr>
        <p:spPr>
          <a:xfrm rot="5400000">
            <a:off x="2693150" y="4817950"/>
            <a:ext cx="233700" cy="2612400"/>
          </a:xfrm>
          <a:prstGeom prst="bracePair">
            <a:avLst/>
          </a:prstGeom>
          <a:noFill/>
          <a:ln cap="flat" cmpd="sng" w="9525">
            <a:solidFill>
              <a:srgbClr val="9BA4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8" name="Google Shape;88;g3bd1f6d9d27_0_3"/>
          <p:cNvSpPr/>
          <p:nvPr/>
        </p:nvSpPr>
        <p:spPr>
          <a:xfrm>
            <a:off x="2453475" y="5384950"/>
            <a:ext cx="1447200" cy="360600"/>
          </a:xfrm>
          <a:prstGeom prst="rect">
            <a:avLst/>
          </a:prstGeom>
          <a:noFill/>
          <a:ln cap="flat" cmpd="sng" w="28575">
            <a:solidFill>
              <a:srgbClr val="9BA4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89" name="Google Shape;89;g3bd1f6d9d27_0_3"/>
          <p:cNvCxnSpPr>
            <a:stCxn id="87" idx="1"/>
            <a:endCxn id="88" idx="2"/>
          </p:cNvCxnSpPr>
          <p:nvPr/>
        </p:nvCxnSpPr>
        <p:spPr>
          <a:xfrm rot="-5400000">
            <a:off x="2862650" y="5692750"/>
            <a:ext cx="261900" cy="367200"/>
          </a:xfrm>
          <a:prstGeom prst="curvedConnector3">
            <a:avLst>
              <a:gd fmla="val 49971" name="adj1"/>
            </a:avLst>
          </a:prstGeom>
          <a:noFill/>
          <a:ln cap="flat" cmpd="sng" w="9525">
            <a:solidFill>
              <a:srgbClr val="9BA4FF"/>
            </a:solidFill>
            <a:prstDash val="solid"/>
            <a:round/>
            <a:headEnd len="sm" w="sm" type="none"/>
            <a:tailEnd len="med" w="med" type="triangle"/>
          </a:ln>
        </p:spPr>
      </p:cxnSp>
      <p:sp>
        <p:nvSpPr>
          <p:cNvPr id="90" name="Google Shape;90;g3bd1f6d9d27_0_3"/>
          <p:cNvSpPr txBox="1"/>
          <p:nvPr/>
        </p:nvSpPr>
        <p:spPr>
          <a:xfrm>
            <a:off x="1611799" y="3848375"/>
            <a:ext cx="2430300" cy="233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r>
              <a:rPr b="0" i="0" lang="en" sz="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&lt;1, 10&gt;         =       &lt;1, 784&gt;     ᐧ    &lt;784, 10&gt;            +        &lt;1, 10&gt;</a:t>
            </a:r>
            <a:endParaRPr b="0" i="0" sz="6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91" name="Google Shape;91;g3bd1f6d9d27_0_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4408" y="6386450"/>
            <a:ext cx="406973" cy="405301"/>
          </a:xfrm>
          <a:prstGeom prst="rect">
            <a:avLst/>
          </a:prstGeom>
          <a:noFill/>
          <a:ln>
            <a:noFill/>
          </a:ln>
        </p:spPr>
      </p:pic>
      <p:sp>
        <p:nvSpPr>
          <p:cNvPr id="92" name="Google Shape;92;g3bd1f6d9d27_0_3"/>
          <p:cNvSpPr txBox="1"/>
          <p:nvPr/>
        </p:nvSpPr>
        <p:spPr>
          <a:xfrm>
            <a:off x="703275" y="6263350"/>
            <a:ext cx="1133400" cy="506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</a:pPr>
            <a:r>
              <a:rPr b="0" i="0" lang="en" sz="3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= 5</a:t>
            </a:r>
            <a:endParaRPr b="0" i="0" sz="3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3" name="Google Shape;93;g3bd1f6d9d27_0_3"/>
          <p:cNvSpPr/>
          <p:nvPr/>
        </p:nvSpPr>
        <p:spPr>
          <a:xfrm>
            <a:off x="299300" y="6323800"/>
            <a:ext cx="1059000" cy="506700"/>
          </a:xfrm>
          <a:prstGeom prst="rect">
            <a:avLst/>
          </a:prstGeom>
          <a:noFill/>
          <a:ln cap="flat" cmpd="sng" w="28575">
            <a:solidFill>
              <a:srgbClr val="A3151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4" name="Google Shape;94;g3bd1f6d9d27_0_3"/>
          <p:cNvSpPr txBox="1"/>
          <p:nvPr/>
        </p:nvSpPr>
        <p:spPr>
          <a:xfrm>
            <a:off x="1500977" y="6109600"/>
            <a:ext cx="3135300" cy="36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0,  1,   2,   3,   4,   5,   6,   7,   8,   9</a:t>
            </a:r>
            <a:endParaRPr b="0" i="0" sz="800" u="none" cap="none" strike="noStrike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5" name="Google Shape;95;g3bd1f6d9d27_0_3"/>
          <p:cNvSpPr/>
          <p:nvPr/>
        </p:nvSpPr>
        <p:spPr>
          <a:xfrm>
            <a:off x="2841675" y="5983750"/>
            <a:ext cx="227100" cy="405300"/>
          </a:xfrm>
          <a:prstGeom prst="rect">
            <a:avLst/>
          </a:prstGeom>
          <a:noFill/>
          <a:ln cap="flat" cmpd="sng" w="28575">
            <a:solidFill>
              <a:srgbClr val="A3151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96" name="Google Shape;96;g3bd1f6d9d27_0_3"/>
          <p:cNvCxnSpPr>
            <a:stCxn id="93" idx="3"/>
            <a:endCxn id="95" idx="2"/>
          </p:cNvCxnSpPr>
          <p:nvPr/>
        </p:nvCxnSpPr>
        <p:spPr>
          <a:xfrm flipH="1" rot="10800000">
            <a:off x="1358300" y="6389050"/>
            <a:ext cx="1596900" cy="188100"/>
          </a:xfrm>
          <a:prstGeom prst="curvedConnector2">
            <a:avLst/>
          </a:prstGeom>
          <a:noFill/>
          <a:ln cap="flat" cmpd="sng" w="19050">
            <a:solidFill>
              <a:srgbClr val="A31415"/>
            </a:solidFill>
            <a:prstDash val="solid"/>
            <a:round/>
            <a:headEnd len="sm" w="sm" type="none"/>
            <a:tailEnd len="med" w="med" type="triangle"/>
          </a:ln>
        </p:spPr>
      </p:cxn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3c70c3f9d8e_0_10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</a:pPr>
            <a:r>
              <a:rPr lang="en"/>
              <a:t>Non-linearity</a:t>
            </a:r>
            <a:endParaRPr/>
          </a:p>
        </p:txBody>
      </p:sp>
      <p:sp>
        <p:nvSpPr>
          <p:cNvPr id="102" name="Google Shape;102;g3c70c3f9d8e_0_10"/>
          <p:cNvSpPr txBox="1"/>
          <p:nvPr>
            <p:ph idx="1" type="body"/>
          </p:nvPr>
        </p:nvSpPr>
        <p:spPr>
          <a:xfrm>
            <a:off x="457200" y="5663275"/>
            <a:ext cx="8229600" cy="90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rPr lang="en" sz="2800"/>
              <a:t>Not all data can be separated with a straight line!</a:t>
            </a:r>
            <a:endParaRPr sz="2800"/>
          </a:p>
        </p:txBody>
      </p:sp>
      <p:pic>
        <p:nvPicPr>
          <p:cNvPr id="103" name="Google Shape;103;g3c70c3f9d8e_0_1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57203" y="1600203"/>
            <a:ext cx="8229600" cy="388052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g3c70c3f9d8e_0_15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</a:pPr>
            <a:r>
              <a:rPr lang="en"/>
              <a:t>Activation Functions</a:t>
            </a:r>
            <a:endParaRPr/>
          </a:p>
        </p:txBody>
      </p:sp>
      <p:sp>
        <p:nvSpPr>
          <p:cNvPr id="109" name="Google Shape;109;g3c70c3f9d8e_0_15"/>
          <p:cNvSpPr txBox="1"/>
          <p:nvPr>
            <p:ph idx="1" type="body"/>
          </p:nvPr>
        </p:nvSpPr>
        <p:spPr>
          <a:xfrm>
            <a:off x="457200" y="1600200"/>
            <a:ext cx="8229600" cy="4967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rPr lang="en"/>
              <a:t>We can add non-linearity to our network by wrapping our linear transformations in nonlinear functions called activation functions</a:t>
            </a:r>
            <a:endParaRPr/>
          </a:p>
        </p:txBody>
      </p:sp>
      <p:pic>
        <p:nvPicPr>
          <p:cNvPr id="110" name="Google Shape;110;g3c70c3f9d8e_0_15"/>
          <p:cNvPicPr preferRelativeResize="0"/>
          <p:nvPr/>
        </p:nvPicPr>
        <p:blipFill rotWithShape="1">
          <a:blip r:embed="rId3">
            <a:alphaModFix/>
          </a:blip>
          <a:srcRect b="0" l="0" r="0" t="14696"/>
          <a:stretch/>
        </p:blipFill>
        <p:spPr>
          <a:xfrm>
            <a:off x="598950" y="3251650"/>
            <a:ext cx="7946100" cy="34061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g3c70c3f9d8e_0_74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</a:pPr>
            <a:r>
              <a:rPr lang="en"/>
              <a:t>nanochat - MLP</a:t>
            </a:r>
            <a:endParaRPr/>
          </a:p>
        </p:txBody>
      </p:sp>
      <p:pic>
        <p:nvPicPr>
          <p:cNvPr id="116" name="Google Shape;116;g3c70c3f9d8e_0_74" title="Screenshot 2026-02-11 at 9.35.26 AM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34075" y="1822724"/>
            <a:ext cx="7675839" cy="45226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g3c70c3f9d8e_0_20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</a:pPr>
            <a:r>
              <a:rPr lang="en"/>
              <a:t>Convolutional Neural Networks</a:t>
            </a:r>
            <a:endParaRPr/>
          </a:p>
        </p:txBody>
      </p:sp>
      <p:pic>
        <p:nvPicPr>
          <p:cNvPr id="122" name="Google Shape;122;g3c70c3f9d8e_0_2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1417638"/>
            <a:ext cx="8839197" cy="415442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PB Theme">
  <a:themeElements>
    <a:clrScheme name="Custom 347">
      <a:dk1>
        <a:srgbClr val="000000"/>
      </a:dk1>
      <a:lt1>
        <a:srgbClr val="FFFFFF"/>
      </a:lt1>
      <a:dk2>
        <a:srgbClr val="666666"/>
      </a:dk2>
      <a:lt2>
        <a:srgbClr val="CCCCCC"/>
      </a:lt2>
      <a:accent1>
        <a:srgbClr val="3A81BA"/>
      </a:accent1>
      <a:accent2>
        <a:srgbClr val="D89F39"/>
      </a:accent2>
      <a:accent3>
        <a:srgbClr val="8BAB42"/>
      </a:accent3>
      <a:accent4>
        <a:srgbClr val="57A7B5"/>
      </a:accent4>
      <a:accent5>
        <a:srgbClr val="8B81D2"/>
      </a:accent5>
      <a:accent6>
        <a:srgbClr val="963334"/>
      </a:accent6>
      <a:hlink>
        <a:srgbClr val="1155CC"/>
      </a:hlink>
      <a:folHlink>
        <a:srgbClr val="6611C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