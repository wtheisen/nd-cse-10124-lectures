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TPNWZ6yInoKoJcB+3m8GNoP6r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bdae2bb03d_0_4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g3bdae2bb03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20bc932418a57f1d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20bc932418a57f1d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bbeee67e43_0_2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g3bbeee67e4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bd1f6d9d27_0_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g3bd1f6d9d2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70c3f9d8e_0_1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c70c3f9d8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70c3f9d8e_0_1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c70c3f9d8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70c3f9d8e_0_7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3c70c3f9d8e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70c3f9d8e_0_2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3c70c3f9d8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89c144ce9_0_14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c89c144ce9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89c144ce9_0_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c89c144ce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c89c144ce9_0_1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c89c144ce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2" name="Google Shape;12;p20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9"/>
          <p:cNvSpPr txBox="1"/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19"/>
          <p:cNvSpPr txBox="1"/>
          <p:nvPr>
            <p:ph idx="1" type="subTitle"/>
          </p:nvPr>
        </p:nvSpPr>
        <p:spPr>
          <a:xfrm>
            <a:off x="685800" y="3786738"/>
            <a:ext cx="7772400" cy="10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B439"/>
              </a:buClr>
              <a:buSzPts val="3000"/>
              <a:buNone/>
              <a:defRPr b="1">
                <a:solidFill>
                  <a:srgbClr val="DCB439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00"/>
              <a:buChar char="■"/>
              <a:defRPr>
                <a:solidFill>
                  <a:srgbClr val="9E9E9E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1709"/>
              </a:buClr>
              <a:buSzPts val="1800"/>
              <a:buChar char="●"/>
              <a:defRPr>
                <a:solidFill>
                  <a:srgbClr val="5F1709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510"/>
              </a:buClr>
              <a:buSzPts val="1800"/>
              <a:buChar char="○"/>
              <a:defRPr>
                <a:solidFill>
                  <a:srgbClr val="46551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ABBC"/>
              </a:buClr>
              <a:buSzPts val="1800"/>
              <a:buChar char="■"/>
              <a:defRPr>
                <a:solidFill>
                  <a:srgbClr val="5AABBC"/>
                </a:solidFill>
              </a:defRPr>
            </a:lvl9pPr>
          </a:lstStyle>
          <a:p/>
        </p:txBody>
      </p:sp>
      <p:sp>
        <p:nvSpPr>
          <p:cNvPr id="20" name="Google Shape;20;p23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27" name="Google Shape;27;p25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6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B5B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002B5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3.png"/><Relationship Id="rId7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bdae2bb03d_0_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Meme of the Day</a:t>
            </a:r>
            <a:endParaRPr/>
          </a:p>
        </p:txBody>
      </p:sp>
      <p:pic>
        <p:nvPicPr>
          <p:cNvPr id="35" name="Google Shape;35;g3bdae2bb03d_0_43" title="IMG_956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9413" y="1417638"/>
            <a:ext cx="4045181" cy="5135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20bc932418a57f1d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 01 was “due”</a:t>
            </a:r>
            <a:endParaRPr/>
          </a:p>
        </p:txBody>
      </p:sp>
      <p:sp>
        <p:nvSpPr>
          <p:cNvPr id="41" name="Google Shape;41;g20bc932418a57f1d_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</a:t>
            </a:r>
            <a:r>
              <a:rPr lang="en"/>
              <a:t>was it??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 think a </a:t>
            </a:r>
            <a:r>
              <a:rPr b="1" lang="en">
                <a:solidFill>
                  <a:schemeClr val="accent2"/>
                </a:solidFill>
              </a:rPr>
              <a:t>Lab 00</a:t>
            </a:r>
            <a:r>
              <a:rPr lang="en"/>
              <a:t> with “workflow” tips could have been useful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</a:rPr>
              <a:t>Lab 02 </a:t>
            </a:r>
            <a:r>
              <a:rPr lang="en"/>
              <a:t>is available but based on feedback I can/will change things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 is </a:t>
            </a:r>
            <a:r>
              <a:rPr b="1" lang="en">
                <a:solidFill>
                  <a:schemeClr val="accent3"/>
                </a:solidFill>
              </a:rPr>
              <a:t>low floor/high ceiling</a:t>
            </a:r>
            <a:endParaRPr b="1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bbeee67e43_0_26"/>
          <p:cNvSpPr txBox="1"/>
          <p:nvPr>
            <p:ph type="ctrTitle"/>
          </p:nvPr>
        </p:nvSpPr>
        <p:spPr>
          <a:xfrm>
            <a:off x="685800" y="2655750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>
                <a:solidFill>
                  <a:srgbClr val="002B5B"/>
                </a:solidFill>
              </a:rPr>
              <a:t>CSE </a:t>
            </a:r>
            <a:r>
              <a:rPr lang="en"/>
              <a:t>1</a:t>
            </a:r>
            <a:r>
              <a:rPr lang="en">
                <a:solidFill>
                  <a:srgbClr val="002B5B"/>
                </a:solidFill>
              </a:rPr>
              <a:t>0124</a:t>
            </a:r>
            <a:br>
              <a:rPr lang="en">
                <a:solidFill>
                  <a:srgbClr val="002B5B"/>
                </a:solidFill>
              </a:rPr>
            </a:br>
            <a:r>
              <a:rPr lang="en">
                <a:solidFill>
                  <a:srgbClr val="DCB439"/>
                </a:solidFill>
              </a:rPr>
              <a:t>Recurrent Neural Networks</a:t>
            </a:r>
            <a:endParaRPr>
              <a:solidFill>
                <a:srgbClr val="DCB43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d1f6d9d27_0_3"/>
          <p:cNvSpPr/>
          <p:nvPr/>
        </p:nvSpPr>
        <p:spPr>
          <a:xfrm rot="5400000">
            <a:off x="2693150" y="-227675"/>
            <a:ext cx="233700" cy="5021400"/>
          </a:xfrm>
          <a:prstGeom prst="bracePair">
            <a:avLst/>
          </a:prstGeom>
          <a:noFill/>
          <a:ln cap="flat" cmpd="sng" w="9525">
            <a:solidFill>
              <a:srgbClr val="9BA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g3bd1f6d9d27_0_3"/>
          <p:cNvSpPr txBox="1"/>
          <p:nvPr>
            <p:ph type="title"/>
          </p:nvPr>
        </p:nvSpPr>
        <p:spPr>
          <a:xfrm>
            <a:off x="3639250" y="75725"/>
            <a:ext cx="5409600" cy="7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000"/>
              <a:t>Writing MNIST “Equations”</a:t>
            </a:r>
            <a:endParaRPr sz="3000"/>
          </a:p>
        </p:txBody>
      </p:sp>
      <p:pic>
        <p:nvPicPr>
          <p:cNvPr id="53" name="Google Shape;53;g3bd1f6d9d27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4119" y="97525"/>
            <a:ext cx="1887097" cy="187934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g3bd1f6d9d27_0_3"/>
          <p:cNvSpPr/>
          <p:nvPr/>
        </p:nvSpPr>
        <p:spPr>
          <a:xfrm>
            <a:off x="1102021" y="107040"/>
            <a:ext cx="1810200" cy="66900"/>
          </a:xfrm>
          <a:prstGeom prst="rect">
            <a:avLst/>
          </a:prstGeom>
          <a:noFill/>
          <a:ln cap="flat" cmpd="sng" w="142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7000" lIns="137000" spcFirstLastPara="1" rIns="137000" wrap="square" tIns="137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7"/>
              <a:buFont typeface="Arial"/>
              <a:buNone/>
            </a:pPr>
            <a:r>
              <a:t/>
            </a:r>
            <a:endParaRPr b="0" i="0" sz="209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3bd1f6d9d27_0_3"/>
          <p:cNvSpPr/>
          <p:nvPr/>
        </p:nvSpPr>
        <p:spPr>
          <a:xfrm>
            <a:off x="1102002" y="1850059"/>
            <a:ext cx="1810200" cy="66900"/>
          </a:xfrm>
          <a:prstGeom prst="rect">
            <a:avLst/>
          </a:prstGeom>
          <a:noFill/>
          <a:ln cap="flat" cmpd="sng" w="142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7000" lIns="137000" spcFirstLastPara="1" rIns="137000" wrap="square" tIns="137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7"/>
              <a:buFont typeface="Arial"/>
              <a:buNone/>
            </a:pPr>
            <a:r>
              <a:t/>
            </a:r>
            <a:endParaRPr b="0" i="0" sz="209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" name="Google Shape;56;g3bd1f6d9d27_0_3" title="Screenshot 2026-02-11 at 7.24.00 A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4300" y="2247180"/>
            <a:ext cx="1493949" cy="66372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g3bd1f6d9d27_0_3"/>
          <p:cNvSpPr/>
          <p:nvPr/>
        </p:nvSpPr>
        <p:spPr>
          <a:xfrm>
            <a:off x="1102021" y="434163"/>
            <a:ext cx="1810200" cy="66900"/>
          </a:xfrm>
          <a:prstGeom prst="rect">
            <a:avLst/>
          </a:prstGeom>
          <a:noFill/>
          <a:ln cap="flat" cmpd="sng" w="14275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7000" lIns="137000" spcFirstLastPara="1" rIns="137000" wrap="square" tIns="137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7"/>
              <a:buFont typeface="Arial"/>
              <a:buNone/>
            </a:pPr>
            <a:r>
              <a:t/>
            </a:r>
            <a:endParaRPr b="0" i="0" sz="209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g3bd1f6d9d27_0_3" title="Screenshot 2026-02-11 at 7.25.28 A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98925" y="2247177"/>
            <a:ext cx="1447171" cy="6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g3bd1f6d9d27_0_3" title="Screenshot 2026-02-11 at 7.25.39 AM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56775" y="2247177"/>
            <a:ext cx="1446857" cy="66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" name="Google Shape;60;g3bd1f6d9d27_0_3"/>
          <p:cNvCxnSpPr>
            <a:stCxn id="54" idx="1"/>
            <a:endCxn id="56" idx="0"/>
          </p:cNvCxnSpPr>
          <p:nvPr/>
        </p:nvCxnSpPr>
        <p:spPr>
          <a:xfrm>
            <a:off x="1102021" y="140490"/>
            <a:ext cx="39300" cy="2106600"/>
          </a:xfrm>
          <a:prstGeom prst="curvedConnector4">
            <a:avLst>
              <a:gd fmla="val -936376" name="adj1"/>
              <a:gd fmla="val 83761" name="adj2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" name="Google Shape;61;g3bd1f6d9d27_0_3"/>
          <p:cNvCxnSpPr>
            <a:stCxn id="57" idx="3"/>
            <a:endCxn id="58" idx="0"/>
          </p:cNvCxnSpPr>
          <p:nvPr/>
        </p:nvCxnSpPr>
        <p:spPr>
          <a:xfrm flipH="1">
            <a:off x="2822521" y="467613"/>
            <a:ext cx="89700" cy="1779600"/>
          </a:xfrm>
          <a:prstGeom prst="curvedConnector4">
            <a:avLst>
              <a:gd fmla="val -601454" name="adj1"/>
              <a:gd fmla="val 87645" name="adj2"/>
            </a:avLst>
          </a:prstGeom>
          <a:noFill/>
          <a:ln cap="flat" cmpd="sng" w="9525">
            <a:solidFill>
              <a:srgbClr val="00FF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" name="Google Shape;62;g3bd1f6d9d27_0_3"/>
          <p:cNvCxnSpPr>
            <a:stCxn id="55" idx="3"/>
            <a:endCxn id="59" idx="0"/>
          </p:cNvCxnSpPr>
          <p:nvPr/>
        </p:nvCxnSpPr>
        <p:spPr>
          <a:xfrm>
            <a:off x="2912202" y="1883509"/>
            <a:ext cx="1568100" cy="363600"/>
          </a:xfrm>
          <a:prstGeom prst="curvedConnector2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3" name="Google Shape;63;g3bd1f6d9d27_0_3"/>
          <p:cNvSpPr txBox="1"/>
          <p:nvPr/>
        </p:nvSpPr>
        <p:spPr>
          <a:xfrm>
            <a:off x="1853050" y="2215700"/>
            <a:ext cx="202800" cy="1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g3bd1f6d9d27_0_3"/>
          <p:cNvSpPr txBox="1"/>
          <p:nvPr/>
        </p:nvSpPr>
        <p:spPr>
          <a:xfrm>
            <a:off x="3510200" y="2215700"/>
            <a:ext cx="202800" cy="1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g3bd1f6d9d27_0_3"/>
          <p:cNvSpPr txBox="1"/>
          <p:nvPr/>
        </p:nvSpPr>
        <p:spPr>
          <a:xfrm>
            <a:off x="216900" y="2215713"/>
            <a:ext cx="202800" cy="1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g3bd1f6d9d27_0_3"/>
          <p:cNvSpPr txBox="1"/>
          <p:nvPr/>
        </p:nvSpPr>
        <p:spPr>
          <a:xfrm>
            <a:off x="5134075" y="2215713"/>
            <a:ext cx="202800" cy="1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3bd1f6d9d27_0_3"/>
          <p:cNvSpPr txBox="1"/>
          <p:nvPr/>
        </p:nvSpPr>
        <p:spPr>
          <a:xfrm>
            <a:off x="1475365" y="2777838"/>
            <a:ext cx="26943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 = &lt;1, 784&gt;</a:t>
            </a:r>
            <a:endParaRPr b="0" i="0" sz="2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" name="Google Shape;68;g3bd1f6d9d27_0_3"/>
          <p:cNvSpPr txBox="1"/>
          <p:nvPr/>
        </p:nvSpPr>
        <p:spPr>
          <a:xfrm>
            <a:off x="1568518" y="3571275"/>
            <a:ext cx="25080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ŷ = X  ⍵</a:t>
            </a:r>
            <a:r>
              <a:rPr b="0" baseline="30000" i="0" lang="en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0" i="0" lang="en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b</a:t>
            </a:r>
            <a:endParaRPr b="0" i="0" sz="2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9" name="Google Shape;69;g3bd1f6d9d27_0_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68513" y="4437310"/>
            <a:ext cx="2508000" cy="71976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3bd1f6d9d27_0_3"/>
          <p:cNvSpPr/>
          <p:nvPr/>
        </p:nvSpPr>
        <p:spPr>
          <a:xfrm>
            <a:off x="1762250" y="2771175"/>
            <a:ext cx="252000" cy="385800"/>
          </a:xfrm>
          <a:prstGeom prst="rect">
            <a:avLst/>
          </a:prstGeom>
          <a:noFill/>
          <a:ln cap="flat" cmpd="sng" w="28575">
            <a:solidFill>
              <a:srgbClr val="ABFF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bd1f6d9d27_0_3"/>
          <p:cNvSpPr/>
          <p:nvPr/>
        </p:nvSpPr>
        <p:spPr>
          <a:xfrm>
            <a:off x="2297325" y="3555400"/>
            <a:ext cx="384300" cy="506700"/>
          </a:xfrm>
          <a:prstGeom prst="rect">
            <a:avLst/>
          </a:prstGeom>
          <a:noFill/>
          <a:ln cap="flat" cmpd="sng" w="28575">
            <a:solidFill>
              <a:srgbClr val="ABFF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" name="Google Shape;72;g3bd1f6d9d27_0_3"/>
          <p:cNvCxnSpPr>
            <a:stCxn id="70" idx="2"/>
            <a:endCxn id="71" idx="0"/>
          </p:cNvCxnSpPr>
          <p:nvPr/>
        </p:nvCxnSpPr>
        <p:spPr>
          <a:xfrm flipH="1" rot="-5400000">
            <a:off x="1989650" y="3055575"/>
            <a:ext cx="398400" cy="601200"/>
          </a:xfrm>
          <a:prstGeom prst="curvedConnector3">
            <a:avLst>
              <a:gd fmla="val 50003" name="adj1"/>
            </a:avLst>
          </a:prstGeom>
          <a:noFill/>
          <a:ln cap="flat" cmpd="sng" w="19050">
            <a:solidFill>
              <a:srgbClr val="ABFF9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3" name="Google Shape;73;g3bd1f6d9d27_0_3"/>
          <p:cNvSpPr/>
          <p:nvPr/>
        </p:nvSpPr>
        <p:spPr>
          <a:xfrm>
            <a:off x="1675125" y="3575375"/>
            <a:ext cx="323100" cy="506700"/>
          </a:xfrm>
          <a:prstGeom prst="rect">
            <a:avLst/>
          </a:prstGeom>
          <a:noFill/>
          <a:ln cap="flat" cmpd="sng" w="28575">
            <a:solidFill>
              <a:srgbClr val="5AAB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g3bd1f6d9d27_0_3"/>
          <p:cNvSpPr/>
          <p:nvPr/>
        </p:nvSpPr>
        <p:spPr>
          <a:xfrm>
            <a:off x="3756775" y="4604288"/>
            <a:ext cx="252000" cy="385800"/>
          </a:xfrm>
          <a:prstGeom prst="rect">
            <a:avLst/>
          </a:prstGeom>
          <a:noFill/>
          <a:ln cap="flat" cmpd="sng" w="28575">
            <a:solidFill>
              <a:srgbClr val="5AAB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" name="Google Shape;75;g3bd1f6d9d27_0_3"/>
          <p:cNvCxnSpPr>
            <a:stCxn id="73" idx="2"/>
            <a:endCxn id="74" idx="0"/>
          </p:cNvCxnSpPr>
          <p:nvPr/>
        </p:nvCxnSpPr>
        <p:spPr>
          <a:xfrm flipH="1" rot="-5400000">
            <a:off x="2598525" y="3320225"/>
            <a:ext cx="522300" cy="2046000"/>
          </a:xfrm>
          <a:prstGeom prst="curvedConnector3">
            <a:avLst>
              <a:gd fmla="val 49992" name="adj1"/>
            </a:avLst>
          </a:prstGeom>
          <a:noFill/>
          <a:ln cap="flat" cmpd="sng" w="19050">
            <a:solidFill>
              <a:srgbClr val="5AAB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6" name="Google Shape;76;g3bd1f6d9d27_0_3"/>
          <p:cNvSpPr/>
          <p:nvPr/>
        </p:nvSpPr>
        <p:spPr>
          <a:xfrm>
            <a:off x="2441575" y="2805275"/>
            <a:ext cx="1447200" cy="360600"/>
          </a:xfrm>
          <a:prstGeom prst="rect">
            <a:avLst/>
          </a:prstGeom>
          <a:noFill/>
          <a:ln cap="flat" cmpd="sng" w="28575">
            <a:solidFill>
              <a:srgbClr val="9BA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" name="Google Shape;77;g3bd1f6d9d27_0_3"/>
          <p:cNvCxnSpPr>
            <a:stCxn id="51" idx="3"/>
            <a:endCxn id="76" idx="0"/>
          </p:cNvCxnSpPr>
          <p:nvPr/>
        </p:nvCxnSpPr>
        <p:spPr>
          <a:xfrm flipH="1" rot="-5400000">
            <a:off x="2784950" y="2424925"/>
            <a:ext cx="405300" cy="355200"/>
          </a:xfrm>
          <a:prstGeom prst="curvedConnector3">
            <a:avLst>
              <a:gd fmla="val 50012" name="adj1"/>
            </a:avLst>
          </a:prstGeom>
          <a:noFill/>
          <a:ln cap="flat" cmpd="sng" w="9525">
            <a:solidFill>
              <a:srgbClr val="9BA4FF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78" name="Google Shape;78;g3bd1f6d9d27_0_3"/>
          <p:cNvPicPr preferRelativeResize="0"/>
          <p:nvPr/>
        </p:nvPicPr>
        <p:blipFill rotWithShape="1">
          <a:blip r:embed="rId7">
            <a:alphaModFix/>
          </a:blip>
          <a:srcRect b="0" l="0" r="12140" t="0"/>
          <a:stretch/>
        </p:blipFill>
        <p:spPr>
          <a:xfrm>
            <a:off x="5134073" y="2625688"/>
            <a:ext cx="2203574" cy="71977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g3bd1f6d9d27_0_3"/>
          <p:cNvSpPr txBox="1"/>
          <p:nvPr/>
        </p:nvSpPr>
        <p:spPr>
          <a:xfrm>
            <a:off x="7252775" y="2770838"/>
            <a:ext cx="15270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X⍵</a:t>
            </a:r>
            <a:r>
              <a:rPr b="0" baseline="30000" i="0" lang="en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0" i="0" lang="en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b)</a:t>
            </a:r>
            <a:endParaRPr b="0" i="0" sz="2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0" name="Google Shape;80;g3bd1f6d9d27_0_3"/>
          <p:cNvSpPr txBox="1"/>
          <p:nvPr/>
        </p:nvSpPr>
        <p:spPr>
          <a:xfrm>
            <a:off x="1475365" y="5362838"/>
            <a:ext cx="26943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y = &lt;1, 10&gt;</a:t>
            </a:r>
            <a:endParaRPr b="0" i="0" sz="2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" name="Google Shape;81;g3bd1f6d9d27_0_3"/>
          <p:cNvSpPr/>
          <p:nvPr/>
        </p:nvSpPr>
        <p:spPr>
          <a:xfrm>
            <a:off x="1851675" y="5415150"/>
            <a:ext cx="252000" cy="385800"/>
          </a:xfrm>
          <a:prstGeom prst="rect">
            <a:avLst/>
          </a:prstGeom>
          <a:noFill/>
          <a:ln cap="flat" cmpd="sng" w="28575">
            <a:solidFill>
              <a:srgbClr val="A3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g3bd1f6d9d27_0_3"/>
          <p:cNvSpPr/>
          <p:nvPr/>
        </p:nvSpPr>
        <p:spPr>
          <a:xfrm>
            <a:off x="2942625" y="4603500"/>
            <a:ext cx="252000" cy="385800"/>
          </a:xfrm>
          <a:prstGeom prst="rect">
            <a:avLst/>
          </a:prstGeom>
          <a:noFill/>
          <a:ln cap="flat" cmpd="sng" w="28575">
            <a:solidFill>
              <a:srgbClr val="A3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g3bd1f6d9d27_0_3"/>
          <p:cNvCxnSpPr>
            <a:stCxn id="81" idx="0"/>
            <a:endCxn id="82" idx="2"/>
          </p:cNvCxnSpPr>
          <p:nvPr/>
        </p:nvCxnSpPr>
        <p:spPr>
          <a:xfrm rot="-5400000">
            <a:off x="2310225" y="4656600"/>
            <a:ext cx="426000" cy="1091100"/>
          </a:xfrm>
          <a:prstGeom prst="curvedConnector3">
            <a:avLst>
              <a:gd fmla="val 30129" name="adj1"/>
            </a:avLst>
          </a:prstGeom>
          <a:noFill/>
          <a:ln cap="flat" cmpd="sng" w="19050">
            <a:solidFill>
              <a:srgbClr val="A3141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4" name="Google Shape;84;g3bd1f6d9d27_0_3"/>
          <p:cNvSpPr txBox="1"/>
          <p:nvPr/>
        </p:nvSpPr>
        <p:spPr>
          <a:xfrm>
            <a:off x="1242352" y="5929225"/>
            <a:ext cx="31353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&lt;0, 0, 0, 0, 0, 1, 0, 0, 0, 0&gt;</a:t>
            </a:r>
            <a:endParaRPr b="0" i="0" sz="1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" name="Google Shape;85;g3bd1f6d9d27_0_3"/>
          <p:cNvSpPr/>
          <p:nvPr/>
        </p:nvSpPr>
        <p:spPr>
          <a:xfrm rot="5400000">
            <a:off x="2693150" y="4817950"/>
            <a:ext cx="233700" cy="2612400"/>
          </a:xfrm>
          <a:prstGeom prst="bracePair">
            <a:avLst/>
          </a:prstGeom>
          <a:noFill/>
          <a:ln cap="flat" cmpd="sng" w="9525">
            <a:solidFill>
              <a:srgbClr val="9BA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3bd1f6d9d27_0_3"/>
          <p:cNvSpPr/>
          <p:nvPr/>
        </p:nvSpPr>
        <p:spPr>
          <a:xfrm>
            <a:off x="2453475" y="5384950"/>
            <a:ext cx="1447200" cy="360600"/>
          </a:xfrm>
          <a:prstGeom prst="rect">
            <a:avLst/>
          </a:prstGeom>
          <a:noFill/>
          <a:ln cap="flat" cmpd="sng" w="28575">
            <a:solidFill>
              <a:srgbClr val="9BA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" name="Google Shape;87;g3bd1f6d9d27_0_3"/>
          <p:cNvCxnSpPr>
            <a:stCxn id="85" idx="1"/>
            <a:endCxn id="86" idx="2"/>
          </p:cNvCxnSpPr>
          <p:nvPr/>
        </p:nvCxnSpPr>
        <p:spPr>
          <a:xfrm rot="-5400000">
            <a:off x="2862650" y="5692750"/>
            <a:ext cx="261900" cy="367200"/>
          </a:xfrm>
          <a:prstGeom prst="curvedConnector3">
            <a:avLst>
              <a:gd fmla="val 49971" name="adj1"/>
            </a:avLst>
          </a:prstGeom>
          <a:noFill/>
          <a:ln cap="flat" cmpd="sng" w="9525">
            <a:solidFill>
              <a:srgbClr val="9BA4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8" name="Google Shape;88;g3bd1f6d9d27_0_3"/>
          <p:cNvSpPr txBox="1"/>
          <p:nvPr/>
        </p:nvSpPr>
        <p:spPr>
          <a:xfrm>
            <a:off x="1611799" y="3848375"/>
            <a:ext cx="24303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&lt;1, 10&gt;         =       &lt;1, 784&gt;     ᐧ    &lt;784, 10&gt;            +        &lt;1, 10&gt;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g3bd1f6d9d27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408" y="6386450"/>
            <a:ext cx="406973" cy="40530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3bd1f6d9d27_0_3"/>
          <p:cNvSpPr txBox="1"/>
          <p:nvPr/>
        </p:nvSpPr>
        <p:spPr>
          <a:xfrm>
            <a:off x="703275" y="6263350"/>
            <a:ext cx="1133400" cy="5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5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bd1f6d9d27_0_3"/>
          <p:cNvSpPr/>
          <p:nvPr/>
        </p:nvSpPr>
        <p:spPr>
          <a:xfrm>
            <a:off x="299300" y="6323800"/>
            <a:ext cx="1059000" cy="506700"/>
          </a:xfrm>
          <a:prstGeom prst="rect">
            <a:avLst/>
          </a:prstGeom>
          <a:noFill/>
          <a:ln cap="flat" cmpd="sng" w="28575">
            <a:solidFill>
              <a:srgbClr val="A3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bd1f6d9d27_0_3"/>
          <p:cNvSpPr txBox="1"/>
          <p:nvPr/>
        </p:nvSpPr>
        <p:spPr>
          <a:xfrm>
            <a:off x="1500977" y="6109600"/>
            <a:ext cx="31353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0,  1,   2,   3,   4,   5,   6,   7,   8,   9</a:t>
            </a:r>
            <a:endParaRPr b="0" i="0" sz="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3" name="Google Shape;93;g3bd1f6d9d27_0_3"/>
          <p:cNvSpPr/>
          <p:nvPr/>
        </p:nvSpPr>
        <p:spPr>
          <a:xfrm>
            <a:off x="2841675" y="5983750"/>
            <a:ext cx="227100" cy="405300"/>
          </a:xfrm>
          <a:prstGeom prst="rect">
            <a:avLst/>
          </a:prstGeom>
          <a:noFill/>
          <a:ln cap="flat" cmpd="sng" w="28575">
            <a:solidFill>
              <a:srgbClr val="A3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" name="Google Shape;94;g3bd1f6d9d27_0_3"/>
          <p:cNvCxnSpPr>
            <a:stCxn id="91" idx="3"/>
            <a:endCxn id="93" idx="2"/>
          </p:cNvCxnSpPr>
          <p:nvPr/>
        </p:nvCxnSpPr>
        <p:spPr>
          <a:xfrm flipH="1" rot="10800000">
            <a:off x="1358300" y="6389050"/>
            <a:ext cx="1596900" cy="188100"/>
          </a:xfrm>
          <a:prstGeom prst="curvedConnector2">
            <a:avLst/>
          </a:prstGeom>
          <a:noFill/>
          <a:ln cap="flat" cmpd="sng" w="19050">
            <a:solidFill>
              <a:srgbClr val="A31415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70c3f9d8e_0_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Non-linearity</a:t>
            </a:r>
            <a:endParaRPr/>
          </a:p>
        </p:txBody>
      </p:sp>
      <p:sp>
        <p:nvSpPr>
          <p:cNvPr id="100" name="Google Shape;100;g3c70c3f9d8e_0_10"/>
          <p:cNvSpPr txBox="1"/>
          <p:nvPr>
            <p:ph idx="1" type="body"/>
          </p:nvPr>
        </p:nvSpPr>
        <p:spPr>
          <a:xfrm>
            <a:off x="457200" y="5663275"/>
            <a:ext cx="8229600" cy="9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 sz="2800"/>
              <a:t>Not all data can be separated with a straight line!</a:t>
            </a:r>
            <a:endParaRPr sz="2800"/>
          </a:p>
        </p:txBody>
      </p:sp>
      <p:pic>
        <p:nvPicPr>
          <p:cNvPr id="101" name="Google Shape;101;g3c70c3f9d8e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3" y="1600203"/>
            <a:ext cx="8229600" cy="38805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70c3f9d8e_0_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Activation Functions</a:t>
            </a:r>
            <a:endParaRPr/>
          </a:p>
        </p:txBody>
      </p:sp>
      <p:sp>
        <p:nvSpPr>
          <p:cNvPr id="107" name="Google Shape;107;g3c70c3f9d8e_0_15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We can add non-linearity to our network by wrapping our linear transformations in nonlinear functions called activation functions</a:t>
            </a:r>
            <a:endParaRPr/>
          </a:p>
        </p:txBody>
      </p:sp>
      <p:pic>
        <p:nvPicPr>
          <p:cNvPr id="108" name="Google Shape;108;g3c70c3f9d8e_0_15"/>
          <p:cNvPicPr preferRelativeResize="0"/>
          <p:nvPr/>
        </p:nvPicPr>
        <p:blipFill rotWithShape="1">
          <a:blip r:embed="rId3">
            <a:alphaModFix/>
          </a:blip>
          <a:srcRect b="0" l="0" r="0" t="14696"/>
          <a:stretch/>
        </p:blipFill>
        <p:spPr>
          <a:xfrm>
            <a:off x="598950" y="3251650"/>
            <a:ext cx="7946100" cy="340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70c3f9d8e_0_7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nanochat - MLP</a:t>
            </a:r>
            <a:endParaRPr/>
          </a:p>
        </p:txBody>
      </p:sp>
      <p:pic>
        <p:nvPicPr>
          <p:cNvPr id="114" name="Google Shape;114;g3c70c3f9d8e_0_74" title="Screenshot 2026-02-11 at 9.35.26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4075" y="1822724"/>
            <a:ext cx="7675839" cy="452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70c3f9d8e_0_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Convolutional Neural Networks</a:t>
            </a:r>
            <a:endParaRPr/>
          </a:p>
        </p:txBody>
      </p:sp>
      <p:pic>
        <p:nvPicPr>
          <p:cNvPr id="120" name="Google Shape;120;g3c70c3f9d8e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17638"/>
            <a:ext cx="8839197" cy="4154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89c144ce9_0_1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FFN vs. FFN + Dropout vs. CNN</a:t>
            </a:r>
            <a:endParaRPr/>
          </a:p>
        </p:txBody>
      </p:sp>
      <p:pic>
        <p:nvPicPr>
          <p:cNvPr id="126" name="Google Shape;126;g3c89c144ce9_0_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17638"/>
            <a:ext cx="8839202" cy="391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89c144ce9_0_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vs. Text Data</a:t>
            </a:r>
            <a:endParaRPr/>
          </a:p>
        </p:txBody>
      </p:sp>
      <p:sp>
        <p:nvSpPr>
          <p:cNvPr id="132" name="Google Shape;132;g3c89c144ce9_0_1"/>
          <p:cNvSpPr txBox="1"/>
          <p:nvPr>
            <p:ph idx="1" type="body"/>
          </p:nvPr>
        </p:nvSpPr>
        <p:spPr>
          <a:xfrm>
            <a:off x="457200" y="3210750"/>
            <a:ext cx="8229600" cy="227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/>
              <a:t>Whether an image of a 5 came before the 0 has no impact on how we predict the 0.</a:t>
            </a:r>
            <a:endParaRPr sz="2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/>
              <a:t>However, for text, what came previously matters a LOT</a:t>
            </a:r>
            <a:endParaRPr sz="2800"/>
          </a:p>
        </p:txBody>
      </p:sp>
      <p:pic>
        <p:nvPicPr>
          <p:cNvPr id="133" name="Google Shape;133;g3c89c144ce9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4075" y="1417650"/>
            <a:ext cx="6495851" cy="179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c89c144ce9_0_1"/>
          <p:cNvSpPr/>
          <p:nvPr/>
        </p:nvSpPr>
        <p:spPr>
          <a:xfrm>
            <a:off x="1298700" y="5724900"/>
            <a:ext cx="945600" cy="873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87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I</a:t>
            </a:r>
            <a:endParaRPr sz="2400"/>
          </a:p>
        </p:txBody>
      </p:sp>
      <p:sp>
        <p:nvSpPr>
          <p:cNvPr id="135" name="Google Shape;135;g3c89c144ce9_0_1"/>
          <p:cNvSpPr/>
          <p:nvPr/>
        </p:nvSpPr>
        <p:spPr>
          <a:xfrm>
            <a:off x="2473050" y="5724900"/>
            <a:ext cx="945600" cy="873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87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like</a:t>
            </a:r>
            <a:endParaRPr sz="2400"/>
          </a:p>
        </p:txBody>
      </p:sp>
      <p:sp>
        <p:nvSpPr>
          <p:cNvPr id="136" name="Google Shape;136;g3c89c144ce9_0_1"/>
          <p:cNvSpPr/>
          <p:nvPr/>
        </p:nvSpPr>
        <p:spPr>
          <a:xfrm>
            <a:off x="3647400" y="5724900"/>
            <a:ext cx="945600" cy="873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87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cute</a:t>
            </a:r>
            <a:endParaRPr sz="2400"/>
          </a:p>
        </p:txBody>
      </p:sp>
      <p:sp>
        <p:nvSpPr>
          <p:cNvPr id="137" name="Google Shape;137;g3c89c144ce9_0_1"/>
          <p:cNvSpPr/>
          <p:nvPr/>
        </p:nvSpPr>
        <p:spPr>
          <a:xfrm>
            <a:off x="4821750" y="5724900"/>
            <a:ext cx="1397400" cy="873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87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kittens</a:t>
            </a:r>
            <a:endParaRPr sz="2400"/>
          </a:p>
        </p:txBody>
      </p:sp>
      <p:sp>
        <p:nvSpPr>
          <p:cNvPr id="138" name="Google Shape;138;g3c89c144ce9_0_1"/>
          <p:cNvSpPr/>
          <p:nvPr/>
        </p:nvSpPr>
        <p:spPr>
          <a:xfrm>
            <a:off x="6447900" y="5724900"/>
            <a:ext cx="1397400" cy="873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87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and</a:t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89c144ce9_0_11"/>
          <p:cNvSpPr/>
          <p:nvPr/>
        </p:nvSpPr>
        <p:spPr>
          <a:xfrm>
            <a:off x="6859425" y="1659825"/>
            <a:ext cx="1911600" cy="3297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8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7">
                <a:latin typeface="Consolas"/>
                <a:ea typeface="Consolas"/>
                <a:cs typeface="Consolas"/>
                <a:sym typeface="Consolas"/>
              </a:rPr>
              <a:t>tokenizer.decode(6) </a:t>
            </a:r>
            <a:endParaRPr sz="1277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4" name="Google Shape;144;g3c89c144ce9_0_11"/>
          <p:cNvSpPr/>
          <p:nvPr/>
        </p:nvSpPr>
        <p:spPr>
          <a:xfrm>
            <a:off x="3649700" y="1651525"/>
            <a:ext cx="1911600" cy="3297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8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7">
                <a:latin typeface="Consolas"/>
                <a:ea typeface="Consolas"/>
                <a:cs typeface="Consolas"/>
                <a:sym typeface="Consolas"/>
              </a:rPr>
              <a:t>tokenizer.decode(4) </a:t>
            </a:r>
            <a:endParaRPr sz="1277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5" name="Google Shape;145;g3c89c144ce9_0_11"/>
          <p:cNvSpPr/>
          <p:nvPr/>
        </p:nvSpPr>
        <p:spPr>
          <a:xfrm>
            <a:off x="788815" y="2775163"/>
            <a:ext cx="2460000" cy="1093200"/>
          </a:xfrm>
          <a:prstGeom prst="roundRect">
            <a:avLst>
              <a:gd fmla="val 16667" name="adj"/>
            </a:avLst>
          </a:prstGeom>
          <a:solidFill>
            <a:srgbClr val="C3DAEC"/>
          </a:solidFill>
          <a:ln cap="flat" cmpd="sng" w="8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7"/>
              <a:t>y</a:t>
            </a:r>
            <a:r>
              <a:rPr baseline="-25000" lang="en" sz="1277"/>
              <a:t>1</a:t>
            </a:r>
            <a:r>
              <a:rPr lang="en" sz="1277"/>
              <a:t> = softmax(b</a:t>
            </a:r>
            <a:r>
              <a:rPr baseline="-25000" lang="en" sz="1277"/>
              <a:t>y</a:t>
            </a:r>
            <a:r>
              <a:rPr lang="en" sz="1277"/>
              <a:t> + h</a:t>
            </a:r>
            <a:r>
              <a:rPr baseline="-25000" lang="en" sz="1277"/>
              <a:t>1</a:t>
            </a:r>
            <a:r>
              <a:rPr lang="en" sz="1277"/>
              <a:t>w</a:t>
            </a:r>
            <a:r>
              <a:rPr baseline="-25000" lang="en" sz="1277"/>
              <a:t>y</a:t>
            </a:r>
            <a:r>
              <a:rPr lang="en" sz="1277"/>
              <a:t>)</a:t>
            </a:r>
            <a:endParaRPr sz="1277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7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7"/>
              <a:t>tanh(</a:t>
            </a:r>
            <a:r>
              <a:rPr lang="en" sz="1277"/>
              <a:t>h</a:t>
            </a:r>
            <a:r>
              <a:rPr baseline="-25000" lang="en" sz="1277"/>
              <a:t>0</a:t>
            </a:r>
            <a:r>
              <a:rPr lang="en" sz="1277"/>
              <a:t>w</a:t>
            </a:r>
            <a:r>
              <a:rPr baseline="-25000" lang="en" sz="1277"/>
              <a:t>h</a:t>
            </a:r>
            <a:r>
              <a:rPr lang="en" sz="1277"/>
              <a:t>+ ex</a:t>
            </a:r>
            <a:r>
              <a:rPr baseline="-25000" lang="en" sz="1277"/>
              <a:t>0</a:t>
            </a:r>
            <a:r>
              <a:rPr lang="en" sz="1277"/>
              <a:t>w</a:t>
            </a:r>
            <a:r>
              <a:rPr baseline="-25000" lang="en" sz="1277"/>
              <a:t>x</a:t>
            </a:r>
            <a:r>
              <a:rPr lang="en" sz="1277"/>
              <a:t> + b</a:t>
            </a:r>
            <a:r>
              <a:rPr baseline="-25000" lang="en" sz="1277"/>
              <a:t>h</a:t>
            </a:r>
            <a:r>
              <a:rPr lang="en" sz="1277"/>
              <a:t>) = h</a:t>
            </a:r>
            <a:r>
              <a:rPr baseline="-25000" lang="en" sz="1277"/>
              <a:t>1</a:t>
            </a:r>
            <a:endParaRPr sz="1277"/>
          </a:p>
        </p:txBody>
      </p:sp>
      <p:sp>
        <p:nvSpPr>
          <p:cNvPr id="146" name="Google Shape;146;g3c89c144ce9_0_11"/>
          <p:cNvSpPr/>
          <p:nvPr/>
        </p:nvSpPr>
        <p:spPr>
          <a:xfrm>
            <a:off x="887775" y="2245263"/>
            <a:ext cx="2262000" cy="266700"/>
          </a:xfrm>
          <a:prstGeom prst="roundRect">
            <a:avLst>
              <a:gd fmla="val 16667" name="adj"/>
            </a:avLst>
          </a:prstGeom>
          <a:solidFill>
            <a:srgbClr val="F9C9C5"/>
          </a:solidFill>
          <a:ln cap="flat" cmpd="sng" w="190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&lt;0.18, 0.14, 0.13, 0.12, 0.10, 0.09, 0.08, 0.07, 0.05, 0.04&gt;</a:t>
            </a:r>
            <a:endParaRPr sz="600"/>
          </a:p>
        </p:txBody>
      </p:sp>
      <p:sp>
        <p:nvSpPr>
          <p:cNvPr id="147" name="Google Shape;147;g3c89c144ce9_0_11"/>
          <p:cNvSpPr/>
          <p:nvPr/>
        </p:nvSpPr>
        <p:spPr>
          <a:xfrm>
            <a:off x="935033" y="4115789"/>
            <a:ext cx="2167500" cy="4803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8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7"/>
              <a:t>e</a:t>
            </a:r>
            <a:r>
              <a:rPr lang="en" sz="1277"/>
              <a:t>x</a:t>
            </a:r>
            <a:r>
              <a:rPr baseline="-25000" lang="en" sz="1277"/>
              <a:t>0 </a:t>
            </a:r>
            <a:r>
              <a:rPr lang="en" sz="1277"/>
              <a:t>= embeddings[xt</a:t>
            </a:r>
            <a:r>
              <a:rPr baseline="-25000" lang="en" sz="1277"/>
              <a:t>0</a:t>
            </a:r>
            <a:r>
              <a:rPr lang="en" sz="1277"/>
              <a:t>] </a:t>
            </a:r>
            <a:endParaRPr sz="1277"/>
          </a:p>
        </p:txBody>
      </p:sp>
      <p:sp>
        <p:nvSpPr>
          <p:cNvPr id="148" name="Google Shape;148;g3c89c144ce9_0_11"/>
          <p:cNvSpPr/>
          <p:nvPr/>
        </p:nvSpPr>
        <p:spPr>
          <a:xfrm>
            <a:off x="1165860" y="3019955"/>
            <a:ext cx="229200" cy="266700"/>
          </a:xfrm>
          <a:prstGeom prst="rect">
            <a:avLst/>
          </a:prstGeom>
          <a:noFill/>
          <a:ln cap="flat" cmpd="sng" w="173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7"/>
          </a:p>
        </p:txBody>
      </p:sp>
      <p:cxnSp>
        <p:nvCxnSpPr>
          <p:cNvPr id="149" name="Google Shape;149;g3c89c144ce9_0_11"/>
          <p:cNvCxnSpPr>
            <a:stCxn id="148" idx="0"/>
            <a:endCxn id="146" idx="2"/>
          </p:cNvCxnSpPr>
          <p:nvPr/>
        </p:nvCxnSpPr>
        <p:spPr>
          <a:xfrm rot="-5400000">
            <a:off x="1395660" y="2396855"/>
            <a:ext cx="507900" cy="738300"/>
          </a:xfrm>
          <a:prstGeom prst="curvedConnector3">
            <a:avLst>
              <a:gd fmla="val 50009" name="adj1"/>
            </a:avLst>
          </a:prstGeom>
          <a:noFill/>
          <a:ln cap="flat" cmpd="sng" w="17375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" name="Google Shape;150;g3c89c144ce9_0_11"/>
          <p:cNvSpPr/>
          <p:nvPr/>
        </p:nvSpPr>
        <p:spPr>
          <a:xfrm>
            <a:off x="2811763" y="3382863"/>
            <a:ext cx="189900" cy="266700"/>
          </a:xfrm>
          <a:prstGeom prst="rect">
            <a:avLst/>
          </a:prstGeom>
          <a:noFill/>
          <a:ln cap="flat" cmpd="sng" w="173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7"/>
          </a:p>
        </p:txBody>
      </p:sp>
      <p:sp>
        <p:nvSpPr>
          <p:cNvPr id="151" name="Google Shape;151;g3c89c144ce9_0_11"/>
          <p:cNvSpPr/>
          <p:nvPr/>
        </p:nvSpPr>
        <p:spPr>
          <a:xfrm>
            <a:off x="2442110" y="3019955"/>
            <a:ext cx="174900" cy="266700"/>
          </a:xfrm>
          <a:prstGeom prst="rect">
            <a:avLst/>
          </a:prstGeom>
          <a:noFill/>
          <a:ln cap="flat" cmpd="sng" w="173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7"/>
          </a:p>
        </p:txBody>
      </p:sp>
      <p:cxnSp>
        <p:nvCxnSpPr>
          <p:cNvPr id="152" name="Google Shape;152;g3c89c144ce9_0_11"/>
          <p:cNvCxnSpPr>
            <a:stCxn id="150" idx="0"/>
            <a:endCxn id="151" idx="2"/>
          </p:cNvCxnSpPr>
          <p:nvPr/>
        </p:nvCxnSpPr>
        <p:spPr>
          <a:xfrm flipH="1" rot="5400000">
            <a:off x="2670013" y="3146163"/>
            <a:ext cx="96300" cy="377100"/>
          </a:xfrm>
          <a:prstGeom prst="curvedConnector3">
            <a:avLst>
              <a:gd fmla="val 49953" name="adj1"/>
            </a:avLst>
          </a:prstGeom>
          <a:noFill/>
          <a:ln cap="flat" cmpd="sng" w="1737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3" name="Google Shape;153;g3c89c144ce9_0_11"/>
          <p:cNvSpPr/>
          <p:nvPr/>
        </p:nvSpPr>
        <p:spPr>
          <a:xfrm>
            <a:off x="98775" y="3058015"/>
            <a:ext cx="564300" cy="564300"/>
          </a:xfrm>
          <a:prstGeom prst="roundRect">
            <a:avLst>
              <a:gd fmla="val 16667" name="adj"/>
            </a:avLst>
          </a:prstGeom>
          <a:solidFill>
            <a:srgbClr val="C9E9C7"/>
          </a:solidFill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90"/>
              <a:t>h</a:t>
            </a:r>
            <a:r>
              <a:rPr baseline="-25000" lang="en" sz="2190"/>
              <a:t>0</a:t>
            </a:r>
            <a:endParaRPr baseline="-25000" sz="2190"/>
          </a:p>
        </p:txBody>
      </p:sp>
      <p:sp>
        <p:nvSpPr>
          <p:cNvPr id="154" name="Google Shape;154;g3c89c144ce9_0_11"/>
          <p:cNvSpPr/>
          <p:nvPr/>
        </p:nvSpPr>
        <p:spPr>
          <a:xfrm>
            <a:off x="1385977" y="3393725"/>
            <a:ext cx="189900" cy="266700"/>
          </a:xfrm>
          <a:prstGeom prst="rect">
            <a:avLst/>
          </a:prstGeom>
          <a:noFill/>
          <a:ln cap="flat" cmpd="sng" w="173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7"/>
          </a:p>
        </p:txBody>
      </p:sp>
      <p:cxnSp>
        <p:nvCxnSpPr>
          <p:cNvPr id="155" name="Google Shape;155;g3c89c144ce9_0_11"/>
          <p:cNvCxnSpPr>
            <a:stCxn id="153" idx="3"/>
            <a:endCxn id="154" idx="2"/>
          </p:cNvCxnSpPr>
          <p:nvPr/>
        </p:nvCxnSpPr>
        <p:spPr>
          <a:xfrm>
            <a:off x="663075" y="3340165"/>
            <a:ext cx="817800" cy="320400"/>
          </a:xfrm>
          <a:prstGeom prst="curvedConnector4">
            <a:avLst>
              <a:gd fmla="val 44198" name="adj1"/>
              <a:gd fmla="val 174277" name="adj2"/>
            </a:avLst>
          </a:prstGeom>
          <a:noFill/>
          <a:ln cap="flat" cmpd="sng" w="1737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" name="Google Shape;156;g3c89c144ce9_0_11"/>
          <p:cNvSpPr/>
          <p:nvPr/>
        </p:nvSpPr>
        <p:spPr>
          <a:xfrm>
            <a:off x="1191039" y="4237568"/>
            <a:ext cx="325500" cy="266700"/>
          </a:xfrm>
          <a:prstGeom prst="rect">
            <a:avLst/>
          </a:prstGeom>
          <a:noFill/>
          <a:ln cap="flat" cmpd="sng" w="1737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7"/>
          </a:p>
        </p:txBody>
      </p:sp>
      <p:sp>
        <p:nvSpPr>
          <p:cNvPr id="157" name="Google Shape;157;g3c89c144ce9_0_11"/>
          <p:cNvSpPr/>
          <p:nvPr/>
        </p:nvSpPr>
        <p:spPr>
          <a:xfrm>
            <a:off x="1827606" y="3393713"/>
            <a:ext cx="325500" cy="266700"/>
          </a:xfrm>
          <a:prstGeom prst="rect">
            <a:avLst/>
          </a:prstGeom>
          <a:noFill/>
          <a:ln cap="flat" cmpd="sng" w="1737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7"/>
          </a:p>
        </p:txBody>
      </p:sp>
      <p:cxnSp>
        <p:nvCxnSpPr>
          <p:cNvPr id="158" name="Google Shape;158;g3c89c144ce9_0_11"/>
          <p:cNvCxnSpPr>
            <a:endCxn id="157" idx="2"/>
          </p:cNvCxnSpPr>
          <p:nvPr/>
        </p:nvCxnSpPr>
        <p:spPr>
          <a:xfrm flipH="1" rot="10800000">
            <a:off x="1354956" y="3660413"/>
            <a:ext cx="635400" cy="577200"/>
          </a:xfrm>
          <a:prstGeom prst="curvedConnector2">
            <a:avLst/>
          </a:prstGeom>
          <a:noFill/>
          <a:ln cap="flat" cmpd="sng" w="17375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" name="Google Shape;159;g3c89c144ce9_0_11"/>
          <p:cNvSpPr/>
          <p:nvPr/>
        </p:nvSpPr>
        <p:spPr>
          <a:xfrm>
            <a:off x="3509409" y="2775163"/>
            <a:ext cx="2460000" cy="1093200"/>
          </a:xfrm>
          <a:prstGeom prst="roundRect">
            <a:avLst>
              <a:gd fmla="val 16667" name="adj"/>
            </a:avLst>
          </a:prstGeom>
          <a:solidFill>
            <a:srgbClr val="C3DAEC"/>
          </a:solidFill>
          <a:ln cap="flat" cmpd="sng" w="8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7"/>
              <a:t>y</a:t>
            </a:r>
            <a:r>
              <a:rPr baseline="-25000" lang="en" sz="1277"/>
              <a:t>2</a:t>
            </a:r>
            <a:r>
              <a:rPr lang="en" sz="1277"/>
              <a:t> = softmax(b</a:t>
            </a:r>
            <a:r>
              <a:rPr baseline="-25000" lang="en" sz="1277"/>
              <a:t>y</a:t>
            </a:r>
            <a:r>
              <a:rPr lang="en" sz="1277"/>
              <a:t> + h</a:t>
            </a:r>
            <a:r>
              <a:rPr baseline="-25000" lang="en" sz="1277"/>
              <a:t>2</a:t>
            </a:r>
            <a:r>
              <a:rPr lang="en" sz="1277"/>
              <a:t>w</a:t>
            </a:r>
            <a:r>
              <a:rPr baseline="-25000" lang="en" sz="1277"/>
              <a:t>y</a:t>
            </a:r>
            <a:r>
              <a:rPr lang="en" sz="1277"/>
              <a:t>)</a:t>
            </a:r>
            <a:endParaRPr sz="1277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7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7"/>
              <a:t>tanh(h</a:t>
            </a:r>
            <a:r>
              <a:rPr baseline="-25000" lang="en" sz="1277"/>
              <a:t>1</a:t>
            </a:r>
            <a:r>
              <a:rPr lang="en" sz="1277"/>
              <a:t>w</a:t>
            </a:r>
            <a:r>
              <a:rPr baseline="-25000" lang="en" sz="1277"/>
              <a:t>h</a:t>
            </a:r>
            <a:r>
              <a:rPr lang="en" sz="1277"/>
              <a:t>+ ex</a:t>
            </a:r>
            <a:r>
              <a:rPr baseline="-25000" lang="en" sz="1277"/>
              <a:t>1</a:t>
            </a:r>
            <a:r>
              <a:rPr lang="en" sz="1277"/>
              <a:t>w</a:t>
            </a:r>
            <a:r>
              <a:rPr baseline="-25000" lang="en" sz="1277"/>
              <a:t>x</a:t>
            </a:r>
            <a:r>
              <a:rPr lang="en" sz="1277"/>
              <a:t> + b</a:t>
            </a:r>
            <a:r>
              <a:rPr baseline="-25000" lang="en" sz="1277"/>
              <a:t>h</a:t>
            </a:r>
            <a:r>
              <a:rPr lang="en" sz="1277"/>
              <a:t>) = h</a:t>
            </a:r>
            <a:r>
              <a:rPr baseline="-25000" lang="en" sz="1277"/>
              <a:t>2</a:t>
            </a:r>
            <a:endParaRPr sz="1277"/>
          </a:p>
        </p:txBody>
      </p:sp>
      <p:sp>
        <p:nvSpPr>
          <p:cNvPr id="160" name="Google Shape;160;g3c89c144ce9_0_11"/>
          <p:cNvSpPr/>
          <p:nvPr/>
        </p:nvSpPr>
        <p:spPr>
          <a:xfrm>
            <a:off x="3655627" y="4115789"/>
            <a:ext cx="2167500" cy="4803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8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7"/>
              <a:t>ex</a:t>
            </a:r>
            <a:r>
              <a:rPr baseline="-25000" lang="en" sz="1277"/>
              <a:t>1</a:t>
            </a:r>
            <a:r>
              <a:rPr baseline="-25000" lang="en" sz="1277"/>
              <a:t> </a:t>
            </a:r>
            <a:r>
              <a:rPr lang="en" sz="1277"/>
              <a:t>= embeddings[xt</a:t>
            </a:r>
            <a:r>
              <a:rPr baseline="-25000" lang="en" sz="1277"/>
              <a:t>1</a:t>
            </a:r>
            <a:r>
              <a:rPr lang="en" sz="1277"/>
              <a:t>] </a:t>
            </a:r>
            <a:endParaRPr sz="1277"/>
          </a:p>
        </p:txBody>
      </p:sp>
      <p:sp>
        <p:nvSpPr>
          <p:cNvPr id="161" name="Google Shape;161;g3c89c144ce9_0_11"/>
          <p:cNvSpPr/>
          <p:nvPr/>
        </p:nvSpPr>
        <p:spPr>
          <a:xfrm>
            <a:off x="3886454" y="3019955"/>
            <a:ext cx="229200" cy="266700"/>
          </a:xfrm>
          <a:prstGeom prst="rect">
            <a:avLst/>
          </a:prstGeom>
          <a:noFill/>
          <a:ln cap="flat" cmpd="sng" w="173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7"/>
          </a:p>
        </p:txBody>
      </p:sp>
      <p:cxnSp>
        <p:nvCxnSpPr>
          <p:cNvPr id="162" name="Google Shape;162;g3c89c144ce9_0_11"/>
          <p:cNvCxnSpPr>
            <a:stCxn id="161" idx="0"/>
            <a:endCxn id="163" idx="2"/>
          </p:cNvCxnSpPr>
          <p:nvPr/>
        </p:nvCxnSpPr>
        <p:spPr>
          <a:xfrm rot="-5400000">
            <a:off x="4106654" y="2406455"/>
            <a:ext cx="507900" cy="719100"/>
          </a:xfrm>
          <a:prstGeom prst="curvedConnector3">
            <a:avLst>
              <a:gd fmla="val 50008" name="adj1"/>
            </a:avLst>
          </a:prstGeom>
          <a:noFill/>
          <a:ln cap="flat" cmpd="sng" w="17375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4" name="Google Shape;164;g3c89c144ce9_0_11"/>
          <p:cNvSpPr/>
          <p:nvPr/>
        </p:nvSpPr>
        <p:spPr>
          <a:xfrm>
            <a:off x="5547557" y="3393713"/>
            <a:ext cx="189900" cy="266700"/>
          </a:xfrm>
          <a:prstGeom prst="rect">
            <a:avLst/>
          </a:prstGeom>
          <a:noFill/>
          <a:ln cap="flat" cmpd="sng" w="173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7"/>
          </a:p>
        </p:txBody>
      </p:sp>
      <p:sp>
        <p:nvSpPr>
          <p:cNvPr id="165" name="Google Shape;165;g3c89c144ce9_0_11"/>
          <p:cNvSpPr/>
          <p:nvPr/>
        </p:nvSpPr>
        <p:spPr>
          <a:xfrm>
            <a:off x="5170447" y="3019955"/>
            <a:ext cx="174900" cy="266700"/>
          </a:xfrm>
          <a:prstGeom prst="rect">
            <a:avLst/>
          </a:prstGeom>
          <a:noFill/>
          <a:ln cap="flat" cmpd="sng" w="173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7"/>
          </a:p>
        </p:txBody>
      </p:sp>
      <p:cxnSp>
        <p:nvCxnSpPr>
          <p:cNvPr id="166" name="Google Shape;166;g3c89c144ce9_0_11"/>
          <p:cNvCxnSpPr>
            <a:stCxn id="164" idx="0"/>
            <a:endCxn id="165" idx="2"/>
          </p:cNvCxnSpPr>
          <p:nvPr/>
        </p:nvCxnSpPr>
        <p:spPr>
          <a:xfrm flipH="1" rot="5400000">
            <a:off x="5396657" y="3147863"/>
            <a:ext cx="107100" cy="384600"/>
          </a:xfrm>
          <a:prstGeom prst="curvedConnector3">
            <a:avLst>
              <a:gd fmla="val 49981" name="adj1"/>
            </a:avLst>
          </a:prstGeom>
          <a:noFill/>
          <a:ln cap="flat" cmpd="sng" w="87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7" name="Google Shape;167;g3c89c144ce9_0_11"/>
          <p:cNvSpPr/>
          <p:nvPr/>
        </p:nvSpPr>
        <p:spPr>
          <a:xfrm>
            <a:off x="4115656" y="3393713"/>
            <a:ext cx="174900" cy="266700"/>
          </a:xfrm>
          <a:prstGeom prst="rect">
            <a:avLst/>
          </a:prstGeom>
          <a:noFill/>
          <a:ln cap="flat" cmpd="sng" w="173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7"/>
          </a:p>
        </p:txBody>
      </p:sp>
      <p:sp>
        <p:nvSpPr>
          <p:cNvPr id="168" name="Google Shape;168;g3c89c144ce9_0_11"/>
          <p:cNvSpPr/>
          <p:nvPr/>
        </p:nvSpPr>
        <p:spPr>
          <a:xfrm>
            <a:off x="3930351" y="4237575"/>
            <a:ext cx="303600" cy="266700"/>
          </a:xfrm>
          <a:prstGeom prst="rect">
            <a:avLst/>
          </a:prstGeom>
          <a:noFill/>
          <a:ln cap="flat" cmpd="sng" w="1737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7"/>
          </a:p>
        </p:txBody>
      </p:sp>
      <p:sp>
        <p:nvSpPr>
          <p:cNvPr id="169" name="Google Shape;169;g3c89c144ce9_0_11"/>
          <p:cNvSpPr/>
          <p:nvPr/>
        </p:nvSpPr>
        <p:spPr>
          <a:xfrm>
            <a:off x="4588400" y="3393725"/>
            <a:ext cx="263400" cy="266700"/>
          </a:xfrm>
          <a:prstGeom prst="rect">
            <a:avLst/>
          </a:prstGeom>
          <a:noFill/>
          <a:ln cap="flat" cmpd="sng" w="1737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7"/>
          </a:p>
        </p:txBody>
      </p:sp>
      <p:cxnSp>
        <p:nvCxnSpPr>
          <p:cNvPr id="170" name="Google Shape;170;g3c89c144ce9_0_11"/>
          <p:cNvCxnSpPr>
            <a:endCxn id="169" idx="2"/>
          </p:cNvCxnSpPr>
          <p:nvPr/>
        </p:nvCxnSpPr>
        <p:spPr>
          <a:xfrm flipH="1" rot="10800000">
            <a:off x="4084700" y="3660425"/>
            <a:ext cx="635400" cy="577200"/>
          </a:xfrm>
          <a:prstGeom prst="curvedConnector2">
            <a:avLst/>
          </a:prstGeom>
          <a:noFill/>
          <a:ln cap="flat" cmpd="sng" w="17375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1" name="Google Shape;171;g3c89c144ce9_0_11"/>
          <p:cNvCxnSpPr>
            <a:stCxn id="150" idx="3"/>
            <a:endCxn id="167" idx="2"/>
          </p:cNvCxnSpPr>
          <p:nvPr/>
        </p:nvCxnSpPr>
        <p:spPr>
          <a:xfrm>
            <a:off x="3001663" y="3516213"/>
            <a:ext cx="1201500" cy="144300"/>
          </a:xfrm>
          <a:prstGeom prst="curvedConnector4">
            <a:avLst>
              <a:gd fmla="val 46358" name="adj1"/>
              <a:gd fmla="val 264951" name="adj2"/>
            </a:avLst>
          </a:prstGeom>
          <a:noFill/>
          <a:ln cap="flat" cmpd="sng" w="1737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2" name="Google Shape;172;g3c89c144ce9_0_11"/>
          <p:cNvSpPr/>
          <p:nvPr/>
        </p:nvSpPr>
        <p:spPr>
          <a:xfrm>
            <a:off x="6585234" y="2775163"/>
            <a:ext cx="2460000" cy="1093200"/>
          </a:xfrm>
          <a:prstGeom prst="roundRect">
            <a:avLst>
              <a:gd fmla="val 16667" name="adj"/>
            </a:avLst>
          </a:prstGeom>
          <a:solidFill>
            <a:srgbClr val="C3DAEC"/>
          </a:solidFill>
          <a:ln cap="flat" cmpd="sng" w="8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7"/>
              <a:t>y</a:t>
            </a:r>
            <a:r>
              <a:rPr baseline="-25000" lang="en" sz="1277"/>
              <a:t>t+1</a:t>
            </a:r>
            <a:r>
              <a:rPr lang="en" sz="1277"/>
              <a:t> = softmax(b</a:t>
            </a:r>
            <a:r>
              <a:rPr baseline="-25000" lang="en" sz="1277"/>
              <a:t>y</a:t>
            </a:r>
            <a:r>
              <a:rPr lang="en" sz="1277"/>
              <a:t> + h</a:t>
            </a:r>
            <a:r>
              <a:rPr baseline="-25000" lang="en" sz="1277"/>
              <a:t>t</a:t>
            </a:r>
            <a:r>
              <a:rPr lang="en" sz="1277"/>
              <a:t>w</a:t>
            </a:r>
            <a:r>
              <a:rPr baseline="-25000" lang="en" sz="1277"/>
              <a:t>y</a:t>
            </a:r>
            <a:r>
              <a:rPr lang="en" sz="1277"/>
              <a:t>)</a:t>
            </a:r>
            <a:endParaRPr sz="1277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7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7"/>
              <a:t>tanh(h</a:t>
            </a:r>
            <a:r>
              <a:rPr baseline="-25000" lang="en" sz="1277"/>
              <a:t>t-1</a:t>
            </a:r>
            <a:r>
              <a:rPr lang="en" sz="1277"/>
              <a:t>w</a:t>
            </a:r>
            <a:r>
              <a:rPr baseline="-25000" lang="en" sz="1277"/>
              <a:t>h</a:t>
            </a:r>
            <a:r>
              <a:rPr lang="en" sz="1277"/>
              <a:t>+ ex</a:t>
            </a:r>
            <a:r>
              <a:rPr baseline="-25000" lang="en" sz="1277"/>
              <a:t>t</a:t>
            </a:r>
            <a:r>
              <a:rPr lang="en" sz="1277"/>
              <a:t>w</a:t>
            </a:r>
            <a:r>
              <a:rPr baseline="-25000" lang="en" sz="1277"/>
              <a:t>x</a:t>
            </a:r>
            <a:r>
              <a:rPr lang="en" sz="1277"/>
              <a:t> + b</a:t>
            </a:r>
            <a:r>
              <a:rPr baseline="-25000" lang="en" sz="1277"/>
              <a:t>h</a:t>
            </a:r>
            <a:r>
              <a:rPr lang="en" sz="1277"/>
              <a:t>) = h</a:t>
            </a:r>
            <a:r>
              <a:rPr baseline="-25000" lang="en" sz="1277"/>
              <a:t>t</a:t>
            </a:r>
            <a:endParaRPr sz="1277"/>
          </a:p>
        </p:txBody>
      </p:sp>
      <p:sp>
        <p:nvSpPr>
          <p:cNvPr id="173" name="Google Shape;173;g3c89c144ce9_0_11"/>
          <p:cNvSpPr/>
          <p:nvPr/>
        </p:nvSpPr>
        <p:spPr>
          <a:xfrm>
            <a:off x="6731452" y="4115789"/>
            <a:ext cx="2167500" cy="4803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8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7"/>
              <a:t>ex</a:t>
            </a:r>
            <a:r>
              <a:rPr baseline="-25000" lang="en" sz="1277"/>
              <a:t>t</a:t>
            </a:r>
            <a:r>
              <a:rPr baseline="-25000" lang="en" sz="1277"/>
              <a:t> </a:t>
            </a:r>
            <a:r>
              <a:rPr lang="en" sz="1277"/>
              <a:t>= embeddings[xt</a:t>
            </a:r>
            <a:r>
              <a:rPr baseline="-25000" lang="en" sz="1277"/>
              <a:t>t</a:t>
            </a:r>
            <a:r>
              <a:rPr lang="en" sz="1277"/>
              <a:t>] </a:t>
            </a:r>
            <a:endParaRPr sz="1277"/>
          </a:p>
        </p:txBody>
      </p:sp>
      <p:sp>
        <p:nvSpPr>
          <p:cNvPr id="174" name="Google Shape;174;g3c89c144ce9_0_11"/>
          <p:cNvSpPr/>
          <p:nvPr/>
        </p:nvSpPr>
        <p:spPr>
          <a:xfrm>
            <a:off x="6922174" y="3019950"/>
            <a:ext cx="303600" cy="266700"/>
          </a:xfrm>
          <a:prstGeom prst="rect">
            <a:avLst/>
          </a:prstGeom>
          <a:noFill/>
          <a:ln cap="flat" cmpd="sng" w="173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7"/>
          </a:p>
        </p:txBody>
      </p:sp>
      <p:cxnSp>
        <p:nvCxnSpPr>
          <p:cNvPr id="175" name="Google Shape;175;g3c89c144ce9_0_11"/>
          <p:cNvCxnSpPr>
            <a:stCxn id="174" idx="0"/>
            <a:endCxn id="176" idx="2"/>
          </p:cNvCxnSpPr>
          <p:nvPr/>
        </p:nvCxnSpPr>
        <p:spPr>
          <a:xfrm rot="-5400000">
            <a:off x="7190674" y="2395350"/>
            <a:ext cx="507900" cy="741300"/>
          </a:xfrm>
          <a:prstGeom prst="curvedConnector3">
            <a:avLst>
              <a:gd fmla="val 50007" name="adj1"/>
            </a:avLst>
          </a:prstGeom>
          <a:noFill/>
          <a:ln cap="flat" cmpd="sng" w="17375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7" name="Google Shape;177;g3c89c144ce9_0_11"/>
          <p:cNvSpPr/>
          <p:nvPr/>
        </p:nvSpPr>
        <p:spPr>
          <a:xfrm>
            <a:off x="8643032" y="3393713"/>
            <a:ext cx="189900" cy="266700"/>
          </a:xfrm>
          <a:prstGeom prst="rect">
            <a:avLst/>
          </a:prstGeom>
          <a:noFill/>
          <a:ln cap="flat" cmpd="sng" w="173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7"/>
          </a:p>
        </p:txBody>
      </p:sp>
      <p:sp>
        <p:nvSpPr>
          <p:cNvPr id="178" name="Google Shape;178;g3c89c144ce9_0_11"/>
          <p:cNvSpPr/>
          <p:nvPr/>
        </p:nvSpPr>
        <p:spPr>
          <a:xfrm>
            <a:off x="8292347" y="3019955"/>
            <a:ext cx="174900" cy="266700"/>
          </a:xfrm>
          <a:prstGeom prst="rect">
            <a:avLst/>
          </a:prstGeom>
          <a:noFill/>
          <a:ln cap="flat" cmpd="sng" w="173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7"/>
          </a:p>
        </p:txBody>
      </p:sp>
      <p:cxnSp>
        <p:nvCxnSpPr>
          <p:cNvPr id="179" name="Google Shape;179;g3c89c144ce9_0_11"/>
          <p:cNvCxnSpPr>
            <a:stCxn id="177" idx="0"/>
            <a:endCxn id="178" idx="2"/>
          </p:cNvCxnSpPr>
          <p:nvPr/>
        </p:nvCxnSpPr>
        <p:spPr>
          <a:xfrm flipH="1" rot="5400000">
            <a:off x="8505332" y="3161063"/>
            <a:ext cx="107100" cy="358200"/>
          </a:xfrm>
          <a:prstGeom prst="curvedConnector3">
            <a:avLst>
              <a:gd fmla="val 49981" name="adj1"/>
            </a:avLst>
          </a:prstGeom>
          <a:noFill/>
          <a:ln cap="flat" cmpd="sng" w="87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0" name="Google Shape;180;g3c89c144ce9_0_11"/>
          <p:cNvSpPr/>
          <p:nvPr/>
        </p:nvSpPr>
        <p:spPr>
          <a:xfrm>
            <a:off x="7182850" y="3393725"/>
            <a:ext cx="263400" cy="266700"/>
          </a:xfrm>
          <a:prstGeom prst="rect">
            <a:avLst/>
          </a:prstGeom>
          <a:noFill/>
          <a:ln cap="flat" cmpd="sng" w="173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7"/>
          </a:p>
        </p:txBody>
      </p:sp>
      <p:sp>
        <p:nvSpPr>
          <p:cNvPr id="181" name="Google Shape;181;g3c89c144ce9_0_11"/>
          <p:cNvSpPr/>
          <p:nvPr/>
        </p:nvSpPr>
        <p:spPr>
          <a:xfrm>
            <a:off x="7016882" y="4237568"/>
            <a:ext cx="325500" cy="266700"/>
          </a:xfrm>
          <a:prstGeom prst="rect">
            <a:avLst/>
          </a:prstGeom>
          <a:noFill/>
          <a:ln cap="flat" cmpd="sng" w="1737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7"/>
          </a:p>
        </p:txBody>
      </p:sp>
      <p:sp>
        <p:nvSpPr>
          <p:cNvPr id="182" name="Google Shape;182;g3c89c144ce9_0_11"/>
          <p:cNvSpPr/>
          <p:nvPr/>
        </p:nvSpPr>
        <p:spPr>
          <a:xfrm>
            <a:off x="7695125" y="3393725"/>
            <a:ext cx="263400" cy="266700"/>
          </a:xfrm>
          <a:prstGeom prst="rect">
            <a:avLst/>
          </a:prstGeom>
          <a:noFill/>
          <a:ln cap="flat" cmpd="sng" w="1737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7"/>
          </a:p>
        </p:txBody>
      </p:sp>
      <p:cxnSp>
        <p:nvCxnSpPr>
          <p:cNvPr id="183" name="Google Shape;183;g3c89c144ce9_0_11"/>
          <p:cNvCxnSpPr>
            <a:endCxn id="182" idx="2"/>
          </p:cNvCxnSpPr>
          <p:nvPr/>
        </p:nvCxnSpPr>
        <p:spPr>
          <a:xfrm flipH="1" rot="10800000">
            <a:off x="7191425" y="3660425"/>
            <a:ext cx="635400" cy="577200"/>
          </a:xfrm>
          <a:prstGeom prst="curvedConnector2">
            <a:avLst/>
          </a:prstGeom>
          <a:noFill/>
          <a:ln cap="flat" cmpd="sng" w="17375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" name="Google Shape;184;g3c89c144ce9_0_11"/>
          <p:cNvCxnSpPr>
            <a:stCxn id="164" idx="3"/>
            <a:endCxn id="180" idx="2"/>
          </p:cNvCxnSpPr>
          <p:nvPr/>
        </p:nvCxnSpPr>
        <p:spPr>
          <a:xfrm>
            <a:off x="5737457" y="3527063"/>
            <a:ext cx="1577100" cy="133500"/>
          </a:xfrm>
          <a:prstGeom prst="curvedConnector4">
            <a:avLst>
              <a:gd fmla="val 37776" name="adj1"/>
              <a:gd fmla="val 171544" name="adj2"/>
            </a:avLst>
          </a:prstGeom>
          <a:noFill/>
          <a:ln cap="flat" cmpd="sng" w="17375">
            <a:solidFill>
              <a:srgbClr val="6AA84F"/>
            </a:solidFill>
            <a:prstDash val="dashDot"/>
            <a:round/>
            <a:headEnd len="med" w="med" type="none"/>
            <a:tailEnd len="med" w="med" type="triangle"/>
          </a:ln>
        </p:spPr>
      </p:cxnSp>
      <p:sp>
        <p:nvSpPr>
          <p:cNvPr id="185" name="Google Shape;185;g3c89c144ce9_0_11"/>
          <p:cNvSpPr/>
          <p:nvPr/>
        </p:nvSpPr>
        <p:spPr>
          <a:xfrm>
            <a:off x="3466400" y="5051475"/>
            <a:ext cx="2507400" cy="4803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8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7"/>
              <a:t>[xt</a:t>
            </a:r>
            <a:r>
              <a:rPr baseline="-25000" lang="en" sz="1277"/>
              <a:t>0</a:t>
            </a:r>
            <a:r>
              <a:rPr lang="en" sz="1277"/>
              <a:t>, xt</a:t>
            </a:r>
            <a:r>
              <a:rPr baseline="-25000" lang="en" sz="1277"/>
              <a:t>1</a:t>
            </a:r>
            <a:r>
              <a:rPr lang="en" sz="1277"/>
              <a:t>, …, xt</a:t>
            </a:r>
            <a:r>
              <a:rPr baseline="-25000" lang="en" sz="1277"/>
              <a:t>t</a:t>
            </a:r>
            <a:r>
              <a:rPr lang="en" sz="1277"/>
              <a:t>]</a:t>
            </a:r>
            <a:r>
              <a:rPr baseline="-25000" lang="en" sz="1277"/>
              <a:t> </a:t>
            </a:r>
            <a:r>
              <a:rPr lang="en" sz="1277"/>
              <a:t>= tokenizer(X) </a:t>
            </a:r>
            <a:endParaRPr sz="1277"/>
          </a:p>
        </p:txBody>
      </p:sp>
      <p:sp>
        <p:nvSpPr>
          <p:cNvPr id="186" name="Google Shape;186;g3c89c144ce9_0_11"/>
          <p:cNvSpPr/>
          <p:nvPr/>
        </p:nvSpPr>
        <p:spPr>
          <a:xfrm>
            <a:off x="3701150" y="5142075"/>
            <a:ext cx="229200" cy="299100"/>
          </a:xfrm>
          <a:prstGeom prst="rect">
            <a:avLst/>
          </a:prstGeom>
          <a:noFill/>
          <a:ln cap="flat" cmpd="sng" w="19050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c89c144ce9_0_11"/>
          <p:cNvSpPr/>
          <p:nvPr/>
        </p:nvSpPr>
        <p:spPr>
          <a:xfrm>
            <a:off x="3967550" y="5142075"/>
            <a:ext cx="229200" cy="299100"/>
          </a:xfrm>
          <a:prstGeom prst="rect">
            <a:avLst/>
          </a:prstGeom>
          <a:noFill/>
          <a:ln cap="flat" cmpd="sng" w="19050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c89c144ce9_0_11"/>
          <p:cNvSpPr/>
          <p:nvPr/>
        </p:nvSpPr>
        <p:spPr>
          <a:xfrm>
            <a:off x="4490900" y="5142075"/>
            <a:ext cx="229200" cy="299100"/>
          </a:xfrm>
          <a:prstGeom prst="rect">
            <a:avLst/>
          </a:prstGeom>
          <a:noFill/>
          <a:ln cap="flat" cmpd="sng" w="19050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c89c144ce9_0_11"/>
          <p:cNvSpPr/>
          <p:nvPr/>
        </p:nvSpPr>
        <p:spPr>
          <a:xfrm>
            <a:off x="2540850" y="4221375"/>
            <a:ext cx="229200" cy="299100"/>
          </a:xfrm>
          <a:prstGeom prst="rect">
            <a:avLst/>
          </a:prstGeom>
          <a:noFill/>
          <a:ln cap="flat" cmpd="sng" w="19050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c89c144ce9_0_11"/>
          <p:cNvSpPr/>
          <p:nvPr/>
        </p:nvSpPr>
        <p:spPr>
          <a:xfrm>
            <a:off x="5257750" y="4206400"/>
            <a:ext cx="229200" cy="299100"/>
          </a:xfrm>
          <a:prstGeom prst="rect">
            <a:avLst/>
          </a:prstGeom>
          <a:noFill/>
          <a:ln cap="flat" cmpd="sng" w="19050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c89c144ce9_0_11"/>
          <p:cNvSpPr/>
          <p:nvPr/>
        </p:nvSpPr>
        <p:spPr>
          <a:xfrm>
            <a:off x="8321300" y="4206400"/>
            <a:ext cx="229200" cy="299100"/>
          </a:xfrm>
          <a:prstGeom prst="rect">
            <a:avLst/>
          </a:prstGeom>
          <a:noFill/>
          <a:ln cap="flat" cmpd="sng" w="19050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2" name="Google Shape;192;g3c89c144ce9_0_11"/>
          <p:cNvCxnSpPr>
            <a:stCxn id="186" idx="0"/>
            <a:endCxn id="189" idx="2"/>
          </p:cNvCxnSpPr>
          <p:nvPr/>
        </p:nvCxnSpPr>
        <p:spPr>
          <a:xfrm flipH="1" rot="5400000">
            <a:off x="2924750" y="4251075"/>
            <a:ext cx="621600" cy="11604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8E7CC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" name="Google Shape;193;g3c89c144ce9_0_11"/>
          <p:cNvCxnSpPr>
            <a:stCxn id="187" idx="0"/>
            <a:endCxn id="190" idx="2"/>
          </p:cNvCxnSpPr>
          <p:nvPr/>
        </p:nvCxnSpPr>
        <p:spPr>
          <a:xfrm rot="-5400000">
            <a:off x="4409000" y="4178625"/>
            <a:ext cx="636600" cy="1290300"/>
          </a:xfrm>
          <a:prstGeom prst="curvedConnector3">
            <a:avLst>
              <a:gd fmla="val 49998" name="adj1"/>
            </a:avLst>
          </a:prstGeom>
          <a:noFill/>
          <a:ln cap="flat" cmpd="sng" w="19050">
            <a:solidFill>
              <a:srgbClr val="8E7CC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" name="Google Shape;194;g3c89c144ce9_0_11"/>
          <p:cNvCxnSpPr>
            <a:stCxn id="188" idx="0"/>
            <a:endCxn id="191" idx="2"/>
          </p:cNvCxnSpPr>
          <p:nvPr/>
        </p:nvCxnSpPr>
        <p:spPr>
          <a:xfrm rot="-5400000">
            <a:off x="6202400" y="2908575"/>
            <a:ext cx="636600" cy="3830400"/>
          </a:xfrm>
          <a:prstGeom prst="curvedConnector3">
            <a:avLst>
              <a:gd fmla="val 49998" name="adj1"/>
            </a:avLst>
          </a:prstGeom>
          <a:noFill/>
          <a:ln cap="flat" cmpd="sng" w="19050">
            <a:solidFill>
              <a:srgbClr val="8E7CC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5" name="Google Shape;195;g3c89c144ce9_0_11"/>
          <p:cNvSpPr/>
          <p:nvPr/>
        </p:nvSpPr>
        <p:spPr>
          <a:xfrm>
            <a:off x="3485675" y="5987150"/>
            <a:ext cx="2507400" cy="4803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87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7"/>
              <a:t>X = “I like cute kittens and”</a:t>
            </a:r>
            <a:endParaRPr sz="1277"/>
          </a:p>
        </p:txBody>
      </p:sp>
      <p:sp>
        <p:nvSpPr>
          <p:cNvPr id="196" name="Google Shape;196;g3c89c144ce9_0_11"/>
          <p:cNvSpPr/>
          <p:nvPr/>
        </p:nvSpPr>
        <p:spPr>
          <a:xfrm>
            <a:off x="3714754" y="6093955"/>
            <a:ext cx="229200" cy="266700"/>
          </a:xfrm>
          <a:prstGeom prst="rect">
            <a:avLst/>
          </a:prstGeom>
          <a:noFill/>
          <a:ln cap="flat" cmpd="sng" w="17375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7"/>
          </a:p>
        </p:txBody>
      </p:sp>
      <p:sp>
        <p:nvSpPr>
          <p:cNvPr id="197" name="Google Shape;197;g3c89c144ce9_0_11"/>
          <p:cNvSpPr/>
          <p:nvPr/>
        </p:nvSpPr>
        <p:spPr>
          <a:xfrm>
            <a:off x="5527900" y="5184825"/>
            <a:ext cx="244800" cy="231000"/>
          </a:xfrm>
          <a:prstGeom prst="rect">
            <a:avLst/>
          </a:prstGeom>
          <a:noFill/>
          <a:ln cap="flat" cmpd="sng" w="17375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7"/>
          </a:p>
        </p:txBody>
      </p:sp>
      <p:cxnSp>
        <p:nvCxnSpPr>
          <p:cNvPr id="198" name="Google Shape;198;g3c89c144ce9_0_11"/>
          <p:cNvCxnSpPr>
            <a:stCxn id="196" idx="0"/>
            <a:endCxn id="197" idx="2"/>
          </p:cNvCxnSpPr>
          <p:nvPr/>
        </p:nvCxnSpPr>
        <p:spPr>
          <a:xfrm rot="-5400000">
            <a:off x="4400854" y="4844455"/>
            <a:ext cx="678000" cy="1821000"/>
          </a:xfrm>
          <a:prstGeom prst="curvedConnector3">
            <a:avLst>
              <a:gd fmla="val 50010" name="adj1"/>
            </a:avLst>
          </a:prstGeom>
          <a:noFill/>
          <a:ln cap="flat" cmpd="sng" w="19050">
            <a:solidFill>
              <a:srgbClr val="CC412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3" name="Google Shape;163;g3c89c144ce9_0_11"/>
          <p:cNvSpPr/>
          <p:nvPr/>
        </p:nvSpPr>
        <p:spPr>
          <a:xfrm>
            <a:off x="3589100" y="2245275"/>
            <a:ext cx="2262000" cy="266700"/>
          </a:xfrm>
          <a:prstGeom prst="roundRect">
            <a:avLst>
              <a:gd fmla="val 16667" name="adj"/>
            </a:avLst>
          </a:prstGeom>
          <a:solidFill>
            <a:srgbClr val="F9C9C5"/>
          </a:solidFill>
          <a:ln cap="flat" cmpd="sng" w="190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600"/>
              <a:t>&lt;0.11, 0.16, 0.13, 0.21, 0.10, 0.08, 0.07, 0.06, 0.05, 0.03&gt;</a:t>
            </a:r>
            <a:endParaRPr sz="600"/>
          </a:p>
        </p:txBody>
      </p:sp>
      <p:sp>
        <p:nvSpPr>
          <p:cNvPr id="176" name="Google Shape;176;g3c89c144ce9_0_11"/>
          <p:cNvSpPr/>
          <p:nvPr/>
        </p:nvSpPr>
        <p:spPr>
          <a:xfrm>
            <a:off x="6684200" y="2245275"/>
            <a:ext cx="2262000" cy="266700"/>
          </a:xfrm>
          <a:prstGeom prst="roundRect">
            <a:avLst>
              <a:gd fmla="val 16667" name="adj"/>
            </a:avLst>
          </a:prstGeom>
          <a:solidFill>
            <a:srgbClr val="F9C9C5"/>
          </a:solidFill>
          <a:ln cap="flat" cmpd="sng" w="190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600"/>
              <a:t>&lt;0.07, 0.15, 0.14, 0.10, 0.09, 0.08, 0.25, 0.05, 0.04, 0.03&gt;</a:t>
            </a:r>
            <a:endParaRPr sz="600"/>
          </a:p>
        </p:txBody>
      </p:sp>
      <p:sp>
        <p:nvSpPr>
          <p:cNvPr id="199" name="Google Shape;199;g3c89c144ce9_0_11"/>
          <p:cNvSpPr/>
          <p:nvPr/>
        </p:nvSpPr>
        <p:spPr>
          <a:xfrm>
            <a:off x="1239200" y="2228650"/>
            <a:ext cx="229200" cy="299100"/>
          </a:xfrm>
          <a:prstGeom prst="rect">
            <a:avLst/>
          </a:prstGeom>
          <a:noFill/>
          <a:ln cap="flat" cmpd="sng" w="19050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c89c144ce9_0_11"/>
          <p:cNvSpPr/>
          <p:nvPr/>
        </p:nvSpPr>
        <p:spPr>
          <a:xfrm>
            <a:off x="4319375" y="2228650"/>
            <a:ext cx="229200" cy="299100"/>
          </a:xfrm>
          <a:prstGeom prst="rect">
            <a:avLst/>
          </a:prstGeom>
          <a:noFill/>
          <a:ln cap="flat" cmpd="sng" w="19050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c89c144ce9_0_11"/>
          <p:cNvSpPr/>
          <p:nvPr/>
        </p:nvSpPr>
        <p:spPr>
          <a:xfrm>
            <a:off x="7998375" y="2228650"/>
            <a:ext cx="229200" cy="299100"/>
          </a:xfrm>
          <a:prstGeom prst="rect">
            <a:avLst/>
          </a:prstGeom>
          <a:noFill/>
          <a:ln cap="flat" cmpd="sng" w="19050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2" name="Google Shape;202;g3c89c144ce9_0_11"/>
          <p:cNvCxnSpPr>
            <a:stCxn id="200" idx="0"/>
            <a:endCxn id="203" idx="1"/>
          </p:cNvCxnSpPr>
          <p:nvPr/>
        </p:nvCxnSpPr>
        <p:spPr>
          <a:xfrm rot="-5400000">
            <a:off x="4493975" y="2053150"/>
            <a:ext cx="115500" cy="235500"/>
          </a:xfrm>
          <a:prstGeom prst="curvedConnector2">
            <a:avLst/>
          </a:prstGeom>
          <a:noFill/>
          <a:ln cap="flat" cmpd="sng" w="9525">
            <a:solidFill>
              <a:srgbClr val="8E7CC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g3c89c144ce9_0_11"/>
          <p:cNvCxnSpPr>
            <a:stCxn id="205" idx="3"/>
            <a:endCxn id="206" idx="2"/>
          </p:cNvCxnSpPr>
          <p:nvPr/>
        </p:nvCxnSpPr>
        <p:spPr>
          <a:xfrm rot="10800000">
            <a:off x="8528425" y="1972900"/>
            <a:ext cx="61200" cy="136200"/>
          </a:xfrm>
          <a:prstGeom prst="curvedConnector4">
            <a:avLst>
              <a:gd fmla="val -149346" name="adj1"/>
              <a:gd fmla="val 74000" name="adj2"/>
            </a:avLst>
          </a:prstGeom>
          <a:noFill/>
          <a:ln cap="flat" cmpd="sng" w="9525">
            <a:solidFill>
              <a:srgbClr val="8E7CC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7" name="Google Shape;207;g3c89c144ce9_0_11"/>
          <p:cNvSpPr txBox="1"/>
          <p:nvPr>
            <p:ph type="title"/>
          </p:nvPr>
        </p:nvSpPr>
        <p:spPr>
          <a:xfrm>
            <a:off x="170650" y="161375"/>
            <a:ext cx="2884500" cy="9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Recurrent Neural 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Networks</a:t>
            </a:r>
            <a:endParaRPr sz="2400"/>
          </a:p>
        </p:txBody>
      </p:sp>
      <p:sp>
        <p:nvSpPr>
          <p:cNvPr id="208" name="Google Shape;208;g3c89c144ce9_0_11"/>
          <p:cNvSpPr/>
          <p:nvPr/>
        </p:nvSpPr>
        <p:spPr>
          <a:xfrm>
            <a:off x="6096850" y="2228650"/>
            <a:ext cx="384600" cy="2367300"/>
          </a:xfrm>
          <a:prstGeom prst="roundRect">
            <a:avLst>
              <a:gd fmla="val 16667" name="adj"/>
            </a:avLst>
          </a:prstGeom>
          <a:solidFill>
            <a:srgbClr val="C3DAEC"/>
          </a:solidFill>
          <a:ln cap="flat" cmpd="sng" w="1905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</a:t>
            </a:r>
            <a:endParaRPr/>
          </a:p>
        </p:txBody>
      </p:sp>
      <p:sp>
        <p:nvSpPr>
          <p:cNvPr id="209" name="Google Shape;209;g3c89c144ce9_0_11"/>
          <p:cNvSpPr/>
          <p:nvPr/>
        </p:nvSpPr>
        <p:spPr>
          <a:xfrm>
            <a:off x="4229225" y="5142075"/>
            <a:ext cx="229200" cy="299100"/>
          </a:xfrm>
          <a:prstGeom prst="rect">
            <a:avLst/>
          </a:prstGeom>
          <a:noFill/>
          <a:ln cap="flat" cmpd="sng" w="1905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0" name="Google Shape;210;g3c89c144ce9_0_11"/>
          <p:cNvCxnSpPr>
            <a:stCxn id="209" idx="0"/>
            <a:endCxn id="208" idx="2"/>
          </p:cNvCxnSpPr>
          <p:nvPr/>
        </p:nvCxnSpPr>
        <p:spPr>
          <a:xfrm rot="-5400000">
            <a:off x="5043425" y="3896475"/>
            <a:ext cx="546000" cy="1945200"/>
          </a:xfrm>
          <a:prstGeom prst="curvedConnector3">
            <a:avLst>
              <a:gd fmla="val 50011" name="adj1"/>
            </a:avLst>
          </a:prstGeom>
          <a:noFill/>
          <a:ln cap="flat" cmpd="sng" w="19050">
            <a:solidFill>
              <a:srgbClr val="3D85C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1" name="Google Shape;211;g3c89c144ce9_0_11"/>
          <p:cNvSpPr/>
          <p:nvPr/>
        </p:nvSpPr>
        <p:spPr>
          <a:xfrm>
            <a:off x="1832900" y="2028600"/>
            <a:ext cx="409200" cy="177600"/>
          </a:xfrm>
          <a:prstGeom prst="rect">
            <a:avLst/>
          </a:prstGeom>
          <a:noFill/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yt</a:t>
            </a:r>
            <a:r>
              <a:rPr baseline="-25000" lang="en" sz="600"/>
              <a:t>1</a:t>
            </a:r>
            <a:r>
              <a:rPr lang="en" sz="600"/>
              <a:t> = 0</a:t>
            </a:r>
            <a:endParaRPr sz="600"/>
          </a:p>
        </p:txBody>
      </p:sp>
      <p:sp>
        <p:nvSpPr>
          <p:cNvPr id="203" name="Google Shape;203;g3c89c144ce9_0_11"/>
          <p:cNvSpPr/>
          <p:nvPr/>
        </p:nvSpPr>
        <p:spPr>
          <a:xfrm>
            <a:off x="4669550" y="2047850"/>
            <a:ext cx="409200" cy="130800"/>
          </a:xfrm>
          <a:prstGeom prst="rect">
            <a:avLst/>
          </a:prstGeom>
          <a:noFill/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yt</a:t>
            </a:r>
            <a:r>
              <a:rPr baseline="-25000" lang="en" sz="600"/>
              <a:t>2</a:t>
            </a:r>
            <a:r>
              <a:rPr lang="en" sz="600"/>
              <a:t> = 4</a:t>
            </a:r>
            <a:endParaRPr sz="600"/>
          </a:p>
        </p:txBody>
      </p:sp>
      <p:cxnSp>
        <p:nvCxnSpPr>
          <p:cNvPr id="212" name="Google Shape;212;g3c89c144ce9_0_11"/>
          <p:cNvCxnSpPr>
            <a:stCxn id="203" idx="3"/>
            <a:endCxn id="213" idx="2"/>
          </p:cNvCxnSpPr>
          <p:nvPr/>
        </p:nvCxnSpPr>
        <p:spPr>
          <a:xfrm flipH="1" rot="10800000">
            <a:off x="5078750" y="1965950"/>
            <a:ext cx="237600" cy="147300"/>
          </a:xfrm>
          <a:prstGeom prst="curvedConnector2">
            <a:avLst/>
          </a:prstGeom>
          <a:noFill/>
          <a:ln cap="flat" cmpd="sng" w="9525">
            <a:solidFill>
              <a:srgbClr val="8E7CC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" name="Google Shape;214;g3c89c144ce9_0_11"/>
          <p:cNvCxnSpPr>
            <a:stCxn id="199" idx="0"/>
            <a:endCxn id="211" idx="1"/>
          </p:cNvCxnSpPr>
          <p:nvPr/>
        </p:nvCxnSpPr>
        <p:spPr>
          <a:xfrm rot="-5400000">
            <a:off x="1537700" y="1933450"/>
            <a:ext cx="111300" cy="479100"/>
          </a:xfrm>
          <a:prstGeom prst="curvedConnector2">
            <a:avLst/>
          </a:prstGeom>
          <a:noFill/>
          <a:ln cap="flat" cmpd="sng" w="9525">
            <a:solidFill>
              <a:srgbClr val="8E7CC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" name="Google Shape;215;g3c89c144ce9_0_11"/>
          <p:cNvCxnSpPr>
            <a:stCxn id="211" idx="3"/>
            <a:endCxn id="216" idx="2"/>
          </p:cNvCxnSpPr>
          <p:nvPr/>
        </p:nvCxnSpPr>
        <p:spPr>
          <a:xfrm flipH="1" rot="10800000">
            <a:off x="2242100" y="1974300"/>
            <a:ext cx="489600" cy="143100"/>
          </a:xfrm>
          <a:prstGeom prst="curvedConnector2">
            <a:avLst/>
          </a:prstGeom>
          <a:noFill/>
          <a:ln cap="flat" cmpd="sng" w="9525">
            <a:solidFill>
              <a:srgbClr val="8E7CC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5" name="Google Shape;205;g3c89c144ce9_0_11"/>
          <p:cNvSpPr/>
          <p:nvPr/>
        </p:nvSpPr>
        <p:spPr>
          <a:xfrm>
            <a:off x="8136925" y="2043700"/>
            <a:ext cx="452700" cy="130800"/>
          </a:xfrm>
          <a:prstGeom prst="rect">
            <a:avLst/>
          </a:prstGeom>
          <a:noFill/>
          <a:ln cap="flat" cmpd="sng" w="952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yt</a:t>
            </a:r>
            <a:r>
              <a:rPr baseline="-25000" lang="en" sz="600"/>
              <a:t>t+1</a:t>
            </a:r>
            <a:r>
              <a:rPr lang="en" sz="600"/>
              <a:t> = 6</a:t>
            </a:r>
            <a:endParaRPr sz="600"/>
          </a:p>
        </p:txBody>
      </p:sp>
      <p:cxnSp>
        <p:nvCxnSpPr>
          <p:cNvPr id="217" name="Google Shape;217;g3c89c144ce9_0_11"/>
          <p:cNvCxnSpPr>
            <a:stCxn id="201" idx="0"/>
            <a:endCxn id="205" idx="1"/>
          </p:cNvCxnSpPr>
          <p:nvPr/>
        </p:nvCxnSpPr>
        <p:spPr>
          <a:xfrm rot="-5400000">
            <a:off x="8065125" y="2156800"/>
            <a:ext cx="119700" cy="24000"/>
          </a:xfrm>
          <a:prstGeom prst="curvedConnector2">
            <a:avLst/>
          </a:prstGeom>
          <a:noFill/>
          <a:ln cap="flat" cmpd="sng" w="9525">
            <a:solidFill>
              <a:srgbClr val="8E7CC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" name="Google Shape;218;g3c89c144ce9_0_11"/>
          <p:cNvSpPr/>
          <p:nvPr/>
        </p:nvSpPr>
        <p:spPr>
          <a:xfrm>
            <a:off x="1062975" y="1659825"/>
            <a:ext cx="1911600" cy="3297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8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7">
                <a:latin typeface="Consolas"/>
                <a:ea typeface="Consolas"/>
                <a:cs typeface="Consolas"/>
                <a:sym typeface="Consolas"/>
              </a:rPr>
              <a:t>tokenizer.decode(0) </a:t>
            </a:r>
            <a:endParaRPr sz="1277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6" name="Google Shape;216;g3c89c144ce9_0_11"/>
          <p:cNvSpPr/>
          <p:nvPr/>
        </p:nvSpPr>
        <p:spPr>
          <a:xfrm>
            <a:off x="2617000" y="1675125"/>
            <a:ext cx="229200" cy="299100"/>
          </a:xfrm>
          <a:prstGeom prst="rect">
            <a:avLst/>
          </a:prstGeom>
          <a:noFill/>
          <a:ln cap="flat" cmpd="sng" w="19050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c89c144ce9_0_11"/>
          <p:cNvSpPr/>
          <p:nvPr/>
        </p:nvSpPr>
        <p:spPr>
          <a:xfrm>
            <a:off x="3423550" y="1074400"/>
            <a:ext cx="754500" cy="3297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87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7"/>
              <a:t>“like”</a:t>
            </a:r>
            <a:endParaRPr sz="1277"/>
          </a:p>
        </p:txBody>
      </p:sp>
      <p:sp>
        <p:nvSpPr>
          <p:cNvPr id="213" name="Google Shape;213;g3c89c144ce9_0_11"/>
          <p:cNvSpPr/>
          <p:nvPr/>
        </p:nvSpPr>
        <p:spPr>
          <a:xfrm>
            <a:off x="5201825" y="1666825"/>
            <a:ext cx="229200" cy="299100"/>
          </a:xfrm>
          <a:prstGeom prst="rect">
            <a:avLst/>
          </a:prstGeom>
          <a:noFill/>
          <a:ln cap="flat" cmpd="sng" w="19050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c89c144ce9_0_11"/>
          <p:cNvSpPr/>
          <p:nvPr/>
        </p:nvSpPr>
        <p:spPr>
          <a:xfrm>
            <a:off x="8413825" y="1673825"/>
            <a:ext cx="229200" cy="299100"/>
          </a:xfrm>
          <a:prstGeom prst="rect">
            <a:avLst/>
          </a:prstGeom>
          <a:noFill/>
          <a:ln cap="flat" cmpd="sng" w="19050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c89c144ce9_0_11"/>
          <p:cNvSpPr/>
          <p:nvPr/>
        </p:nvSpPr>
        <p:spPr>
          <a:xfrm>
            <a:off x="4228250" y="1074400"/>
            <a:ext cx="754500" cy="3297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87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7"/>
              <a:t>“cute”</a:t>
            </a:r>
            <a:endParaRPr sz="1277"/>
          </a:p>
        </p:txBody>
      </p:sp>
      <p:sp>
        <p:nvSpPr>
          <p:cNvPr id="221" name="Google Shape;221;g3c89c144ce9_0_11"/>
          <p:cNvSpPr/>
          <p:nvPr/>
        </p:nvSpPr>
        <p:spPr>
          <a:xfrm>
            <a:off x="5562250" y="1074400"/>
            <a:ext cx="877800" cy="3297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87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7"/>
              <a:t>“puppies”</a:t>
            </a:r>
            <a:endParaRPr sz="1277"/>
          </a:p>
        </p:txBody>
      </p:sp>
      <p:sp>
        <p:nvSpPr>
          <p:cNvPr id="222" name="Google Shape;222;g3c89c144ce9_0_11"/>
          <p:cNvSpPr/>
          <p:nvPr/>
        </p:nvSpPr>
        <p:spPr>
          <a:xfrm>
            <a:off x="6096850" y="1651525"/>
            <a:ext cx="384600" cy="3297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8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7">
                <a:latin typeface="Consolas"/>
                <a:ea typeface="Consolas"/>
                <a:cs typeface="Consolas"/>
                <a:sym typeface="Consolas"/>
              </a:rPr>
              <a:t>…</a:t>
            </a:r>
            <a:endParaRPr sz="1277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3" name="Google Shape;223;g3c89c144ce9_0_11"/>
          <p:cNvSpPr/>
          <p:nvPr/>
        </p:nvSpPr>
        <p:spPr>
          <a:xfrm>
            <a:off x="5032950" y="1074400"/>
            <a:ext cx="479100" cy="3297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87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50" lIns="83450" spcFirstLastPara="1" rIns="83450" wrap="square" tIns="8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7"/>
              <a:t>“...”</a:t>
            </a:r>
            <a:endParaRPr sz="1277"/>
          </a:p>
        </p:txBody>
      </p:sp>
      <p:sp>
        <p:nvSpPr>
          <p:cNvPr id="224" name="Google Shape;224;g3c89c144ce9_0_11"/>
          <p:cNvSpPr/>
          <p:nvPr/>
        </p:nvSpPr>
        <p:spPr>
          <a:xfrm>
            <a:off x="6174550" y="1666825"/>
            <a:ext cx="229200" cy="299100"/>
          </a:xfrm>
          <a:prstGeom prst="rect">
            <a:avLst/>
          </a:prstGeom>
          <a:noFill/>
          <a:ln cap="flat" cmpd="sng" w="1905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c89c144ce9_0_11"/>
          <p:cNvSpPr/>
          <p:nvPr/>
        </p:nvSpPr>
        <p:spPr>
          <a:xfrm>
            <a:off x="5120700" y="1088375"/>
            <a:ext cx="303600" cy="299100"/>
          </a:xfrm>
          <a:prstGeom prst="rect">
            <a:avLst/>
          </a:prstGeom>
          <a:noFill/>
          <a:ln cap="flat" cmpd="sng" w="1905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6" name="Google Shape;226;g3c89c144ce9_0_11"/>
          <p:cNvCxnSpPr>
            <a:stCxn id="208" idx="0"/>
            <a:endCxn id="224" idx="2"/>
          </p:cNvCxnSpPr>
          <p:nvPr/>
        </p:nvCxnSpPr>
        <p:spPr>
          <a:xfrm rot="-5400000">
            <a:off x="6158050" y="2096950"/>
            <a:ext cx="262800" cy="600"/>
          </a:xfrm>
          <a:prstGeom prst="curvedConnector3">
            <a:avLst>
              <a:gd fmla="val 49986" name="adj1"/>
            </a:avLst>
          </a:prstGeom>
          <a:noFill/>
          <a:ln cap="flat" cmpd="sng" w="19050">
            <a:solidFill>
              <a:srgbClr val="3D85C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" name="Google Shape;227;g3c89c144ce9_0_11"/>
          <p:cNvCxnSpPr>
            <a:stCxn id="224" idx="0"/>
            <a:endCxn id="225" idx="2"/>
          </p:cNvCxnSpPr>
          <p:nvPr/>
        </p:nvCxnSpPr>
        <p:spPr>
          <a:xfrm flipH="1" rot="5400000">
            <a:off x="5641150" y="1018825"/>
            <a:ext cx="279300" cy="1016700"/>
          </a:xfrm>
          <a:prstGeom prst="curvedConnector3">
            <a:avLst>
              <a:gd fmla="val 50009" name="adj1"/>
            </a:avLst>
          </a:prstGeom>
          <a:noFill/>
          <a:ln cap="flat" cmpd="sng" w="19050">
            <a:solidFill>
              <a:srgbClr val="3D85C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8" name="Google Shape;228;g3c89c144ce9_0_11"/>
          <p:cNvCxnSpPr>
            <a:stCxn id="218" idx="0"/>
            <a:endCxn id="219" idx="2"/>
          </p:cNvCxnSpPr>
          <p:nvPr/>
        </p:nvCxnSpPr>
        <p:spPr>
          <a:xfrm rot="-5400000">
            <a:off x="2781975" y="641025"/>
            <a:ext cx="255600" cy="1782000"/>
          </a:xfrm>
          <a:prstGeom prst="curvedConnector3">
            <a:avLst>
              <a:gd fmla="val 50024" name="adj1"/>
            </a:avLst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9" name="Google Shape;229;g3c89c144ce9_0_11"/>
          <p:cNvCxnSpPr>
            <a:stCxn id="144" idx="0"/>
            <a:endCxn id="220" idx="2"/>
          </p:cNvCxnSpPr>
          <p:nvPr/>
        </p:nvCxnSpPr>
        <p:spPr>
          <a:xfrm rot="-5400000">
            <a:off x="4482050" y="1527475"/>
            <a:ext cx="247500" cy="600"/>
          </a:xfrm>
          <a:prstGeom prst="curvedConnector3">
            <a:avLst>
              <a:gd fmla="val 49985" name="adj1"/>
            </a:avLst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0" name="Google Shape;230;g3c89c144ce9_0_11"/>
          <p:cNvCxnSpPr>
            <a:stCxn id="143" idx="0"/>
            <a:endCxn id="221" idx="2"/>
          </p:cNvCxnSpPr>
          <p:nvPr/>
        </p:nvCxnSpPr>
        <p:spPr>
          <a:xfrm flipH="1" rot="5400000">
            <a:off x="6780375" y="624975"/>
            <a:ext cx="255600" cy="1814100"/>
          </a:xfrm>
          <a:prstGeom prst="curvedConnector3">
            <a:avLst>
              <a:gd fmla="val 50024" name="adj1"/>
            </a:avLst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31" name="Google Shape;231;g3c89c144ce9_0_11"/>
          <p:cNvPicPr preferRelativeResize="0"/>
          <p:nvPr/>
        </p:nvPicPr>
        <p:blipFill rotWithShape="1">
          <a:blip r:embed="rId3">
            <a:alphaModFix/>
          </a:blip>
          <a:srcRect b="0" l="317" r="327" t="0"/>
          <a:stretch/>
        </p:blipFill>
        <p:spPr>
          <a:xfrm>
            <a:off x="6720576" y="5143269"/>
            <a:ext cx="1577100" cy="1515976"/>
          </a:xfrm>
          <a:prstGeom prst="rect">
            <a:avLst/>
          </a:prstGeom>
          <a:noFill/>
          <a:ln cap="flat" cmpd="sng" w="2857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32" name="Google Shape;232;g3c89c144ce9_0_11"/>
          <p:cNvCxnSpPr>
            <a:stCxn id="231" idx="0"/>
            <a:endCxn id="208" idx="2"/>
          </p:cNvCxnSpPr>
          <p:nvPr/>
        </p:nvCxnSpPr>
        <p:spPr>
          <a:xfrm flipH="1" rot="5400000">
            <a:off x="6625476" y="4259619"/>
            <a:ext cx="547200" cy="1220100"/>
          </a:xfrm>
          <a:prstGeom prst="curvedConnector3">
            <a:avLst>
              <a:gd fmla="val 50011" name="adj1"/>
            </a:avLst>
          </a:prstGeom>
          <a:noFill/>
          <a:ln cap="flat" cmpd="sng" w="19050">
            <a:solidFill>
              <a:srgbClr val="3D85C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B Them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