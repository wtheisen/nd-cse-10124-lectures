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iExUbewAa7iHY0fJBecFtbOZj8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bbeee67e43_0_2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g3bbeee67e43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c89c144ce9_0_1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g3c89c144ce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cabf19d016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cabf19d01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bf116a135a_0_10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bf116a135a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bf116a135a_0_14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bf116a135a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cabf19d016_0_12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g3cabf19d016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bf116a135a_0_15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bf116a135a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f116a135a_0_23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g3bf116a135a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bf116a135a_0_23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g3bf116a135a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bf116a135a_0_20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bf116a135a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bf116a135a_0_19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bf116a135a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1" name="Google Shape;11;p2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2" name="Google Shape;12;p20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9"/>
          <p:cNvSpPr txBox="1"/>
          <p:nvPr>
            <p:ph type="ctrTitle"/>
          </p:nvPr>
        </p:nvSpPr>
        <p:spPr>
          <a:xfrm>
            <a:off x="685800" y="2111123"/>
            <a:ext cx="7772400" cy="154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19"/>
          <p:cNvSpPr txBox="1"/>
          <p:nvPr>
            <p:ph idx="1" type="subTitle"/>
          </p:nvPr>
        </p:nvSpPr>
        <p:spPr>
          <a:xfrm>
            <a:off x="685800" y="3786738"/>
            <a:ext cx="7772400" cy="10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B439"/>
              </a:buClr>
              <a:buSzPts val="3000"/>
              <a:buNone/>
              <a:defRPr b="1">
                <a:solidFill>
                  <a:srgbClr val="DCB439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" name="Google Shape;16;p19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" type="body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800"/>
              <a:buChar char="■"/>
              <a:defRPr>
                <a:solidFill>
                  <a:srgbClr val="9E9E9E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1709"/>
              </a:buClr>
              <a:buSzPts val="1800"/>
              <a:buChar char="●"/>
              <a:defRPr>
                <a:solidFill>
                  <a:srgbClr val="5F1709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510"/>
              </a:buClr>
              <a:buSzPts val="1800"/>
              <a:buChar char="○"/>
              <a:defRPr>
                <a:solidFill>
                  <a:srgbClr val="465510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ABBC"/>
              </a:buClr>
              <a:buSzPts val="1800"/>
              <a:buChar char="■"/>
              <a:defRPr>
                <a:solidFill>
                  <a:srgbClr val="5AABBC"/>
                </a:solidFill>
              </a:defRPr>
            </a:lvl9pPr>
          </a:lstStyle>
          <a:p/>
        </p:txBody>
      </p:sp>
      <p:sp>
        <p:nvSpPr>
          <p:cNvPr id="20" name="Google Shape;20;p23"/>
          <p:cNvSpPr txBox="1"/>
          <p:nvPr>
            <p:ph idx="2" type="body"/>
          </p:nvPr>
        </p:nvSpPr>
        <p:spPr>
          <a:xfrm>
            <a:off x="4692274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5"/>
          <p:cNvSpPr txBox="1"/>
          <p:nvPr>
            <p:ph idx="1" type="body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27" name="Google Shape;27;p25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6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B5B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002B5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bbeee67e43_0_26"/>
          <p:cNvSpPr txBox="1"/>
          <p:nvPr>
            <p:ph type="ctrTitle"/>
          </p:nvPr>
        </p:nvSpPr>
        <p:spPr>
          <a:xfrm>
            <a:off x="685800" y="2655750"/>
            <a:ext cx="7772400" cy="15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>
                <a:solidFill>
                  <a:srgbClr val="002B5B"/>
                </a:solidFill>
              </a:rPr>
              <a:t>CSE </a:t>
            </a:r>
            <a:r>
              <a:rPr lang="en"/>
              <a:t>1</a:t>
            </a:r>
            <a:r>
              <a:rPr lang="en">
                <a:solidFill>
                  <a:srgbClr val="002B5B"/>
                </a:solidFill>
              </a:rPr>
              <a:t>0124</a:t>
            </a:r>
            <a:br>
              <a:rPr lang="en">
                <a:solidFill>
                  <a:srgbClr val="002B5B"/>
                </a:solidFill>
              </a:rPr>
            </a:br>
            <a:r>
              <a:rPr lang="en">
                <a:solidFill>
                  <a:srgbClr val="DCB439"/>
                </a:solidFill>
              </a:rPr>
              <a:t>Self-Attention</a:t>
            </a:r>
            <a:endParaRPr>
              <a:solidFill>
                <a:srgbClr val="DCB43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c89c144ce9_0_11"/>
          <p:cNvSpPr/>
          <p:nvPr/>
        </p:nvSpPr>
        <p:spPr>
          <a:xfrm>
            <a:off x="788815" y="2775163"/>
            <a:ext cx="2460000" cy="1093200"/>
          </a:xfrm>
          <a:prstGeom prst="roundRect">
            <a:avLst>
              <a:gd fmla="val 16667" name="adj"/>
            </a:avLst>
          </a:prstGeom>
          <a:solidFill>
            <a:srgbClr val="C3DAE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softmax(b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h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2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t/>
            </a:r>
            <a:endParaRPr b="0" i="0" sz="12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tanh(h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ex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b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= h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g3c89c144ce9_0_11"/>
          <p:cNvSpPr/>
          <p:nvPr/>
        </p:nvSpPr>
        <p:spPr>
          <a:xfrm>
            <a:off x="887775" y="2245263"/>
            <a:ext cx="2262000" cy="266700"/>
          </a:xfrm>
          <a:prstGeom prst="roundRect">
            <a:avLst>
              <a:gd fmla="val 16667" name="adj"/>
            </a:avLst>
          </a:prstGeom>
          <a:solidFill>
            <a:srgbClr val="F9C9C5"/>
          </a:solidFill>
          <a:ln cap="flat" cmpd="sng" w="1905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&lt;0.18, 0.14, 0.13, 0.12, 0.10, 0.09, 0.08, 0.07, 0.05, 0.04&gt;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g3c89c144ce9_0_11"/>
          <p:cNvSpPr/>
          <p:nvPr/>
        </p:nvSpPr>
        <p:spPr>
          <a:xfrm>
            <a:off x="935033" y="4115789"/>
            <a:ext cx="2167500" cy="4803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embeddings[xt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 </a:t>
            </a:r>
            <a:endParaRPr b="0" i="0" sz="12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3c89c144ce9_0_11"/>
          <p:cNvSpPr/>
          <p:nvPr/>
        </p:nvSpPr>
        <p:spPr>
          <a:xfrm>
            <a:off x="1165860" y="3019955"/>
            <a:ext cx="229200" cy="266700"/>
          </a:xfrm>
          <a:prstGeom prst="rect">
            <a:avLst/>
          </a:prstGeom>
          <a:noFill/>
          <a:ln cap="flat" cmpd="sng" w="173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t/>
            </a:r>
            <a:endParaRPr b="0" i="0" sz="12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" name="Google Shape;43;g3c89c144ce9_0_11"/>
          <p:cNvCxnSpPr>
            <a:stCxn id="42" idx="0"/>
            <a:endCxn id="40" idx="2"/>
          </p:cNvCxnSpPr>
          <p:nvPr/>
        </p:nvCxnSpPr>
        <p:spPr>
          <a:xfrm rot="-5400000">
            <a:off x="1395660" y="2396855"/>
            <a:ext cx="507900" cy="738300"/>
          </a:xfrm>
          <a:prstGeom prst="curvedConnector3">
            <a:avLst>
              <a:gd fmla="val 50009" name="adj1"/>
            </a:avLst>
          </a:prstGeom>
          <a:noFill/>
          <a:ln cap="flat" cmpd="sng" w="17375">
            <a:solidFill>
              <a:srgbClr val="E0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4" name="Google Shape;44;g3c89c144ce9_0_11"/>
          <p:cNvSpPr/>
          <p:nvPr/>
        </p:nvSpPr>
        <p:spPr>
          <a:xfrm>
            <a:off x="2811763" y="3382863"/>
            <a:ext cx="189900" cy="266700"/>
          </a:xfrm>
          <a:prstGeom prst="rect">
            <a:avLst/>
          </a:prstGeom>
          <a:noFill/>
          <a:ln cap="flat" cmpd="sng" w="173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t/>
            </a:r>
            <a:endParaRPr b="0" i="0" sz="12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g3c89c144ce9_0_11"/>
          <p:cNvSpPr/>
          <p:nvPr/>
        </p:nvSpPr>
        <p:spPr>
          <a:xfrm>
            <a:off x="2442110" y="3019955"/>
            <a:ext cx="174900" cy="266700"/>
          </a:xfrm>
          <a:prstGeom prst="rect">
            <a:avLst/>
          </a:prstGeom>
          <a:noFill/>
          <a:ln cap="flat" cmpd="sng" w="173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t/>
            </a:r>
            <a:endParaRPr b="0" i="0" sz="12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" name="Google Shape;46;g3c89c144ce9_0_11"/>
          <p:cNvCxnSpPr>
            <a:stCxn id="44" idx="0"/>
            <a:endCxn id="45" idx="2"/>
          </p:cNvCxnSpPr>
          <p:nvPr/>
        </p:nvCxnSpPr>
        <p:spPr>
          <a:xfrm flipH="1" rot="5400000">
            <a:off x="2670013" y="3146163"/>
            <a:ext cx="96300" cy="377100"/>
          </a:xfrm>
          <a:prstGeom prst="curvedConnector3">
            <a:avLst>
              <a:gd fmla="val 49953" name="adj1"/>
            </a:avLst>
          </a:prstGeom>
          <a:noFill/>
          <a:ln cap="flat" cmpd="sng" w="173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7" name="Google Shape;47;g3c89c144ce9_0_11"/>
          <p:cNvSpPr/>
          <p:nvPr/>
        </p:nvSpPr>
        <p:spPr>
          <a:xfrm>
            <a:off x="98775" y="3058015"/>
            <a:ext cx="564300" cy="564300"/>
          </a:xfrm>
          <a:prstGeom prst="roundRect">
            <a:avLst>
              <a:gd fmla="val 16667" name="adj"/>
            </a:avLst>
          </a:prstGeom>
          <a:solidFill>
            <a:srgbClr val="C9E9C7"/>
          </a:solidFill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0"/>
              <a:buFont typeface="Arial"/>
              <a:buNone/>
            </a:pPr>
            <a:r>
              <a:rPr b="0" i="0" lang="en" sz="219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b="0" baseline="-25000" i="0" lang="en" sz="219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baseline="-25000" i="0" sz="21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g3c89c144ce9_0_11"/>
          <p:cNvSpPr/>
          <p:nvPr/>
        </p:nvSpPr>
        <p:spPr>
          <a:xfrm>
            <a:off x="1385977" y="3393725"/>
            <a:ext cx="189900" cy="266700"/>
          </a:xfrm>
          <a:prstGeom prst="rect">
            <a:avLst/>
          </a:prstGeom>
          <a:noFill/>
          <a:ln cap="flat" cmpd="sng" w="173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t/>
            </a:r>
            <a:endParaRPr b="0" i="0" sz="12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" name="Google Shape;49;g3c89c144ce9_0_11"/>
          <p:cNvCxnSpPr>
            <a:stCxn id="47" idx="3"/>
            <a:endCxn id="48" idx="2"/>
          </p:cNvCxnSpPr>
          <p:nvPr/>
        </p:nvCxnSpPr>
        <p:spPr>
          <a:xfrm>
            <a:off x="663075" y="3340165"/>
            <a:ext cx="817800" cy="320400"/>
          </a:xfrm>
          <a:prstGeom prst="curvedConnector4">
            <a:avLst>
              <a:gd fmla="val 44198" name="adj1"/>
              <a:gd fmla="val 174277" name="adj2"/>
            </a:avLst>
          </a:prstGeom>
          <a:noFill/>
          <a:ln cap="flat" cmpd="sng" w="173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0" name="Google Shape;50;g3c89c144ce9_0_11"/>
          <p:cNvSpPr/>
          <p:nvPr/>
        </p:nvSpPr>
        <p:spPr>
          <a:xfrm>
            <a:off x="1191039" y="4237568"/>
            <a:ext cx="325500" cy="266700"/>
          </a:xfrm>
          <a:prstGeom prst="rect">
            <a:avLst/>
          </a:prstGeom>
          <a:noFill/>
          <a:ln cap="flat" cmpd="sng" w="1737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t/>
            </a:r>
            <a:endParaRPr b="0" i="0" sz="12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g3c89c144ce9_0_11"/>
          <p:cNvSpPr/>
          <p:nvPr/>
        </p:nvSpPr>
        <p:spPr>
          <a:xfrm>
            <a:off x="1827606" y="3393713"/>
            <a:ext cx="325500" cy="266700"/>
          </a:xfrm>
          <a:prstGeom prst="rect">
            <a:avLst/>
          </a:prstGeom>
          <a:noFill/>
          <a:ln cap="flat" cmpd="sng" w="1737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t/>
            </a:r>
            <a:endParaRPr b="0" i="0" sz="12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" name="Google Shape;52;g3c89c144ce9_0_11"/>
          <p:cNvCxnSpPr>
            <a:endCxn id="51" idx="2"/>
          </p:cNvCxnSpPr>
          <p:nvPr/>
        </p:nvCxnSpPr>
        <p:spPr>
          <a:xfrm flipH="1" rot="10800000">
            <a:off x="1354956" y="3660413"/>
            <a:ext cx="635400" cy="577200"/>
          </a:xfrm>
          <a:prstGeom prst="curvedConnector2">
            <a:avLst/>
          </a:prstGeom>
          <a:noFill/>
          <a:ln cap="flat" cmpd="sng" w="17375">
            <a:solidFill>
              <a:srgbClr val="F1C23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3" name="Google Shape;53;g3c89c144ce9_0_11"/>
          <p:cNvSpPr/>
          <p:nvPr/>
        </p:nvSpPr>
        <p:spPr>
          <a:xfrm>
            <a:off x="3509409" y="2775163"/>
            <a:ext cx="2460000" cy="1093200"/>
          </a:xfrm>
          <a:prstGeom prst="roundRect">
            <a:avLst>
              <a:gd fmla="val 16667" name="adj"/>
            </a:avLst>
          </a:prstGeom>
          <a:solidFill>
            <a:srgbClr val="C3DAE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softmax(b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h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2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t/>
            </a:r>
            <a:endParaRPr b="0" i="0" sz="12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tanh(h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ex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b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= h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g3c89c144ce9_0_11"/>
          <p:cNvSpPr/>
          <p:nvPr/>
        </p:nvSpPr>
        <p:spPr>
          <a:xfrm>
            <a:off x="3655627" y="4115789"/>
            <a:ext cx="2167500" cy="4803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embeddings[xt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 </a:t>
            </a:r>
            <a:endParaRPr b="0" i="0" sz="12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g3c89c144ce9_0_11"/>
          <p:cNvSpPr/>
          <p:nvPr/>
        </p:nvSpPr>
        <p:spPr>
          <a:xfrm>
            <a:off x="3886454" y="3019955"/>
            <a:ext cx="229200" cy="266700"/>
          </a:xfrm>
          <a:prstGeom prst="rect">
            <a:avLst/>
          </a:prstGeom>
          <a:noFill/>
          <a:ln cap="flat" cmpd="sng" w="173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t/>
            </a:r>
            <a:endParaRPr b="0" i="0" sz="12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" name="Google Shape;56;g3c89c144ce9_0_11"/>
          <p:cNvCxnSpPr>
            <a:stCxn id="55" idx="0"/>
            <a:endCxn id="57" idx="2"/>
          </p:cNvCxnSpPr>
          <p:nvPr/>
        </p:nvCxnSpPr>
        <p:spPr>
          <a:xfrm rot="-5400000">
            <a:off x="4106654" y="2406455"/>
            <a:ext cx="507900" cy="719100"/>
          </a:xfrm>
          <a:prstGeom prst="curvedConnector3">
            <a:avLst>
              <a:gd fmla="val 50008" name="adj1"/>
            </a:avLst>
          </a:prstGeom>
          <a:noFill/>
          <a:ln cap="flat" cmpd="sng" w="17375">
            <a:solidFill>
              <a:srgbClr val="E0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8" name="Google Shape;58;g3c89c144ce9_0_11"/>
          <p:cNvSpPr/>
          <p:nvPr/>
        </p:nvSpPr>
        <p:spPr>
          <a:xfrm>
            <a:off x="5547557" y="3393713"/>
            <a:ext cx="189900" cy="266700"/>
          </a:xfrm>
          <a:prstGeom prst="rect">
            <a:avLst/>
          </a:prstGeom>
          <a:noFill/>
          <a:ln cap="flat" cmpd="sng" w="173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t/>
            </a:r>
            <a:endParaRPr b="0" i="0" sz="12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g3c89c144ce9_0_11"/>
          <p:cNvSpPr/>
          <p:nvPr/>
        </p:nvSpPr>
        <p:spPr>
          <a:xfrm>
            <a:off x="5170447" y="3019955"/>
            <a:ext cx="174900" cy="266700"/>
          </a:xfrm>
          <a:prstGeom prst="rect">
            <a:avLst/>
          </a:prstGeom>
          <a:noFill/>
          <a:ln cap="flat" cmpd="sng" w="173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t/>
            </a:r>
            <a:endParaRPr b="0" i="0" sz="12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" name="Google Shape;60;g3c89c144ce9_0_11"/>
          <p:cNvCxnSpPr>
            <a:stCxn id="58" idx="0"/>
            <a:endCxn id="59" idx="2"/>
          </p:cNvCxnSpPr>
          <p:nvPr/>
        </p:nvCxnSpPr>
        <p:spPr>
          <a:xfrm flipH="1" rot="5400000">
            <a:off x="5396657" y="3147863"/>
            <a:ext cx="107100" cy="384600"/>
          </a:xfrm>
          <a:prstGeom prst="curvedConnector3">
            <a:avLst>
              <a:gd fmla="val 49981" name="adj1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1" name="Google Shape;61;g3c89c144ce9_0_11"/>
          <p:cNvSpPr/>
          <p:nvPr/>
        </p:nvSpPr>
        <p:spPr>
          <a:xfrm>
            <a:off x="4115656" y="3393713"/>
            <a:ext cx="174900" cy="266700"/>
          </a:xfrm>
          <a:prstGeom prst="rect">
            <a:avLst/>
          </a:prstGeom>
          <a:noFill/>
          <a:ln cap="flat" cmpd="sng" w="173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t/>
            </a:r>
            <a:endParaRPr b="0" i="0" sz="12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g3c89c144ce9_0_11"/>
          <p:cNvSpPr/>
          <p:nvPr/>
        </p:nvSpPr>
        <p:spPr>
          <a:xfrm>
            <a:off x="3930351" y="4237575"/>
            <a:ext cx="303600" cy="266700"/>
          </a:xfrm>
          <a:prstGeom prst="rect">
            <a:avLst/>
          </a:prstGeom>
          <a:noFill/>
          <a:ln cap="flat" cmpd="sng" w="1737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t/>
            </a:r>
            <a:endParaRPr b="0" i="0" sz="12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g3c89c144ce9_0_11"/>
          <p:cNvSpPr/>
          <p:nvPr/>
        </p:nvSpPr>
        <p:spPr>
          <a:xfrm>
            <a:off x="4588400" y="3393725"/>
            <a:ext cx="263400" cy="266700"/>
          </a:xfrm>
          <a:prstGeom prst="rect">
            <a:avLst/>
          </a:prstGeom>
          <a:noFill/>
          <a:ln cap="flat" cmpd="sng" w="1737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t/>
            </a:r>
            <a:endParaRPr b="0" i="0" sz="12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" name="Google Shape;64;g3c89c144ce9_0_11"/>
          <p:cNvCxnSpPr>
            <a:endCxn id="63" idx="2"/>
          </p:cNvCxnSpPr>
          <p:nvPr/>
        </p:nvCxnSpPr>
        <p:spPr>
          <a:xfrm flipH="1" rot="10800000">
            <a:off x="4084700" y="3660425"/>
            <a:ext cx="635400" cy="577200"/>
          </a:xfrm>
          <a:prstGeom prst="curvedConnector2">
            <a:avLst/>
          </a:prstGeom>
          <a:noFill/>
          <a:ln cap="flat" cmpd="sng" w="17375">
            <a:solidFill>
              <a:srgbClr val="F1C23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5" name="Google Shape;65;g3c89c144ce9_0_11"/>
          <p:cNvCxnSpPr>
            <a:stCxn id="44" idx="3"/>
            <a:endCxn id="61" idx="2"/>
          </p:cNvCxnSpPr>
          <p:nvPr/>
        </p:nvCxnSpPr>
        <p:spPr>
          <a:xfrm>
            <a:off x="3001663" y="3516213"/>
            <a:ext cx="1201500" cy="144300"/>
          </a:xfrm>
          <a:prstGeom prst="curvedConnector4">
            <a:avLst>
              <a:gd fmla="val 46358" name="adj1"/>
              <a:gd fmla="val 264951" name="adj2"/>
            </a:avLst>
          </a:prstGeom>
          <a:noFill/>
          <a:ln cap="flat" cmpd="sng" w="173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6" name="Google Shape;66;g3c89c144ce9_0_11"/>
          <p:cNvSpPr/>
          <p:nvPr/>
        </p:nvSpPr>
        <p:spPr>
          <a:xfrm>
            <a:off x="6585234" y="2775163"/>
            <a:ext cx="2460000" cy="1093200"/>
          </a:xfrm>
          <a:prstGeom prst="roundRect">
            <a:avLst>
              <a:gd fmla="val 16667" name="adj"/>
            </a:avLst>
          </a:prstGeom>
          <a:solidFill>
            <a:srgbClr val="C3DAE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softmax(b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h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t-1</a:t>
            </a: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2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t/>
            </a:r>
            <a:endParaRPr b="0" i="0" sz="12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tanh(h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t-</a:t>
            </a:r>
            <a:r>
              <a:rPr baseline="-25000" lang="en" sz="1277"/>
              <a:t>2</a:t>
            </a: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ex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t-1</a:t>
            </a: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b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= h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t-1</a:t>
            </a:r>
            <a:endParaRPr b="0" i="0" sz="12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g3c89c144ce9_0_11"/>
          <p:cNvSpPr/>
          <p:nvPr/>
        </p:nvSpPr>
        <p:spPr>
          <a:xfrm>
            <a:off x="6731452" y="4115789"/>
            <a:ext cx="2167500" cy="4803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t-1 </a:t>
            </a: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embeddings[xt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t-1</a:t>
            </a: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 </a:t>
            </a:r>
            <a:endParaRPr b="0" i="0" sz="12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g3c89c144ce9_0_11"/>
          <p:cNvSpPr/>
          <p:nvPr/>
        </p:nvSpPr>
        <p:spPr>
          <a:xfrm>
            <a:off x="6922175" y="3019950"/>
            <a:ext cx="207900" cy="266700"/>
          </a:xfrm>
          <a:prstGeom prst="rect">
            <a:avLst/>
          </a:prstGeom>
          <a:noFill/>
          <a:ln cap="flat" cmpd="sng" w="173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t/>
            </a:r>
            <a:endParaRPr b="0" i="0" sz="12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" name="Google Shape;69;g3c89c144ce9_0_11"/>
          <p:cNvCxnSpPr>
            <a:stCxn id="68" idx="0"/>
            <a:endCxn id="70" idx="2"/>
          </p:cNvCxnSpPr>
          <p:nvPr/>
        </p:nvCxnSpPr>
        <p:spPr>
          <a:xfrm rot="-5400000">
            <a:off x="7166675" y="2371500"/>
            <a:ext cx="507900" cy="789000"/>
          </a:xfrm>
          <a:prstGeom prst="curvedConnector3">
            <a:avLst>
              <a:gd fmla="val 50007" name="adj1"/>
            </a:avLst>
          </a:prstGeom>
          <a:noFill/>
          <a:ln cap="flat" cmpd="sng" w="17375">
            <a:solidFill>
              <a:srgbClr val="E0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1" name="Google Shape;71;g3c89c144ce9_0_11"/>
          <p:cNvSpPr/>
          <p:nvPr/>
        </p:nvSpPr>
        <p:spPr>
          <a:xfrm>
            <a:off x="8643024" y="3393725"/>
            <a:ext cx="229200" cy="266700"/>
          </a:xfrm>
          <a:prstGeom prst="rect">
            <a:avLst/>
          </a:prstGeom>
          <a:noFill/>
          <a:ln cap="flat" cmpd="sng" w="173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t/>
            </a:r>
            <a:endParaRPr b="0" i="0" sz="12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g3c89c144ce9_0_11"/>
          <p:cNvSpPr/>
          <p:nvPr/>
        </p:nvSpPr>
        <p:spPr>
          <a:xfrm>
            <a:off x="8189501" y="3017025"/>
            <a:ext cx="237900" cy="266700"/>
          </a:xfrm>
          <a:prstGeom prst="rect">
            <a:avLst/>
          </a:prstGeom>
          <a:noFill/>
          <a:ln cap="flat" cmpd="sng" w="173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t/>
            </a:r>
            <a:endParaRPr b="0" i="0" sz="12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" name="Google Shape;73;g3c89c144ce9_0_11"/>
          <p:cNvCxnSpPr>
            <a:stCxn id="71" idx="0"/>
            <a:endCxn id="72" idx="2"/>
          </p:cNvCxnSpPr>
          <p:nvPr/>
        </p:nvCxnSpPr>
        <p:spPr>
          <a:xfrm flipH="1" rot="5400000">
            <a:off x="8478024" y="3114125"/>
            <a:ext cx="110100" cy="449100"/>
          </a:xfrm>
          <a:prstGeom prst="curvedConnector3">
            <a:avLst>
              <a:gd fmla="val 49955" name="adj1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4" name="Google Shape;74;g3c89c144ce9_0_11"/>
          <p:cNvSpPr/>
          <p:nvPr/>
        </p:nvSpPr>
        <p:spPr>
          <a:xfrm>
            <a:off x="7081825" y="3389975"/>
            <a:ext cx="263400" cy="274200"/>
          </a:xfrm>
          <a:prstGeom prst="rect">
            <a:avLst/>
          </a:prstGeom>
          <a:noFill/>
          <a:ln cap="flat" cmpd="sng" w="173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t/>
            </a:r>
            <a:endParaRPr b="0" i="0" sz="12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g3c89c144ce9_0_11"/>
          <p:cNvSpPr/>
          <p:nvPr/>
        </p:nvSpPr>
        <p:spPr>
          <a:xfrm>
            <a:off x="6961707" y="4237568"/>
            <a:ext cx="325500" cy="266700"/>
          </a:xfrm>
          <a:prstGeom prst="rect">
            <a:avLst/>
          </a:prstGeom>
          <a:noFill/>
          <a:ln cap="flat" cmpd="sng" w="1737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t/>
            </a:r>
            <a:endParaRPr b="0" i="0" sz="12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g3c89c144ce9_0_11"/>
          <p:cNvSpPr/>
          <p:nvPr/>
        </p:nvSpPr>
        <p:spPr>
          <a:xfrm>
            <a:off x="7634251" y="3393725"/>
            <a:ext cx="294000" cy="266700"/>
          </a:xfrm>
          <a:prstGeom prst="rect">
            <a:avLst/>
          </a:prstGeom>
          <a:noFill/>
          <a:ln cap="flat" cmpd="sng" w="1737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t/>
            </a:r>
            <a:endParaRPr b="0" i="0" sz="12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" name="Google Shape;77;g3c89c144ce9_0_11"/>
          <p:cNvCxnSpPr>
            <a:endCxn id="76" idx="2"/>
          </p:cNvCxnSpPr>
          <p:nvPr/>
        </p:nvCxnSpPr>
        <p:spPr>
          <a:xfrm flipH="1" rot="10800000">
            <a:off x="7145851" y="3660425"/>
            <a:ext cx="635400" cy="577200"/>
          </a:xfrm>
          <a:prstGeom prst="curvedConnector2">
            <a:avLst/>
          </a:prstGeom>
          <a:noFill/>
          <a:ln cap="flat" cmpd="sng" w="17375">
            <a:solidFill>
              <a:srgbClr val="F1C23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8" name="Google Shape;78;g3c89c144ce9_0_11"/>
          <p:cNvCxnSpPr>
            <a:stCxn id="58" idx="3"/>
            <a:endCxn id="74" idx="2"/>
          </p:cNvCxnSpPr>
          <p:nvPr/>
        </p:nvCxnSpPr>
        <p:spPr>
          <a:xfrm>
            <a:off x="5737457" y="3527063"/>
            <a:ext cx="1476000" cy="137100"/>
          </a:xfrm>
          <a:prstGeom prst="curvedConnector4">
            <a:avLst>
              <a:gd fmla="val 45541" name="adj1"/>
              <a:gd fmla="val 273696" name="adj2"/>
            </a:avLst>
          </a:prstGeom>
          <a:noFill/>
          <a:ln cap="flat" cmpd="sng" w="17375">
            <a:solidFill>
              <a:srgbClr val="6AA84F"/>
            </a:solidFill>
            <a:prstDash val="dashDot"/>
            <a:round/>
            <a:headEnd len="sm" w="sm" type="none"/>
            <a:tailEnd len="med" w="med" type="triangle"/>
          </a:ln>
        </p:spPr>
      </p:cxnSp>
      <p:sp>
        <p:nvSpPr>
          <p:cNvPr id="79" name="Google Shape;79;g3c89c144ce9_0_11"/>
          <p:cNvSpPr/>
          <p:nvPr/>
        </p:nvSpPr>
        <p:spPr>
          <a:xfrm>
            <a:off x="3466400" y="5051475"/>
            <a:ext cx="2507400" cy="4803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[xt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xt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…, xt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t-1</a:t>
            </a: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tokenizer(X) </a:t>
            </a:r>
            <a:endParaRPr b="0" i="0" sz="12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g3c89c144ce9_0_11"/>
          <p:cNvSpPr/>
          <p:nvPr/>
        </p:nvSpPr>
        <p:spPr>
          <a:xfrm>
            <a:off x="3666950" y="5142075"/>
            <a:ext cx="263400" cy="299100"/>
          </a:xfrm>
          <a:prstGeom prst="rect">
            <a:avLst/>
          </a:prstGeom>
          <a:noFill/>
          <a:ln cap="flat" cmpd="sng" w="19050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g3c89c144ce9_0_11"/>
          <p:cNvSpPr/>
          <p:nvPr/>
        </p:nvSpPr>
        <p:spPr>
          <a:xfrm>
            <a:off x="3943950" y="5142075"/>
            <a:ext cx="229200" cy="299100"/>
          </a:xfrm>
          <a:prstGeom prst="rect">
            <a:avLst/>
          </a:prstGeom>
          <a:noFill/>
          <a:ln cap="flat" cmpd="sng" w="19050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g3c89c144ce9_0_11"/>
          <p:cNvSpPr/>
          <p:nvPr/>
        </p:nvSpPr>
        <p:spPr>
          <a:xfrm>
            <a:off x="4460600" y="5142075"/>
            <a:ext cx="263400" cy="299100"/>
          </a:xfrm>
          <a:prstGeom prst="rect">
            <a:avLst/>
          </a:prstGeom>
          <a:noFill/>
          <a:ln cap="flat" cmpd="sng" w="19050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g3c89c144ce9_0_11"/>
          <p:cNvSpPr/>
          <p:nvPr/>
        </p:nvSpPr>
        <p:spPr>
          <a:xfrm>
            <a:off x="2540850" y="4221375"/>
            <a:ext cx="229200" cy="299100"/>
          </a:xfrm>
          <a:prstGeom prst="rect">
            <a:avLst/>
          </a:prstGeom>
          <a:noFill/>
          <a:ln cap="flat" cmpd="sng" w="19050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g3c89c144ce9_0_11"/>
          <p:cNvSpPr/>
          <p:nvPr/>
        </p:nvSpPr>
        <p:spPr>
          <a:xfrm>
            <a:off x="5257750" y="4206400"/>
            <a:ext cx="229200" cy="299100"/>
          </a:xfrm>
          <a:prstGeom prst="rect">
            <a:avLst/>
          </a:prstGeom>
          <a:noFill/>
          <a:ln cap="flat" cmpd="sng" w="19050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g3c89c144ce9_0_11"/>
          <p:cNvSpPr/>
          <p:nvPr/>
        </p:nvSpPr>
        <p:spPr>
          <a:xfrm>
            <a:off x="8333225" y="4206400"/>
            <a:ext cx="294000" cy="299100"/>
          </a:xfrm>
          <a:prstGeom prst="rect">
            <a:avLst/>
          </a:prstGeom>
          <a:noFill/>
          <a:ln cap="flat" cmpd="sng" w="19050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" name="Google Shape;86;g3c89c144ce9_0_11"/>
          <p:cNvCxnSpPr>
            <a:stCxn id="80" idx="0"/>
            <a:endCxn id="83" idx="2"/>
          </p:cNvCxnSpPr>
          <p:nvPr/>
        </p:nvCxnSpPr>
        <p:spPr>
          <a:xfrm flipH="1" rot="5400000">
            <a:off x="2916200" y="4259625"/>
            <a:ext cx="621600" cy="11433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rgbClr val="8E7CC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7" name="Google Shape;87;g3c89c144ce9_0_11"/>
          <p:cNvCxnSpPr>
            <a:stCxn id="81" idx="0"/>
            <a:endCxn id="84" idx="2"/>
          </p:cNvCxnSpPr>
          <p:nvPr/>
        </p:nvCxnSpPr>
        <p:spPr>
          <a:xfrm rot="-5400000">
            <a:off x="4397100" y="4166925"/>
            <a:ext cx="636600" cy="1313700"/>
          </a:xfrm>
          <a:prstGeom prst="curvedConnector3">
            <a:avLst>
              <a:gd fmla="val 49998" name="adj1"/>
            </a:avLst>
          </a:prstGeom>
          <a:noFill/>
          <a:ln cap="flat" cmpd="sng" w="19050">
            <a:solidFill>
              <a:srgbClr val="8E7CC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8" name="Google Shape;88;g3c89c144ce9_0_11"/>
          <p:cNvCxnSpPr>
            <a:stCxn id="82" idx="0"/>
            <a:endCxn id="85" idx="2"/>
          </p:cNvCxnSpPr>
          <p:nvPr/>
        </p:nvCxnSpPr>
        <p:spPr>
          <a:xfrm rot="-5400000">
            <a:off x="6218000" y="2879775"/>
            <a:ext cx="636600" cy="3888000"/>
          </a:xfrm>
          <a:prstGeom prst="curvedConnector3">
            <a:avLst>
              <a:gd fmla="val 49998" name="adj1"/>
            </a:avLst>
          </a:prstGeom>
          <a:noFill/>
          <a:ln cap="flat" cmpd="sng" w="19050">
            <a:solidFill>
              <a:srgbClr val="8E7CC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9" name="Google Shape;89;g3c89c144ce9_0_11"/>
          <p:cNvSpPr/>
          <p:nvPr/>
        </p:nvSpPr>
        <p:spPr>
          <a:xfrm>
            <a:off x="3485675" y="5987150"/>
            <a:ext cx="2507400" cy="4803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= “I like cute kittens and”</a:t>
            </a:r>
            <a:endParaRPr b="0" i="0" sz="12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c89c144ce9_0_11"/>
          <p:cNvSpPr/>
          <p:nvPr/>
        </p:nvSpPr>
        <p:spPr>
          <a:xfrm>
            <a:off x="3714754" y="6093955"/>
            <a:ext cx="229200" cy="266700"/>
          </a:xfrm>
          <a:prstGeom prst="rect">
            <a:avLst/>
          </a:prstGeom>
          <a:noFill/>
          <a:ln cap="flat" cmpd="sng" w="17375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t/>
            </a:r>
            <a:endParaRPr b="0" i="0" sz="12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c89c144ce9_0_11"/>
          <p:cNvSpPr/>
          <p:nvPr/>
        </p:nvSpPr>
        <p:spPr>
          <a:xfrm>
            <a:off x="5578325" y="5176125"/>
            <a:ext cx="244800" cy="231000"/>
          </a:xfrm>
          <a:prstGeom prst="rect">
            <a:avLst/>
          </a:prstGeom>
          <a:noFill/>
          <a:ln cap="flat" cmpd="sng" w="17375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t/>
            </a:r>
            <a:endParaRPr b="0" i="0" sz="12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2" name="Google Shape;92;g3c89c144ce9_0_11"/>
          <p:cNvCxnSpPr>
            <a:stCxn id="90" idx="0"/>
            <a:endCxn id="91" idx="2"/>
          </p:cNvCxnSpPr>
          <p:nvPr/>
        </p:nvCxnSpPr>
        <p:spPr>
          <a:xfrm rot="-5400000">
            <a:off x="4421704" y="4814905"/>
            <a:ext cx="686700" cy="1871400"/>
          </a:xfrm>
          <a:prstGeom prst="curvedConnector3">
            <a:avLst>
              <a:gd fmla="val 50009" name="adj1"/>
            </a:avLst>
          </a:prstGeom>
          <a:noFill/>
          <a:ln cap="flat" cmpd="sng" w="19050">
            <a:solidFill>
              <a:srgbClr val="CC412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7" name="Google Shape;57;g3c89c144ce9_0_11"/>
          <p:cNvSpPr/>
          <p:nvPr/>
        </p:nvSpPr>
        <p:spPr>
          <a:xfrm>
            <a:off x="3589100" y="2245275"/>
            <a:ext cx="2262000" cy="266700"/>
          </a:xfrm>
          <a:prstGeom prst="roundRect">
            <a:avLst>
              <a:gd fmla="val 16667" name="adj"/>
            </a:avLst>
          </a:prstGeom>
          <a:solidFill>
            <a:srgbClr val="F9C9C5"/>
          </a:solidFill>
          <a:ln cap="flat" cmpd="sng" w="1905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&lt;0.11, 0.16, 0.13, 0.21, 0.10, 0.08, 0.07, 0.06, 0.05, 0.03&gt;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g3c89c144ce9_0_11"/>
          <p:cNvSpPr/>
          <p:nvPr/>
        </p:nvSpPr>
        <p:spPr>
          <a:xfrm>
            <a:off x="6684200" y="2245275"/>
            <a:ext cx="2262000" cy="266700"/>
          </a:xfrm>
          <a:prstGeom prst="roundRect">
            <a:avLst>
              <a:gd fmla="val 16667" name="adj"/>
            </a:avLst>
          </a:prstGeom>
          <a:solidFill>
            <a:srgbClr val="F9C9C5"/>
          </a:solidFill>
          <a:ln cap="flat" cmpd="sng" w="1905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&lt;0.07, 0.15, 0.14, 0.10, 0.09, 0.08, 0.25, 0.05, 0.04, 0.03&gt;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3c89c144ce9_0_11"/>
          <p:cNvSpPr txBox="1"/>
          <p:nvPr>
            <p:ph type="title"/>
          </p:nvPr>
        </p:nvSpPr>
        <p:spPr>
          <a:xfrm>
            <a:off x="170650" y="161375"/>
            <a:ext cx="33150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2400"/>
              <a:t>Recurrent Neural 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2400"/>
              <a:t>Networks - Training</a:t>
            </a:r>
            <a:endParaRPr sz="2400"/>
          </a:p>
        </p:txBody>
      </p:sp>
      <p:sp>
        <p:nvSpPr>
          <p:cNvPr id="94" name="Google Shape;94;g3c89c144ce9_0_11"/>
          <p:cNvSpPr/>
          <p:nvPr/>
        </p:nvSpPr>
        <p:spPr>
          <a:xfrm>
            <a:off x="6096850" y="2775175"/>
            <a:ext cx="384600" cy="1820700"/>
          </a:xfrm>
          <a:prstGeom prst="roundRect">
            <a:avLst>
              <a:gd fmla="val 16667" name="adj"/>
            </a:avLst>
          </a:prstGeom>
          <a:solidFill>
            <a:srgbClr val="C3DAEC"/>
          </a:solidFill>
          <a:ln cap="flat" cmpd="sng" w="19050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3c89c144ce9_0_11"/>
          <p:cNvSpPr/>
          <p:nvPr/>
        </p:nvSpPr>
        <p:spPr>
          <a:xfrm>
            <a:off x="4202275" y="5142075"/>
            <a:ext cx="229200" cy="299100"/>
          </a:xfrm>
          <a:prstGeom prst="rect">
            <a:avLst/>
          </a:prstGeom>
          <a:noFill/>
          <a:ln cap="flat" cmpd="sng" w="19050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6" name="Google Shape;96;g3c89c144ce9_0_11"/>
          <p:cNvCxnSpPr>
            <a:stCxn id="95" idx="0"/>
            <a:endCxn id="94" idx="2"/>
          </p:cNvCxnSpPr>
          <p:nvPr/>
        </p:nvCxnSpPr>
        <p:spPr>
          <a:xfrm rot="-5400000">
            <a:off x="5029825" y="3882825"/>
            <a:ext cx="546300" cy="1972200"/>
          </a:xfrm>
          <a:prstGeom prst="curvedConnector3">
            <a:avLst>
              <a:gd fmla="val 49991" name="adj1"/>
            </a:avLst>
          </a:prstGeom>
          <a:noFill/>
          <a:ln cap="flat" cmpd="sng" w="19050">
            <a:solidFill>
              <a:srgbClr val="3D85C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7" name="Google Shape;97;g3c89c144ce9_0_11"/>
          <p:cNvSpPr/>
          <p:nvPr/>
        </p:nvSpPr>
        <p:spPr>
          <a:xfrm>
            <a:off x="6049600" y="2244375"/>
            <a:ext cx="479100" cy="270900"/>
          </a:xfrm>
          <a:prstGeom prst="roundRect">
            <a:avLst>
              <a:gd fmla="val 16667" name="adj"/>
            </a:avLst>
          </a:prstGeom>
          <a:solidFill>
            <a:srgbClr val="F9C9C5"/>
          </a:solidFill>
          <a:ln cap="flat" cmpd="sng" w="19050">
            <a:solidFill>
              <a:srgbClr val="E1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rPr lang="en" sz="600"/>
              <a:t>&lt;</a:t>
            </a:r>
            <a:r>
              <a:rPr b="0" i="0" lang="en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...</a:t>
            </a:r>
            <a:r>
              <a:rPr lang="en" sz="600"/>
              <a:t>&gt;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g3c89c144ce9_0_11"/>
          <p:cNvCxnSpPr>
            <a:stCxn id="94" idx="0"/>
            <a:endCxn id="97" idx="2"/>
          </p:cNvCxnSpPr>
          <p:nvPr/>
        </p:nvCxnSpPr>
        <p:spPr>
          <a:xfrm rot="-5400000">
            <a:off x="6159550" y="2644975"/>
            <a:ext cx="259800" cy="600"/>
          </a:xfrm>
          <a:prstGeom prst="curvedConnector3">
            <a:avLst>
              <a:gd fmla="val 50019" name="adj1"/>
            </a:avLst>
          </a:prstGeom>
          <a:noFill/>
          <a:ln cap="flat" cmpd="sng" w="19050">
            <a:solidFill>
              <a:srgbClr val="3D85C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9" name="Google Shape;99;g3c89c144ce9_0_11"/>
          <p:cNvSpPr/>
          <p:nvPr/>
        </p:nvSpPr>
        <p:spPr>
          <a:xfrm>
            <a:off x="4216550" y="652225"/>
            <a:ext cx="754500" cy="3297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rgbClr val="69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“like”</a:t>
            </a:r>
            <a:endParaRPr b="0" i="0" sz="12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c89c144ce9_0_11"/>
          <p:cNvSpPr/>
          <p:nvPr/>
        </p:nvSpPr>
        <p:spPr>
          <a:xfrm>
            <a:off x="5021250" y="652225"/>
            <a:ext cx="754500" cy="3297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rgbClr val="69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“cute”</a:t>
            </a:r>
            <a:endParaRPr b="0" i="0" sz="12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3c89c144ce9_0_11"/>
          <p:cNvSpPr/>
          <p:nvPr/>
        </p:nvSpPr>
        <p:spPr>
          <a:xfrm>
            <a:off x="6355250" y="652225"/>
            <a:ext cx="877800" cy="3297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rgbClr val="69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" sz="1277"/>
              <a:t>and</a:t>
            </a: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b="0" i="0" sz="12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3c89c144ce9_0_11"/>
          <p:cNvSpPr/>
          <p:nvPr/>
        </p:nvSpPr>
        <p:spPr>
          <a:xfrm>
            <a:off x="5825950" y="652225"/>
            <a:ext cx="479100" cy="3297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rgbClr val="69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“...”</a:t>
            </a:r>
            <a:endParaRPr b="0" i="0" sz="12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c89c144ce9_0_11"/>
          <p:cNvSpPr txBox="1"/>
          <p:nvPr/>
        </p:nvSpPr>
        <p:spPr>
          <a:xfrm>
            <a:off x="-67925" y="2245275"/>
            <a:ext cx="937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Predicted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04" name="Google Shape;104;g3c89c144ce9_0_11"/>
          <p:cNvSpPr txBox="1"/>
          <p:nvPr/>
        </p:nvSpPr>
        <p:spPr>
          <a:xfrm>
            <a:off x="-67925" y="1486425"/>
            <a:ext cx="937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Expected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05" name="Google Shape;105;g3c89c144ce9_0_11"/>
          <p:cNvSpPr/>
          <p:nvPr/>
        </p:nvSpPr>
        <p:spPr>
          <a:xfrm>
            <a:off x="887775" y="1486413"/>
            <a:ext cx="2262000" cy="2667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69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" sz="600">
                <a:solidFill>
                  <a:schemeClr val="dk1"/>
                </a:solidFill>
              </a:rPr>
              <a:t>1.00</a:t>
            </a:r>
            <a:r>
              <a:rPr b="0" i="0" lang="en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0.</a:t>
            </a:r>
            <a:r>
              <a:rPr lang="en" sz="600">
                <a:solidFill>
                  <a:schemeClr val="dk1"/>
                </a:solidFill>
              </a:rPr>
              <a:t>00</a:t>
            </a:r>
            <a:r>
              <a:rPr b="0" i="0" lang="en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0.</a:t>
            </a:r>
            <a:r>
              <a:rPr lang="en" sz="600">
                <a:solidFill>
                  <a:schemeClr val="dk1"/>
                </a:solidFill>
              </a:rPr>
              <a:t>00</a:t>
            </a:r>
            <a:r>
              <a:rPr b="0" i="0" lang="en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0.</a:t>
            </a:r>
            <a:r>
              <a:rPr lang="en" sz="600">
                <a:solidFill>
                  <a:schemeClr val="dk1"/>
                </a:solidFill>
              </a:rPr>
              <a:t>00</a:t>
            </a:r>
            <a:r>
              <a:rPr b="0" i="0" lang="en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0.00, 0.0</a:t>
            </a:r>
            <a:r>
              <a:rPr lang="en" sz="600">
                <a:solidFill>
                  <a:schemeClr val="dk1"/>
                </a:solidFill>
              </a:rPr>
              <a:t>0</a:t>
            </a:r>
            <a:r>
              <a:rPr b="0" i="0" lang="en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0.0</a:t>
            </a:r>
            <a:r>
              <a:rPr lang="en" sz="600">
                <a:solidFill>
                  <a:schemeClr val="dk1"/>
                </a:solidFill>
              </a:rPr>
              <a:t>0</a:t>
            </a:r>
            <a:r>
              <a:rPr b="0" i="0" lang="en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0.0</a:t>
            </a:r>
            <a:r>
              <a:rPr lang="en" sz="600">
                <a:solidFill>
                  <a:schemeClr val="dk1"/>
                </a:solidFill>
              </a:rPr>
              <a:t>0</a:t>
            </a:r>
            <a:r>
              <a:rPr b="0" i="0" lang="en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0.0</a:t>
            </a:r>
            <a:r>
              <a:rPr lang="en" sz="600">
                <a:solidFill>
                  <a:schemeClr val="dk1"/>
                </a:solidFill>
              </a:rPr>
              <a:t>0</a:t>
            </a:r>
            <a:r>
              <a:rPr b="0" i="0" lang="en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0.0</a:t>
            </a:r>
            <a:r>
              <a:rPr lang="en" sz="600">
                <a:solidFill>
                  <a:schemeClr val="dk1"/>
                </a:solidFill>
              </a:rPr>
              <a:t>0</a:t>
            </a:r>
            <a:r>
              <a:rPr b="0" i="0" lang="en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3c89c144ce9_0_11"/>
          <p:cNvSpPr/>
          <p:nvPr/>
        </p:nvSpPr>
        <p:spPr>
          <a:xfrm>
            <a:off x="6033863" y="1471425"/>
            <a:ext cx="479100" cy="270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69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rPr lang="en" sz="600"/>
              <a:t>&lt;</a:t>
            </a:r>
            <a:r>
              <a:rPr b="0" i="0" lang="en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...</a:t>
            </a:r>
            <a:r>
              <a:rPr lang="en" sz="600"/>
              <a:t>&gt;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3c89c144ce9_0_11"/>
          <p:cNvSpPr/>
          <p:nvPr/>
        </p:nvSpPr>
        <p:spPr>
          <a:xfrm>
            <a:off x="3589075" y="1489063"/>
            <a:ext cx="2262000" cy="2667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69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" sz="600">
                <a:solidFill>
                  <a:schemeClr val="dk1"/>
                </a:solidFill>
              </a:rPr>
              <a:t>0</a:t>
            </a:r>
            <a:r>
              <a:rPr lang="en" sz="600">
                <a:solidFill>
                  <a:schemeClr val="dk1"/>
                </a:solidFill>
              </a:rPr>
              <a:t>.00</a:t>
            </a:r>
            <a:r>
              <a:rPr b="0" i="0" lang="en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0.</a:t>
            </a:r>
            <a:r>
              <a:rPr lang="en" sz="600">
                <a:solidFill>
                  <a:schemeClr val="dk1"/>
                </a:solidFill>
              </a:rPr>
              <a:t>00</a:t>
            </a:r>
            <a:r>
              <a:rPr b="0" i="0" lang="en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600">
                <a:solidFill>
                  <a:schemeClr val="dk1"/>
                </a:solidFill>
              </a:rPr>
              <a:t>1</a:t>
            </a:r>
            <a:r>
              <a:rPr b="0" i="0" lang="en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" sz="600">
                <a:solidFill>
                  <a:schemeClr val="dk1"/>
                </a:solidFill>
              </a:rPr>
              <a:t>00</a:t>
            </a:r>
            <a:r>
              <a:rPr b="0" i="0" lang="en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0.</a:t>
            </a:r>
            <a:r>
              <a:rPr lang="en" sz="600">
                <a:solidFill>
                  <a:schemeClr val="dk1"/>
                </a:solidFill>
              </a:rPr>
              <a:t>00</a:t>
            </a:r>
            <a:r>
              <a:rPr b="0" i="0" lang="en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0.00, 0.0</a:t>
            </a:r>
            <a:r>
              <a:rPr lang="en" sz="600">
                <a:solidFill>
                  <a:schemeClr val="dk1"/>
                </a:solidFill>
              </a:rPr>
              <a:t>0</a:t>
            </a:r>
            <a:r>
              <a:rPr b="0" i="0" lang="en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0.0</a:t>
            </a:r>
            <a:r>
              <a:rPr lang="en" sz="600">
                <a:solidFill>
                  <a:schemeClr val="dk1"/>
                </a:solidFill>
              </a:rPr>
              <a:t>0</a:t>
            </a:r>
            <a:r>
              <a:rPr b="0" i="0" lang="en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0.0</a:t>
            </a:r>
            <a:r>
              <a:rPr lang="en" sz="600">
                <a:solidFill>
                  <a:schemeClr val="dk1"/>
                </a:solidFill>
              </a:rPr>
              <a:t>0</a:t>
            </a:r>
            <a:r>
              <a:rPr b="0" i="0" lang="en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0.0</a:t>
            </a:r>
            <a:r>
              <a:rPr lang="en" sz="600">
                <a:solidFill>
                  <a:schemeClr val="dk1"/>
                </a:solidFill>
              </a:rPr>
              <a:t>0</a:t>
            </a:r>
            <a:r>
              <a:rPr b="0" i="0" lang="en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0.0</a:t>
            </a:r>
            <a:r>
              <a:rPr lang="en" sz="600">
                <a:solidFill>
                  <a:schemeClr val="dk1"/>
                </a:solidFill>
              </a:rPr>
              <a:t>0</a:t>
            </a:r>
            <a:r>
              <a:rPr b="0" i="0" lang="en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g3c89c144ce9_0_11"/>
          <p:cNvSpPr/>
          <p:nvPr/>
        </p:nvSpPr>
        <p:spPr>
          <a:xfrm>
            <a:off x="6684150" y="1473513"/>
            <a:ext cx="2262000" cy="2667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69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" sz="600">
                <a:solidFill>
                  <a:schemeClr val="dk1"/>
                </a:solidFill>
              </a:rPr>
              <a:t>0.00</a:t>
            </a:r>
            <a:r>
              <a:rPr b="0" i="0" lang="en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600">
                <a:solidFill>
                  <a:schemeClr val="dk1"/>
                </a:solidFill>
              </a:rPr>
              <a:t>0</a:t>
            </a:r>
            <a:r>
              <a:rPr b="0" i="0" lang="en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" sz="600">
                <a:solidFill>
                  <a:schemeClr val="dk1"/>
                </a:solidFill>
              </a:rPr>
              <a:t>00</a:t>
            </a:r>
            <a:r>
              <a:rPr b="0" i="0" lang="en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600">
                <a:solidFill>
                  <a:schemeClr val="dk1"/>
                </a:solidFill>
              </a:rPr>
              <a:t>0</a:t>
            </a:r>
            <a:r>
              <a:rPr b="0" i="0" lang="en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" sz="600">
                <a:solidFill>
                  <a:schemeClr val="dk1"/>
                </a:solidFill>
              </a:rPr>
              <a:t>00</a:t>
            </a:r>
            <a:r>
              <a:rPr b="0" i="0" lang="en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0.</a:t>
            </a:r>
            <a:r>
              <a:rPr lang="en" sz="600">
                <a:solidFill>
                  <a:schemeClr val="dk1"/>
                </a:solidFill>
              </a:rPr>
              <a:t>00</a:t>
            </a:r>
            <a:r>
              <a:rPr b="0" i="0" lang="en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0.00, 0.0</a:t>
            </a:r>
            <a:r>
              <a:rPr lang="en" sz="600">
                <a:solidFill>
                  <a:schemeClr val="dk1"/>
                </a:solidFill>
              </a:rPr>
              <a:t>0</a:t>
            </a:r>
            <a:r>
              <a:rPr b="0" i="0" lang="en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600">
                <a:solidFill>
                  <a:schemeClr val="dk1"/>
                </a:solidFill>
              </a:rPr>
              <a:t>1</a:t>
            </a:r>
            <a:r>
              <a:rPr b="0" i="0" lang="en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.0</a:t>
            </a:r>
            <a:r>
              <a:rPr lang="en" sz="600">
                <a:solidFill>
                  <a:schemeClr val="dk1"/>
                </a:solidFill>
              </a:rPr>
              <a:t>0</a:t>
            </a:r>
            <a:r>
              <a:rPr b="0" i="0" lang="en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0.0</a:t>
            </a:r>
            <a:r>
              <a:rPr lang="en" sz="600">
                <a:solidFill>
                  <a:schemeClr val="dk1"/>
                </a:solidFill>
              </a:rPr>
              <a:t>0</a:t>
            </a:r>
            <a:r>
              <a:rPr b="0" i="0" lang="en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0.0</a:t>
            </a:r>
            <a:r>
              <a:rPr lang="en" sz="600">
                <a:solidFill>
                  <a:schemeClr val="dk1"/>
                </a:solidFill>
              </a:rPr>
              <a:t>0</a:t>
            </a:r>
            <a:r>
              <a:rPr b="0" i="0" lang="en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0.0</a:t>
            </a:r>
            <a:r>
              <a:rPr lang="en" sz="600">
                <a:solidFill>
                  <a:schemeClr val="dk1"/>
                </a:solidFill>
              </a:rPr>
              <a:t>0</a:t>
            </a:r>
            <a:r>
              <a:rPr b="0" i="0" lang="en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" name="Google Shape;109;g3c89c144ce9_0_11"/>
          <p:cNvCxnSpPr>
            <a:stCxn id="99" idx="2"/>
            <a:endCxn id="105" idx="0"/>
          </p:cNvCxnSpPr>
          <p:nvPr/>
        </p:nvCxnSpPr>
        <p:spPr>
          <a:xfrm rot="5400000">
            <a:off x="3054050" y="-53225"/>
            <a:ext cx="504600" cy="2574900"/>
          </a:xfrm>
          <a:prstGeom prst="curvedConnector3">
            <a:avLst>
              <a:gd fmla="val 49989" name="adj1"/>
            </a:avLst>
          </a:prstGeom>
          <a:noFill/>
          <a:ln cap="flat" cmpd="sng" w="19050">
            <a:solidFill>
              <a:srgbClr val="69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" name="Google Shape;110;g3c89c144ce9_0_11"/>
          <p:cNvCxnSpPr>
            <a:stCxn id="100" idx="2"/>
            <a:endCxn id="107" idx="0"/>
          </p:cNvCxnSpPr>
          <p:nvPr/>
        </p:nvCxnSpPr>
        <p:spPr>
          <a:xfrm rot="5400000">
            <a:off x="4805850" y="896275"/>
            <a:ext cx="507000" cy="678300"/>
          </a:xfrm>
          <a:prstGeom prst="curvedConnector3">
            <a:avLst>
              <a:gd fmla="val 50014" name="adj1"/>
            </a:avLst>
          </a:prstGeom>
          <a:noFill/>
          <a:ln cap="flat" cmpd="sng" w="19050">
            <a:solidFill>
              <a:srgbClr val="69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" name="Google Shape;111;g3c89c144ce9_0_11"/>
          <p:cNvCxnSpPr>
            <a:stCxn id="102" idx="2"/>
            <a:endCxn id="106" idx="0"/>
          </p:cNvCxnSpPr>
          <p:nvPr/>
        </p:nvCxnSpPr>
        <p:spPr>
          <a:xfrm flipH="1" rot="-5400000">
            <a:off x="5924650" y="1122775"/>
            <a:ext cx="489600" cy="207900"/>
          </a:xfrm>
          <a:prstGeom prst="curvedConnector3">
            <a:avLst>
              <a:gd fmla="val 49990" name="adj1"/>
            </a:avLst>
          </a:prstGeom>
          <a:noFill/>
          <a:ln cap="flat" cmpd="sng" w="19050">
            <a:solidFill>
              <a:srgbClr val="69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" name="Google Shape;112;g3c89c144ce9_0_11"/>
          <p:cNvCxnSpPr>
            <a:stCxn id="101" idx="2"/>
            <a:endCxn id="108" idx="0"/>
          </p:cNvCxnSpPr>
          <p:nvPr/>
        </p:nvCxnSpPr>
        <p:spPr>
          <a:xfrm flipH="1" rot="-5400000">
            <a:off x="7058750" y="717325"/>
            <a:ext cx="491700" cy="1020900"/>
          </a:xfrm>
          <a:prstGeom prst="curvedConnector3">
            <a:avLst>
              <a:gd fmla="val 49989" name="adj1"/>
            </a:avLst>
          </a:prstGeom>
          <a:noFill/>
          <a:ln cap="flat" cmpd="sng" w="19050">
            <a:solidFill>
              <a:srgbClr val="69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3" name="Google Shape;113;g3c89c144ce9_0_11"/>
          <p:cNvSpPr/>
          <p:nvPr/>
        </p:nvSpPr>
        <p:spPr>
          <a:xfrm>
            <a:off x="4220900" y="1915325"/>
            <a:ext cx="1012800" cy="1704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rPr lang="en" sz="600"/>
              <a:t>ℒ = Cross Entropy Loss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c89c144ce9_0_11"/>
          <p:cNvSpPr/>
          <p:nvPr/>
        </p:nvSpPr>
        <p:spPr>
          <a:xfrm>
            <a:off x="1512375" y="1914000"/>
            <a:ext cx="1012800" cy="1704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rPr lang="en" sz="600"/>
              <a:t>ℒ = Cross Entropy Loss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3c89c144ce9_0_11"/>
          <p:cNvSpPr/>
          <p:nvPr/>
        </p:nvSpPr>
        <p:spPr>
          <a:xfrm>
            <a:off x="7320425" y="1907550"/>
            <a:ext cx="1012800" cy="1704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rPr lang="en" sz="600"/>
              <a:t>ℒ = Cross Entropy Loss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6" name="Google Shape;116;g3c89c144ce9_0_11"/>
          <p:cNvCxnSpPr>
            <a:stCxn id="105" idx="2"/>
            <a:endCxn id="114" idx="0"/>
          </p:cNvCxnSpPr>
          <p:nvPr/>
        </p:nvCxnSpPr>
        <p:spPr>
          <a:xfrm flipH="1" rot="-5400000">
            <a:off x="1938675" y="1833213"/>
            <a:ext cx="160800" cy="600"/>
          </a:xfrm>
          <a:prstGeom prst="curvedConnector3">
            <a:avLst>
              <a:gd fmla="val 50027" name="adj1"/>
            </a:avLst>
          </a:prstGeom>
          <a:noFill/>
          <a:ln cap="flat" cmpd="sng" w="9525">
            <a:solidFill>
              <a:srgbClr val="69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" name="Google Shape;117;g3c89c144ce9_0_11"/>
          <p:cNvCxnSpPr>
            <a:stCxn id="107" idx="2"/>
            <a:endCxn id="113" idx="0"/>
          </p:cNvCxnSpPr>
          <p:nvPr/>
        </p:nvCxnSpPr>
        <p:spPr>
          <a:xfrm flipH="1" rot="-5400000">
            <a:off x="4643875" y="1831963"/>
            <a:ext cx="159600" cy="7200"/>
          </a:xfrm>
          <a:prstGeom prst="curvedConnector3">
            <a:avLst>
              <a:gd fmla="val 49988" name="adj1"/>
            </a:avLst>
          </a:prstGeom>
          <a:noFill/>
          <a:ln cap="flat" cmpd="sng" w="9525">
            <a:solidFill>
              <a:srgbClr val="69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" name="Google Shape;118;g3c89c144ce9_0_11"/>
          <p:cNvCxnSpPr>
            <a:stCxn id="108" idx="2"/>
            <a:endCxn id="115" idx="0"/>
          </p:cNvCxnSpPr>
          <p:nvPr/>
        </p:nvCxnSpPr>
        <p:spPr>
          <a:xfrm flipH="1" rot="-5400000">
            <a:off x="7737300" y="1818063"/>
            <a:ext cx="167400" cy="11700"/>
          </a:xfrm>
          <a:prstGeom prst="curvedConnector3">
            <a:avLst>
              <a:gd fmla="val 49981" name="adj1"/>
            </a:avLst>
          </a:prstGeom>
          <a:noFill/>
          <a:ln cap="flat" cmpd="sng" w="9525">
            <a:solidFill>
              <a:srgbClr val="69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" name="Google Shape;119;g3c89c144ce9_0_11"/>
          <p:cNvCxnSpPr>
            <a:endCxn id="114" idx="2"/>
          </p:cNvCxnSpPr>
          <p:nvPr/>
        </p:nvCxnSpPr>
        <p:spPr>
          <a:xfrm rot="-5400000">
            <a:off x="1938075" y="2164500"/>
            <a:ext cx="160800" cy="6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E1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" name="Google Shape;120;g3c89c144ce9_0_11"/>
          <p:cNvCxnSpPr>
            <a:stCxn id="57" idx="0"/>
            <a:endCxn id="113" idx="2"/>
          </p:cNvCxnSpPr>
          <p:nvPr/>
        </p:nvCxnSpPr>
        <p:spPr>
          <a:xfrm rot="-5400000">
            <a:off x="4643900" y="2161875"/>
            <a:ext cx="159600" cy="7200"/>
          </a:xfrm>
          <a:prstGeom prst="curvedConnector3">
            <a:avLst>
              <a:gd fmla="val 49984" name="adj1"/>
            </a:avLst>
          </a:prstGeom>
          <a:noFill/>
          <a:ln cap="flat" cmpd="sng" w="9525">
            <a:solidFill>
              <a:srgbClr val="E1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" name="Google Shape;121;g3c89c144ce9_0_11"/>
          <p:cNvCxnSpPr>
            <a:stCxn id="70" idx="0"/>
            <a:endCxn id="115" idx="2"/>
          </p:cNvCxnSpPr>
          <p:nvPr/>
        </p:nvCxnSpPr>
        <p:spPr>
          <a:xfrm rot="-5400000">
            <a:off x="7737350" y="2155725"/>
            <a:ext cx="167400" cy="11700"/>
          </a:xfrm>
          <a:prstGeom prst="curvedConnector3">
            <a:avLst>
              <a:gd fmla="val 49978" name="adj1"/>
            </a:avLst>
          </a:prstGeom>
          <a:noFill/>
          <a:ln cap="flat" cmpd="sng" w="9525">
            <a:solidFill>
              <a:srgbClr val="E1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2" name="Google Shape;122;g3c89c144ce9_0_11"/>
          <p:cNvSpPr/>
          <p:nvPr/>
        </p:nvSpPr>
        <p:spPr>
          <a:xfrm>
            <a:off x="5783050" y="1907100"/>
            <a:ext cx="1012800" cy="1704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rPr lang="en" sz="600"/>
              <a:t>ℒ = Cross Entropy Loss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" name="Google Shape;123;g3c89c144ce9_0_11"/>
          <p:cNvCxnSpPr>
            <a:stCxn id="97" idx="0"/>
            <a:endCxn id="122" idx="2"/>
          </p:cNvCxnSpPr>
          <p:nvPr/>
        </p:nvCxnSpPr>
        <p:spPr>
          <a:xfrm rot="-5400000">
            <a:off x="6206050" y="2160675"/>
            <a:ext cx="166800" cy="600"/>
          </a:xfrm>
          <a:prstGeom prst="curvedConnector3">
            <a:avLst>
              <a:gd fmla="val 50022" name="adj1"/>
            </a:avLst>
          </a:prstGeom>
          <a:noFill/>
          <a:ln cap="flat" cmpd="sng" w="9525">
            <a:solidFill>
              <a:srgbClr val="E1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" name="Google Shape;124;g3c89c144ce9_0_11"/>
          <p:cNvCxnSpPr>
            <a:stCxn id="106" idx="2"/>
            <a:endCxn id="122" idx="0"/>
          </p:cNvCxnSpPr>
          <p:nvPr/>
        </p:nvCxnSpPr>
        <p:spPr>
          <a:xfrm flipH="1" rot="-5400000">
            <a:off x="6199013" y="1816725"/>
            <a:ext cx="164700" cy="15900"/>
          </a:xfrm>
          <a:prstGeom prst="curvedConnector3">
            <a:avLst>
              <a:gd fmla="val 50023" name="adj1"/>
            </a:avLst>
          </a:prstGeom>
          <a:noFill/>
          <a:ln cap="flat" cmpd="sng" w="9525">
            <a:solidFill>
              <a:srgbClr val="69A84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cabf19d016_0_0"/>
          <p:cNvSpPr/>
          <p:nvPr/>
        </p:nvSpPr>
        <p:spPr>
          <a:xfrm>
            <a:off x="6859425" y="1659825"/>
            <a:ext cx="1911600" cy="3297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rPr b="0" i="0" lang="en" sz="1277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tokeni</a:t>
            </a:r>
            <a:r>
              <a:rPr b="0" i="0" lang="en" sz="1277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z</a:t>
            </a:r>
            <a:r>
              <a:rPr b="0" i="0" lang="en" sz="1277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er.decode(</a:t>
            </a:r>
            <a:r>
              <a:rPr lang="en" sz="1277">
                <a:latin typeface="Consolas"/>
                <a:ea typeface="Consolas"/>
                <a:cs typeface="Consolas"/>
                <a:sym typeface="Consolas"/>
              </a:rPr>
              <a:t>6</a:t>
            </a:r>
            <a:r>
              <a:rPr b="0" i="0" lang="en" sz="1277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endParaRPr b="0" i="0" sz="1277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0" name="Google Shape;130;g3cabf19d016_0_0"/>
          <p:cNvSpPr/>
          <p:nvPr/>
        </p:nvSpPr>
        <p:spPr>
          <a:xfrm>
            <a:off x="788825" y="3190371"/>
            <a:ext cx="2460000" cy="678000"/>
          </a:xfrm>
          <a:prstGeom prst="roundRect">
            <a:avLst>
              <a:gd fmla="val 16667" name="adj"/>
            </a:avLst>
          </a:prstGeom>
          <a:solidFill>
            <a:srgbClr val="C3DAE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tanh(h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ex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b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= h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3cabf19d016_0_0"/>
          <p:cNvSpPr/>
          <p:nvPr/>
        </p:nvSpPr>
        <p:spPr>
          <a:xfrm>
            <a:off x="935033" y="4115789"/>
            <a:ext cx="2167500" cy="4803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embeddings[xt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 </a:t>
            </a:r>
            <a:endParaRPr b="0" i="0" sz="12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3cabf19d016_0_0"/>
          <p:cNvSpPr/>
          <p:nvPr/>
        </p:nvSpPr>
        <p:spPr>
          <a:xfrm>
            <a:off x="2811763" y="3382863"/>
            <a:ext cx="189900" cy="266700"/>
          </a:xfrm>
          <a:prstGeom prst="rect">
            <a:avLst/>
          </a:prstGeom>
          <a:noFill/>
          <a:ln cap="flat" cmpd="sng" w="173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t/>
            </a:r>
            <a:endParaRPr b="0" i="0" sz="12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g3cabf19d016_0_0"/>
          <p:cNvSpPr/>
          <p:nvPr/>
        </p:nvSpPr>
        <p:spPr>
          <a:xfrm>
            <a:off x="146775" y="3247215"/>
            <a:ext cx="564300" cy="564300"/>
          </a:xfrm>
          <a:prstGeom prst="roundRect">
            <a:avLst>
              <a:gd fmla="val 16667" name="adj"/>
            </a:avLst>
          </a:prstGeom>
          <a:solidFill>
            <a:srgbClr val="C9E9C7"/>
          </a:solidFill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0"/>
              <a:buFont typeface="Arial"/>
              <a:buNone/>
            </a:pPr>
            <a:r>
              <a:rPr b="0" i="0" lang="en" sz="219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b="0" baseline="-25000" i="0" lang="en" sz="219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baseline="-25000" i="0" sz="21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3cabf19d016_0_0"/>
          <p:cNvSpPr/>
          <p:nvPr/>
        </p:nvSpPr>
        <p:spPr>
          <a:xfrm>
            <a:off x="1385977" y="3393725"/>
            <a:ext cx="189900" cy="266700"/>
          </a:xfrm>
          <a:prstGeom prst="rect">
            <a:avLst/>
          </a:prstGeom>
          <a:noFill/>
          <a:ln cap="flat" cmpd="sng" w="173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t/>
            </a:r>
            <a:endParaRPr b="0" i="0" sz="12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5" name="Google Shape;135;g3cabf19d016_0_0"/>
          <p:cNvCxnSpPr>
            <a:stCxn id="133" idx="3"/>
            <a:endCxn id="134" idx="2"/>
          </p:cNvCxnSpPr>
          <p:nvPr/>
        </p:nvCxnSpPr>
        <p:spPr>
          <a:xfrm>
            <a:off x="711075" y="3529365"/>
            <a:ext cx="769800" cy="131100"/>
          </a:xfrm>
          <a:prstGeom prst="curvedConnector4">
            <a:avLst>
              <a:gd fmla="val 43836" name="adj1"/>
              <a:gd fmla="val 281606" name="adj2"/>
            </a:avLst>
          </a:prstGeom>
          <a:noFill/>
          <a:ln cap="flat" cmpd="sng" w="173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6" name="Google Shape;136;g3cabf19d016_0_0"/>
          <p:cNvSpPr/>
          <p:nvPr/>
        </p:nvSpPr>
        <p:spPr>
          <a:xfrm>
            <a:off x="1191039" y="4237568"/>
            <a:ext cx="325500" cy="266700"/>
          </a:xfrm>
          <a:prstGeom prst="rect">
            <a:avLst/>
          </a:prstGeom>
          <a:noFill/>
          <a:ln cap="flat" cmpd="sng" w="1737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t/>
            </a:r>
            <a:endParaRPr b="0" i="0" sz="12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g3cabf19d016_0_0"/>
          <p:cNvSpPr/>
          <p:nvPr/>
        </p:nvSpPr>
        <p:spPr>
          <a:xfrm>
            <a:off x="1827606" y="3393713"/>
            <a:ext cx="325500" cy="266700"/>
          </a:xfrm>
          <a:prstGeom prst="rect">
            <a:avLst/>
          </a:prstGeom>
          <a:noFill/>
          <a:ln cap="flat" cmpd="sng" w="1737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t/>
            </a:r>
            <a:endParaRPr b="0" i="0" sz="12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8" name="Google Shape;138;g3cabf19d016_0_0"/>
          <p:cNvCxnSpPr>
            <a:endCxn id="137" idx="2"/>
          </p:cNvCxnSpPr>
          <p:nvPr/>
        </p:nvCxnSpPr>
        <p:spPr>
          <a:xfrm flipH="1" rot="10800000">
            <a:off x="1354956" y="3660413"/>
            <a:ext cx="635400" cy="577200"/>
          </a:xfrm>
          <a:prstGeom prst="curvedConnector2">
            <a:avLst/>
          </a:prstGeom>
          <a:noFill/>
          <a:ln cap="flat" cmpd="sng" w="17375">
            <a:solidFill>
              <a:srgbClr val="F1C23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9" name="Google Shape;139;g3cabf19d016_0_0"/>
          <p:cNvSpPr/>
          <p:nvPr/>
        </p:nvSpPr>
        <p:spPr>
          <a:xfrm>
            <a:off x="3509400" y="3190371"/>
            <a:ext cx="2460000" cy="678000"/>
          </a:xfrm>
          <a:prstGeom prst="roundRect">
            <a:avLst>
              <a:gd fmla="val 16667" name="adj"/>
            </a:avLst>
          </a:prstGeom>
          <a:solidFill>
            <a:srgbClr val="C3DAE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tanh(h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ex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b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= h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cabf19d016_0_0"/>
          <p:cNvSpPr/>
          <p:nvPr/>
        </p:nvSpPr>
        <p:spPr>
          <a:xfrm>
            <a:off x="3655627" y="4115789"/>
            <a:ext cx="2167500" cy="4803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embeddings[xt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 </a:t>
            </a:r>
            <a:endParaRPr b="0" i="0" sz="12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3cabf19d016_0_0"/>
          <p:cNvSpPr/>
          <p:nvPr/>
        </p:nvSpPr>
        <p:spPr>
          <a:xfrm>
            <a:off x="5547557" y="3393713"/>
            <a:ext cx="189900" cy="266700"/>
          </a:xfrm>
          <a:prstGeom prst="rect">
            <a:avLst/>
          </a:prstGeom>
          <a:noFill/>
          <a:ln cap="flat" cmpd="sng" w="173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t/>
            </a:r>
            <a:endParaRPr b="0" i="0" sz="12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3cabf19d016_0_0"/>
          <p:cNvSpPr/>
          <p:nvPr/>
        </p:nvSpPr>
        <p:spPr>
          <a:xfrm>
            <a:off x="4115656" y="3393713"/>
            <a:ext cx="174900" cy="266700"/>
          </a:xfrm>
          <a:prstGeom prst="rect">
            <a:avLst/>
          </a:prstGeom>
          <a:noFill/>
          <a:ln cap="flat" cmpd="sng" w="173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t/>
            </a:r>
            <a:endParaRPr b="0" i="0" sz="12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3cabf19d016_0_0"/>
          <p:cNvSpPr/>
          <p:nvPr/>
        </p:nvSpPr>
        <p:spPr>
          <a:xfrm>
            <a:off x="3930351" y="4237575"/>
            <a:ext cx="303600" cy="266700"/>
          </a:xfrm>
          <a:prstGeom prst="rect">
            <a:avLst/>
          </a:prstGeom>
          <a:noFill/>
          <a:ln cap="flat" cmpd="sng" w="1737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t/>
            </a:r>
            <a:endParaRPr b="0" i="0" sz="12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g3cabf19d016_0_0"/>
          <p:cNvSpPr/>
          <p:nvPr/>
        </p:nvSpPr>
        <p:spPr>
          <a:xfrm>
            <a:off x="4588400" y="3393725"/>
            <a:ext cx="263400" cy="266700"/>
          </a:xfrm>
          <a:prstGeom prst="rect">
            <a:avLst/>
          </a:prstGeom>
          <a:noFill/>
          <a:ln cap="flat" cmpd="sng" w="1737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t/>
            </a:r>
            <a:endParaRPr b="0" i="0" sz="12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5" name="Google Shape;145;g3cabf19d016_0_0"/>
          <p:cNvCxnSpPr>
            <a:endCxn id="144" idx="2"/>
          </p:cNvCxnSpPr>
          <p:nvPr/>
        </p:nvCxnSpPr>
        <p:spPr>
          <a:xfrm flipH="1" rot="10800000">
            <a:off x="4084700" y="3660425"/>
            <a:ext cx="635400" cy="577200"/>
          </a:xfrm>
          <a:prstGeom prst="curvedConnector2">
            <a:avLst/>
          </a:prstGeom>
          <a:noFill/>
          <a:ln cap="flat" cmpd="sng" w="17375">
            <a:solidFill>
              <a:srgbClr val="F1C23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6" name="Google Shape;146;g3cabf19d016_0_0"/>
          <p:cNvCxnSpPr>
            <a:stCxn id="132" idx="3"/>
            <a:endCxn id="142" idx="2"/>
          </p:cNvCxnSpPr>
          <p:nvPr/>
        </p:nvCxnSpPr>
        <p:spPr>
          <a:xfrm>
            <a:off x="3001663" y="3516213"/>
            <a:ext cx="1201500" cy="144300"/>
          </a:xfrm>
          <a:prstGeom prst="curvedConnector4">
            <a:avLst>
              <a:gd fmla="val 46358" name="adj1"/>
              <a:gd fmla="val 264951" name="adj2"/>
            </a:avLst>
          </a:prstGeom>
          <a:noFill/>
          <a:ln cap="flat" cmpd="sng" w="173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7" name="Google Shape;147;g3cabf19d016_0_0"/>
          <p:cNvSpPr/>
          <p:nvPr/>
        </p:nvSpPr>
        <p:spPr>
          <a:xfrm>
            <a:off x="6585234" y="2775163"/>
            <a:ext cx="2460000" cy="1093200"/>
          </a:xfrm>
          <a:prstGeom prst="roundRect">
            <a:avLst>
              <a:gd fmla="val 16667" name="adj"/>
            </a:avLst>
          </a:prstGeom>
          <a:solidFill>
            <a:srgbClr val="C3DAE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t+1</a:t>
            </a: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softmax(b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h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2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t/>
            </a:r>
            <a:endParaRPr b="0" i="0" sz="12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tanh(h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t-1</a:t>
            </a: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ex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b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= h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2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3cabf19d016_0_0"/>
          <p:cNvSpPr/>
          <p:nvPr/>
        </p:nvSpPr>
        <p:spPr>
          <a:xfrm>
            <a:off x="6731452" y="4115789"/>
            <a:ext cx="2167500" cy="4803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embeddings[xt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 </a:t>
            </a:r>
            <a:endParaRPr b="0" i="0" sz="12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cabf19d016_0_0"/>
          <p:cNvSpPr/>
          <p:nvPr/>
        </p:nvSpPr>
        <p:spPr>
          <a:xfrm>
            <a:off x="6922174" y="3019950"/>
            <a:ext cx="303600" cy="266700"/>
          </a:xfrm>
          <a:prstGeom prst="rect">
            <a:avLst/>
          </a:prstGeom>
          <a:noFill/>
          <a:ln cap="flat" cmpd="sng" w="173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t/>
            </a:r>
            <a:endParaRPr b="0" i="0" sz="12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0" name="Google Shape;150;g3cabf19d016_0_0"/>
          <p:cNvCxnSpPr>
            <a:stCxn id="149" idx="0"/>
            <a:endCxn id="151" idx="2"/>
          </p:cNvCxnSpPr>
          <p:nvPr/>
        </p:nvCxnSpPr>
        <p:spPr>
          <a:xfrm rot="-5400000">
            <a:off x="7190674" y="2395350"/>
            <a:ext cx="507900" cy="741300"/>
          </a:xfrm>
          <a:prstGeom prst="curvedConnector3">
            <a:avLst>
              <a:gd fmla="val 50007" name="adj1"/>
            </a:avLst>
          </a:prstGeom>
          <a:noFill/>
          <a:ln cap="flat" cmpd="sng" w="17375">
            <a:solidFill>
              <a:srgbClr val="E0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2" name="Google Shape;152;g3cabf19d016_0_0"/>
          <p:cNvSpPr/>
          <p:nvPr/>
        </p:nvSpPr>
        <p:spPr>
          <a:xfrm>
            <a:off x="8643032" y="3393713"/>
            <a:ext cx="189900" cy="266700"/>
          </a:xfrm>
          <a:prstGeom prst="rect">
            <a:avLst/>
          </a:prstGeom>
          <a:noFill/>
          <a:ln cap="flat" cmpd="sng" w="173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t/>
            </a:r>
            <a:endParaRPr b="0" i="0" sz="12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g3cabf19d016_0_0"/>
          <p:cNvSpPr/>
          <p:nvPr/>
        </p:nvSpPr>
        <p:spPr>
          <a:xfrm>
            <a:off x="8292347" y="3019955"/>
            <a:ext cx="174900" cy="266700"/>
          </a:xfrm>
          <a:prstGeom prst="rect">
            <a:avLst/>
          </a:prstGeom>
          <a:noFill/>
          <a:ln cap="flat" cmpd="sng" w="173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t/>
            </a:r>
            <a:endParaRPr b="0" i="0" sz="12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4" name="Google Shape;154;g3cabf19d016_0_0"/>
          <p:cNvCxnSpPr>
            <a:stCxn id="152" idx="0"/>
            <a:endCxn id="153" idx="2"/>
          </p:cNvCxnSpPr>
          <p:nvPr/>
        </p:nvCxnSpPr>
        <p:spPr>
          <a:xfrm flipH="1" rot="5400000">
            <a:off x="8505332" y="3161063"/>
            <a:ext cx="107100" cy="358200"/>
          </a:xfrm>
          <a:prstGeom prst="curvedConnector3">
            <a:avLst>
              <a:gd fmla="val 49981" name="adj1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5" name="Google Shape;155;g3cabf19d016_0_0"/>
          <p:cNvSpPr/>
          <p:nvPr/>
        </p:nvSpPr>
        <p:spPr>
          <a:xfrm>
            <a:off x="7182850" y="3393725"/>
            <a:ext cx="263400" cy="266700"/>
          </a:xfrm>
          <a:prstGeom prst="rect">
            <a:avLst/>
          </a:prstGeom>
          <a:noFill/>
          <a:ln cap="flat" cmpd="sng" w="173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t/>
            </a:r>
            <a:endParaRPr b="0" i="0" sz="12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cabf19d016_0_0"/>
          <p:cNvSpPr/>
          <p:nvPr/>
        </p:nvSpPr>
        <p:spPr>
          <a:xfrm>
            <a:off x="7016882" y="4237568"/>
            <a:ext cx="325500" cy="266700"/>
          </a:xfrm>
          <a:prstGeom prst="rect">
            <a:avLst/>
          </a:prstGeom>
          <a:noFill/>
          <a:ln cap="flat" cmpd="sng" w="1737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t/>
            </a:r>
            <a:endParaRPr b="0" i="0" sz="12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3cabf19d016_0_0"/>
          <p:cNvSpPr/>
          <p:nvPr/>
        </p:nvSpPr>
        <p:spPr>
          <a:xfrm>
            <a:off x="7695125" y="3393725"/>
            <a:ext cx="263400" cy="266700"/>
          </a:xfrm>
          <a:prstGeom prst="rect">
            <a:avLst/>
          </a:prstGeom>
          <a:noFill/>
          <a:ln cap="flat" cmpd="sng" w="1737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t/>
            </a:r>
            <a:endParaRPr b="0" i="0" sz="12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8" name="Google Shape;158;g3cabf19d016_0_0"/>
          <p:cNvCxnSpPr>
            <a:endCxn id="157" idx="2"/>
          </p:cNvCxnSpPr>
          <p:nvPr/>
        </p:nvCxnSpPr>
        <p:spPr>
          <a:xfrm flipH="1" rot="10800000">
            <a:off x="7191425" y="3660425"/>
            <a:ext cx="635400" cy="577200"/>
          </a:xfrm>
          <a:prstGeom prst="curvedConnector2">
            <a:avLst/>
          </a:prstGeom>
          <a:noFill/>
          <a:ln cap="flat" cmpd="sng" w="17375">
            <a:solidFill>
              <a:srgbClr val="F1C23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9" name="Google Shape;159;g3cabf19d016_0_0"/>
          <p:cNvCxnSpPr>
            <a:stCxn id="141" idx="3"/>
            <a:endCxn id="155" idx="2"/>
          </p:cNvCxnSpPr>
          <p:nvPr/>
        </p:nvCxnSpPr>
        <p:spPr>
          <a:xfrm>
            <a:off x="5737457" y="3527063"/>
            <a:ext cx="1577100" cy="133500"/>
          </a:xfrm>
          <a:prstGeom prst="curvedConnector4">
            <a:avLst>
              <a:gd fmla="val 37776" name="adj1"/>
              <a:gd fmla="val 171544" name="adj2"/>
            </a:avLst>
          </a:prstGeom>
          <a:noFill/>
          <a:ln cap="flat" cmpd="sng" w="17375">
            <a:solidFill>
              <a:srgbClr val="6AA84F"/>
            </a:solidFill>
            <a:prstDash val="dashDot"/>
            <a:round/>
            <a:headEnd len="sm" w="sm" type="none"/>
            <a:tailEnd len="med" w="med" type="triangle"/>
          </a:ln>
        </p:spPr>
      </p:cxnSp>
      <p:sp>
        <p:nvSpPr>
          <p:cNvPr id="160" name="Google Shape;160;g3cabf19d016_0_0"/>
          <p:cNvSpPr/>
          <p:nvPr/>
        </p:nvSpPr>
        <p:spPr>
          <a:xfrm>
            <a:off x="3466400" y="5051475"/>
            <a:ext cx="2507400" cy="4803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[xt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xt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…, xt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r>
              <a:rPr b="0" baseline="-2500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tokenizer(X) </a:t>
            </a:r>
            <a:endParaRPr b="0" i="0" sz="12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cabf19d016_0_0"/>
          <p:cNvSpPr/>
          <p:nvPr/>
        </p:nvSpPr>
        <p:spPr>
          <a:xfrm>
            <a:off x="3701150" y="5142075"/>
            <a:ext cx="229200" cy="299100"/>
          </a:xfrm>
          <a:prstGeom prst="rect">
            <a:avLst/>
          </a:prstGeom>
          <a:noFill/>
          <a:ln cap="flat" cmpd="sng" w="19050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3cabf19d016_0_0"/>
          <p:cNvSpPr/>
          <p:nvPr/>
        </p:nvSpPr>
        <p:spPr>
          <a:xfrm>
            <a:off x="3967550" y="5142075"/>
            <a:ext cx="229200" cy="299100"/>
          </a:xfrm>
          <a:prstGeom prst="rect">
            <a:avLst/>
          </a:prstGeom>
          <a:noFill/>
          <a:ln cap="flat" cmpd="sng" w="19050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3cabf19d016_0_0"/>
          <p:cNvSpPr/>
          <p:nvPr/>
        </p:nvSpPr>
        <p:spPr>
          <a:xfrm>
            <a:off x="4490900" y="5142075"/>
            <a:ext cx="229200" cy="299100"/>
          </a:xfrm>
          <a:prstGeom prst="rect">
            <a:avLst/>
          </a:prstGeom>
          <a:noFill/>
          <a:ln cap="flat" cmpd="sng" w="19050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3cabf19d016_0_0"/>
          <p:cNvSpPr/>
          <p:nvPr/>
        </p:nvSpPr>
        <p:spPr>
          <a:xfrm>
            <a:off x="2540850" y="4221375"/>
            <a:ext cx="229200" cy="299100"/>
          </a:xfrm>
          <a:prstGeom prst="rect">
            <a:avLst/>
          </a:prstGeom>
          <a:noFill/>
          <a:ln cap="flat" cmpd="sng" w="19050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3cabf19d016_0_0"/>
          <p:cNvSpPr/>
          <p:nvPr/>
        </p:nvSpPr>
        <p:spPr>
          <a:xfrm>
            <a:off x="5257750" y="4206400"/>
            <a:ext cx="229200" cy="299100"/>
          </a:xfrm>
          <a:prstGeom prst="rect">
            <a:avLst/>
          </a:prstGeom>
          <a:noFill/>
          <a:ln cap="flat" cmpd="sng" w="19050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cabf19d016_0_0"/>
          <p:cNvSpPr/>
          <p:nvPr/>
        </p:nvSpPr>
        <p:spPr>
          <a:xfrm>
            <a:off x="8321300" y="4206400"/>
            <a:ext cx="229200" cy="299100"/>
          </a:xfrm>
          <a:prstGeom prst="rect">
            <a:avLst/>
          </a:prstGeom>
          <a:noFill/>
          <a:ln cap="flat" cmpd="sng" w="19050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7" name="Google Shape;167;g3cabf19d016_0_0"/>
          <p:cNvCxnSpPr>
            <a:stCxn id="161" idx="0"/>
            <a:endCxn id="164" idx="2"/>
          </p:cNvCxnSpPr>
          <p:nvPr/>
        </p:nvCxnSpPr>
        <p:spPr>
          <a:xfrm flipH="1" rot="5400000">
            <a:off x="2924750" y="4251075"/>
            <a:ext cx="621600" cy="11604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rgbClr val="8E7CC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8" name="Google Shape;168;g3cabf19d016_0_0"/>
          <p:cNvCxnSpPr>
            <a:stCxn id="162" idx="0"/>
            <a:endCxn id="165" idx="2"/>
          </p:cNvCxnSpPr>
          <p:nvPr/>
        </p:nvCxnSpPr>
        <p:spPr>
          <a:xfrm rot="-5400000">
            <a:off x="4409000" y="4178625"/>
            <a:ext cx="636600" cy="1290300"/>
          </a:xfrm>
          <a:prstGeom prst="curvedConnector3">
            <a:avLst>
              <a:gd fmla="val 49998" name="adj1"/>
            </a:avLst>
          </a:prstGeom>
          <a:noFill/>
          <a:ln cap="flat" cmpd="sng" w="19050">
            <a:solidFill>
              <a:srgbClr val="8E7CC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9" name="Google Shape;169;g3cabf19d016_0_0"/>
          <p:cNvCxnSpPr>
            <a:stCxn id="163" idx="0"/>
            <a:endCxn id="166" idx="2"/>
          </p:cNvCxnSpPr>
          <p:nvPr/>
        </p:nvCxnSpPr>
        <p:spPr>
          <a:xfrm rot="-5400000">
            <a:off x="6202400" y="2908575"/>
            <a:ext cx="636600" cy="3830400"/>
          </a:xfrm>
          <a:prstGeom prst="curvedConnector3">
            <a:avLst>
              <a:gd fmla="val 49998" name="adj1"/>
            </a:avLst>
          </a:prstGeom>
          <a:noFill/>
          <a:ln cap="flat" cmpd="sng" w="19050">
            <a:solidFill>
              <a:srgbClr val="8E7CC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0" name="Google Shape;170;g3cabf19d016_0_0"/>
          <p:cNvSpPr/>
          <p:nvPr/>
        </p:nvSpPr>
        <p:spPr>
          <a:xfrm>
            <a:off x="3485675" y="5987150"/>
            <a:ext cx="2507400" cy="4803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= “I like cute kittens and”</a:t>
            </a:r>
            <a:endParaRPr b="0" i="0" sz="12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cabf19d016_0_0"/>
          <p:cNvSpPr/>
          <p:nvPr/>
        </p:nvSpPr>
        <p:spPr>
          <a:xfrm>
            <a:off x="3714754" y="6093955"/>
            <a:ext cx="229200" cy="266700"/>
          </a:xfrm>
          <a:prstGeom prst="rect">
            <a:avLst/>
          </a:prstGeom>
          <a:noFill/>
          <a:ln cap="flat" cmpd="sng" w="17375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t/>
            </a:r>
            <a:endParaRPr b="0" i="0" sz="12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cabf19d016_0_0"/>
          <p:cNvSpPr/>
          <p:nvPr/>
        </p:nvSpPr>
        <p:spPr>
          <a:xfrm>
            <a:off x="5527900" y="5184825"/>
            <a:ext cx="244800" cy="231000"/>
          </a:xfrm>
          <a:prstGeom prst="rect">
            <a:avLst/>
          </a:prstGeom>
          <a:noFill/>
          <a:ln cap="flat" cmpd="sng" w="17375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t/>
            </a:r>
            <a:endParaRPr b="0" i="0" sz="12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3" name="Google Shape;173;g3cabf19d016_0_0"/>
          <p:cNvCxnSpPr>
            <a:stCxn id="171" idx="0"/>
            <a:endCxn id="172" idx="2"/>
          </p:cNvCxnSpPr>
          <p:nvPr/>
        </p:nvCxnSpPr>
        <p:spPr>
          <a:xfrm rot="-5400000">
            <a:off x="4400854" y="4844455"/>
            <a:ext cx="678000" cy="1821000"/>
          </a:xfrm>
          <a:prstGeom prst="curvedConnector3">
            <a:avLst>
              <a:gd fmla="val 50010" name="adj1"/>
            </a:avLst>
          </a:prstGeom>
          <a:noFill/>
          <a:ln cap="flat" cmpd="sng" w="19050">
            <a:solidFill>
              <a:srgbClr val="CC412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1" name="Google Shape;151;g3cabf19d016_0_0"/>
          <p:cNvSpPr/>
          <p:nvPr/>
        </p:nvSpPr>
        <p:spPr>
          <a:xfrm>
            <a:off x="6684200" y="2245275"/>
            <a:ext cx="2262000" cy="266700"/>
          </a:xfrm>
          <a:prstGeom prst="roundRect">
            <a:avLst>
              <a:gd fmla="val 16667" name="adj"/>
            </a:avLst>
          </a:prstGeom>
          <a:solidFill>
            <a:srgbClr val="F9C9C5"/>
          </a:solidFill>
          <a:ln cap="flat" cmpd="sng" w="1905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&lt;0.07, 0.15, 0.14, 0.10, 0.09, 0.08, 0.25, 0.05, 0.04, 0.03&gt;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g3cabf19d016_0_0"/>
          <p:cNvSpPr/>
          <p:nvPr/>
        </p:nvSpPr>
        <p:spPr>
          <a:xfrm>
            <a:off x="7998375" y="2228650"/>
            <a:ext cx="229200" cy="299100"/>
          </a:xfrm>
          <a:prstGeom prst="rect">
            <a:avLst/>
          </a:prstGeom>
          <a:noFill/>
          <a:ln cap="flat" cmpd="sng" w="19050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5" name="Google Shape;175;g3cabf19d016_0_0"/>
          <p:cNvCxnSpPr>
            <a:stCxn id="176" idx="3"/>
            <a:endCxn id="177" idx="2"/>
          </p:cNvCxnSpPr>
          <p:nvPr/>
        </p:nvCxnSpPr>
        <p:spPr>
          <a:xfrm rot="10800000">
            <a:off x="8528425" y="1972900"/>
            <a:ext cx="61200" cy="136200"/>
          </a:xfrm>
          <a:prstGeom prst="curvedConnector4">
            <a:avLst>
              <a:gd fmla="val -149346" name="adj1"/>
              <a:gd fmla="val 74000" name="adj2"/>
            </a:avLst>
          </a:prstGeom>
          <a:noFill/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8" name="Google Shape;178;g3cabf19d016_0_0"/>
          <p:cNvSpPr txBox="1"/>
          <p:nvPr>
            <p:ph type="title"/>
          </p:nvPr>
        </p:nvSpPr>
        <p:spPr>
          <a:xfrm>
            <a:off x="170650" y="161375"/>
            <a:ext cx="33387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2400"/>
              <a:t>Recurrent Neural 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2400"/>
              <a:t>Networks - Inference</a:t>
            </a:r>
            <a:endParaRPr sz="2400"/>
          </a:p>
        </p:txBody>
      </p:sp>
      <p:sp>
        <p:nvSpPr>
          <p:cNvPr id="179" name="Google Shape;179;g3cabf19d016_0_0"/>
          <p:cNvSpPr/>
          <p:nvPr/>
        </p:nvSpPr>
        <p:spPr>
          <a:xfrm>
            <a:off x="6096850" y="2775175"/>
            <a:ext cx="384600" cy="1820700"/>
          </a:xfrm>
          <a:prstGeom prst="roundRect">
            <a:avLst>
              <a:gd fmla="val 16667" name="adj"/>
            </a:avLst>
          </a:prstGeom>
          <a:solidFill>
            <a:srgbClr val="C3DAEC"/>
          </a:solidFill>
          <a:ln cap="flat" cmpd="sng" w="19050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g3cabf19d016_0_0"/>
          <p:cNvSpPr/>
          <p:nvPr/>
        </p:nvSpPr>
        <p:spPr>
          <a:xfrm>
            <a:off x="4229225" y="5142075"/>
            <a:ext cx="229200" cy="299100"/>
          </a:xfrm>
          <a:prstGeom prst="rect">
            <a:avLst/>
          </a:prstGeom>
          <a:noFill/>
          <a:ln cap="flat" cmpd="sng" w="19050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1" name="Google Shape;181;g3cabf19d016_0_0"/>
          <p:cNvCxnSpPr>
            <a:stCxn id="180" idx="0"/>
            <a:endCxn id="179" idx="2"/>
          </p:cNvCxnSpPr>
          <p:nvPr/>
        </p:nvCxnSpPr>
        <p:spPr>
          <a:xfrm rot="-5400000">
            <a:off x="5043275" y="3896325"/>
            <a:ext cx="546300" cy="1945200"/>
          </a:xfrm>
          <a:prstGeom prst="curvedConnector3">
            <a:avLst>
              <a:gd fmla="val 49991" name="adj1"/>
            </a:avLst>
          </a:prstGeom>
          <a:noFill/>
          <a:ln cap="flat" cmpd="sng" w="19050">
            <a:solidFill>
              <a:srgbClr val="3D85C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6" name="Google Shape;176;g3cabf19d016_0_0"/>
          <p:cNvSpPr/>
          <p:nvPr/>
        </p:nvSpPr>
        <p:spPr>
          <a:xfrm>
            <a:off x="8136925" y="2043700"/>
            <a:ext cx="452700" cy="130800"/>
          </a:xfrm>
          <a:prstGeom prst="rect">
            <a:avLst/>
          </a:prstGeom>
          <a:noFill/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yt</a:t>
            </a:r>
            <a:r>
              <a:rPr b="0" baseline="-25000" i="0" lang="en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t+1</a:t>
            </a:r>
            <a:r>
              <a:rPr b="0" i="0" lang="en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6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2" name="Google Shape;182;g3cabf19d016_0_0"/>
          <p:cNvCxnSpPr>
            <a:stCxn id="174" idx="0"/>
            <a:endCxn id="176" idx="1"/>
          </p:cNvCxnSpPr>
          <p:nvPr/>
        </p:nvCxnSpPr>
        <p:spPr>
          <a:xfrm rot="-5400000">
            <a:off x="8065125" y="2156800"/>
            <a:ext cx="119700" cy="24000"/>
          </a:xfrm>
          <a:prstGeom prst="curvedConnector2">
            <a:avLst/>
          </a:prstGeom>
          <a:noFill/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7" name="Google Shape;177;g3cabf19d016_0_0"/>
          <p:cNvSpPr/>
          <p:nvPr/>
        </p:nvSpPr>
        <p:spPr>
          <a:xfrm>
            <a:off x="8413825" y="1673825"/>
            <a:ext cx="229200" cy="299100"/>
          </a:xfrm>
          <a:prstGeom prst="rect">
            <a:avLst/>
          </a:prstGeom>
          <a:noFill/>
          <a:ln cap="flat" cmpd="sng" w="19050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3cabf19d016_0_0"/>
          <p:cNvSpPr/>
          <p:nvPr/>
        </p:nvSpPr>
        <p:spPr>
          <a:xfrm>
            <a:off x="7376300" y="1091000"/>
            <a:ext cx="877800" cy="3297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7"/>
              <a:buFont typeface="Arial"/>
              <a:buNone/>
            </a:pP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" sz="1277"/>
              <a:t>puppies</a:t>
            </a:r>
            <a:r>
              <a:rPr b="0" i="0" lang="en" sz="12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b="0" i="0" sz="12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4" name="Google Shape;184;g3cabf19d016_0_0"/>
          <p:cNvCxnSpPr>
            <a:stCxn id="129" idx="0"/>
            <a:endCxn id="183" idx="2"/>
          </p:cNvCxnSpPr>
          <p:nvPr/>
        </p:nvCxnSpPr>
        <p:spPr>
          <a:xfrm rot="-5400000">
            <a:off x="7695975" y="1539975"/>
            <a:ext cx="239100" cy="600"/>
          </a:xfrm>
          <a:prstGeom prst="curvedConnector3">
            <a:avLst>
              <a:gd fmla="val 50005" name="adj1"/>
            </a:avLst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5" name="Google Shape;185;g3cabf19d016_0_0"/>
          <p:cNvSpPr txBox="1"/>
          <p:nvPr/>
        </p:nvSpPr>
        <p:spPr>
          <a:xfrm>
            <a:off x="7346450" y="830125"/>
            <a:ext cx="937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Output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bf116a135a_0_10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Attention</a:t>
            </a:r>
            <a:endParaRPr/>
          </a:p>
        </p:txBody>
      </p:sp>
      <p:sp>
        <p:nvSpPr>
          <p:cNvPr id="191" name="Google Shape;191;g3bf116a135a_0_109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Some parts of our </a:t>
            </a:r>
            <a:r>
              <a:rPr b="1" lang="en">
                <a:solidFill>
                  <a:srgbClr val="002B5B"/>
                </a:solidFill>
              </a:rPr>
              <a:t>context</a:t>
            </a:r>
            <a:r>
              <a:rPr lang="en"/>
              <a:t> are </a:t>
            </a:r>
            <a:r>
              <a:rPr b="1" lang="en">
                <a:solidFill>
                  <a:srgbClr val="DCB439"/>
                </a:solidFill>
              </a:rPr>
              <a:t>more important than others</a:t>
            </a:r>
            <a:r>
              <a:rPr lang="en"/>
              <a:t>! </a:t>
            </a:r>
            <a:endParaRPr/>
          </a:p>
        </p:txBody>
      </p:sp>
      <p:pic>
        <p:nvPicPr>
          <p:cNvPr id="192" name="Google Shape;192;g3bf116a135a_0_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992824"/>
            <a:ext cx="9144001" cy="21824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g3bf116a135a_0_146" title="Screenshot 2026-02-19 at 10.05.23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0783" y="274650"/>
            <a:ext cx="3982435" cy="605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g3bf116a135a_0_14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Transformer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g3cabf19d016_0_1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4325" y="207088"/>
            <a:ext cx="6767796" cy="5135563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g3cabf19d016_0_122"/>
          <p:cNvSpPr/>
          <p:nvPr/>
        </p:nvSpPr>
        <p:spPr>
          <a:xfrm>
            <a:off x="447725" y="4650825"/>
            <a:ext cx="2602200" cy="16203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g3cabf19d016_0_122"/>
          <p:cNvSpPr/>
          <p:nvPr/>
        </p:nvSpPr>
        <p:spPr>
          <a:xfrm>
            <a:off x="1524125" y="4462125"/>
            <a:ext cx="449400" cy="18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3cabf19d016_0_122"/>
          <p:cNvSpPr/>
          <p:nvPr/>
        </p:nvSpPr>
        <p:spPr>
          <a:xfrm>
            <a:off x="1255775" y="4769588"/>
            <a:ext cx="988500" cy="305400"/>
          </a:xfrm>
          <a:prstGeom prst="roundRect">
            <a:avLst>
              <a:gd fmla="val 16667" name="adj"/>
            </a:avLst>
          </a:prstGeom>
          <a:solidFill>
            <a:srgbClr val="ABFF9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Embeddings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7" name="Google Shape;207;g3cabf19d016_0_122"/>
          <p:cNvCxnSpPr>
            <a:stCxn id="206" idx="0"/>
          </p:cNvCxnSpPr>
          <p:nvPr/>
        </p:nvCxnSpPr>
        <p:spPr>
          <a:xfrm flipH="1" rot="10800000">
            <a:off x="1750025" y="4259588"/>
            <a:ext cx="2700" cy="510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" name="Google Shape;208;g3cabf19d016_0_122"/>
          <p:cNvSpPr/>
          <p:nvPr/>
        </p:nvSpPr>
        <p:spPr>
          <a:xfrm>
            <a:off x="1255775" y="5268200"/>
            <a:ext cx="988500" cy="305400"/>
          </a:xfrm>
          <a:prstGeom prst="roundRect">
            <a:avLst>
              <a:gd fmla="val 16667" name="adj"/>
            </a:avLst>
          </a:prstGeom>
          <a:solidFill>
            <a:srgbClr val="FFF99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Tokenizer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9" name="Google Shape;209;g3cabf19d016_0_122"/>
          <p:cNvCxnSpPr>
            <a:stCxn id="208" idx="0"/>
            <a:endCxn id="206" idx="2"/>
          </p:cNvCxnSpPr>
          <p:nvPr/>
        </p:nvCxnSpPr>
        <p:spPr>
          <a:xfrm rot="10800000">
            <a:off x="1750025" y="5075000"/>
            <a:ext cx="0" cy="193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0" name="Google Shape;210;g3cabf19d016_0_122"/>
          <p:cNvSpPr txBox="1"/>
          <p:nvPr>
            <p:ph type="title"/>
          </p:nvPr>
        </p:nvSpPr>
        <p:spPr>
          <a:xfrm>
            <a:off x="4048400" y="5766800"/>
            <a:ext cx="4578300" cy="808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4800"/>
              <a:t>Where are we?</a:t>
            </a:r>
            <a:endParaRPr sz="4800"/>
          </a:p>
        </p:txBody>
      </p:sp>
      <p:sp>
        <p:nvSpPr>
          <p:cNvPr id="211" name="Google Shape;211;g3cabf19d016_0_122"/>
          <p:cNvSpPr/>
          <p:nvPr/>
        </p:nvSpPr>
        <p:spPr>
          <a:xfrm>
            <a:off x="559425" y="5766800"/>
            <a:ext cx="2379000" cy="305400"/>
          </a:xfrm>
          <a:prstGeom prst="roundRect">
            <a:avLst>
              <a:gd fmla="val 16667" name="adj"/>
            </a:avLst>
          </a:prstGeom>
          <a:solidFill>
            <a:srgbClr val="95DC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“Please help me with my homework!!”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" name="Google Shape;212;g3cabf19d016_0_122"/>
          <p:cNvCxnSpPr>
            <a:stCxn id="211" idx="0"/>
            <a:endCxn id="208" idx="2"/>
          </p:cNvCxnSpPr>
          <p:nvPr/>
        </p:nvCxnSpPr>
        <p:spPr>
          <a:xfrm flipH="1" rot="10800000">
            <a:off x="1748925" y="5573600"/>
            <a:ext cx="1200" cy="193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3" name="Google Shape;213;g3cabf19d016_0_122"/>
          <p:cNvSpPr/>
          <p:nvPr/>
        </p:nvSpPr>
        <p:spPr>
          <a:xfrm>
            <a:off x="1475375" y="1022900"/>
            <a:ext cx="546900" cy="349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cabf19d016_0_122"/>
          <p:cNvSpPr/>
          <p:nvPr/>
        </p:nvSpPr>
        <p:spPr>
          <a:xfrm>
            <a:off x="202775" y="207100"/>
            <a:ext cx="3092100" cy="9345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g3cabf19d016_0_122"/>
          <p:cNvSpPr/>
          <p:nvPr/>
        </p:nvSpPr>
        <p:spPr>
          <a:xfrm>
            <a:off x="447725" y="361750"/>
            <a:ext cx="2602200" cy="625200"/>
          </a:xfrm>
          <a:prstGeom prst="roundRect">
            <a:avLst>
              <a:gd fmla="val 16667" name="adj"/>
            </a:avLst>
          </a:prstGeom>
          <a:solidFill>
            <a:srgbClr val="ABFF9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Response: “Certainly, as a large language model I’d be happy to help you cheat on your homework assignment”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6" name="Google Shape;216;g3cabf19d016_0_122"/>
          <p:cNvCxnSpPr>
            <a:endCxn id="215" idx="2"/>
          </p:cNvCxnSpPr>
          <p:nvPr/>
        </p:nvCxnSpPr>
        <p:spPr>
          <a:xfrm rot="10800000">
            <a:off x="1748825" y="986950"/>
            <a:ext cx="4800" cy="451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7" name="Google Shape;217;g3cabf19d016_0_122"/>
          <p:cNvSpPr/>
          <p:nvPr/>
        </p:nvSpPr>
        <p:spPr>
          <a:xfrm>
            <a:off x="1137200" y="3419025"/>
            <a:ext cx="1213500" cy="5100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cabf19d016_0_122"/>
          <p:cNvSpPr/>
          <p:nvPr/>
        </p:nvSpPr>
        <p:spPr>
          <a:xfrm>
            <a:off x="3232050" y="3567500"/>
            <a:ext cx="1639500" cy="3492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cabf19d016_0_122"/>
          <p:cNvSpPr/>
          <p:nvPr/>
        </p:nvSpPr>
        <p:spPr>
          <a:xfrm>
            <a:off x="5444100" y="1879975"/>
            <a:ext cx="2067900" cy="30924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0" name="Google Shape;220;g3cabf19d016_0_122"/>
          <p:cNvCxnSpPr>
            <a:stCxn id="217" idx="3"/>
          </p:cNvCxnSpPr>
          <p:nvPr/>
        </p:nvCxnSpPr>
        <p:spPr>
          <a:xfrm flipH="1" rot="10800000">
            <a:off x="2350700" y="3569325"/>
            <a:ext cx="881400" cy="104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" name="Google Shape;221;g3cabf19d016_0_122"/>
          <p:cNvCxnSpPr>
            <a:stCxn id="217" idx="3"/>
          </p:cNvCxnSpPr>
          <p:nvPr/>
        </p:nvCxnSpPr>
        <p:spPr>
          <a:xfrm>
            <a:off x="2350700" y="3674025"/>
            <a:ext cx="883800" cy="240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" name="Google Shape;222;g3cabf19d016_0_122"/>
          <p:cNvCxnSpPr>
            <a:stCxn id="218" idx="3"/>
          </p:cNvCxnSpPr>
          <p:nvPr/>
        </p:nvCxnSpPr>
        <p:spPr>
          <a:xfrm flipH="1" rot="10800000">
            <a:off x="4871550" y="1891400"/>
            <a:ext cx="573600" cy="1850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" name="Google Shape;223;g3cabf19d016_0_122"/>
          <p:cNvCxnSpPr>
            <a:stCxn id="218" idx="3"/>
          </p:cNvCxnSpPr>
          <p:nvPr/>
        </p:nvCxnSpPr>
        <p:spPr>
          <a:xfrm>
            <a:off x="4871550" y="3742100"/>
            <a:ext cx="573600" cy="1229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" name="Google Shape;224;g3cabf19d016_0_122"/>
          <p:cNvCxnSpPr>
            <a:stCxn id="210" idx="1"/>
            <a:endCxn id="217" idx="2"/>
          </p:cNvCxnSpPr>
          <p:nvPr/>
        </p:nvCxnSpPr>
        <p:spPr>
          <a:xfrm rot="10800000">
            <a:off x="1744100" y="3929000"/>
            <a:ext cx="2304300" cy="2242200"/>
          </a:xfrm>
          <a:prstGeom prst="curvedConnector2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bf116a135a_0_15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Self-Attention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bf116a135a_0_2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Self Attention</a:t>
            </a:r>
            <a:endParaRPr/>
          </a:p>
        </p:txBody>
      </p:sp>
      <p:sp>
        <p:nvSpPr>
          <p:cNvPr id="235" name="Google Shape;235;g3bf116a135a_0_232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Often </a:t>
            </a:r>
            <a:r>
              <a:rPr b="1" lang="en">
                <a:solidFill>
                  <a:srgbClr val="002B5B"/>
                </a:solidFill>
              </a:rPr>
              <a:t>attention</a:t>
            </a:r>
            <a:r>
              <a:rPr lang="en"/>
              <a:t> is written as ______________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which stems from the original paper. They model this as a _________________________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u="sng"/>
          </a:p>
          <a:p>
            <a:pPr indent="-4191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2B5B"/>
              </a:buClr>
              <a:buSzPts val="3000"/>
              <a:buChar char="●"/>
            </a:pPr>
            <a:r>
              <a:rPr b="1" lang="en">
                <a:solidFill>
                  <a:srgbClr val="002B5B"/>
                </a:solidFill>
              </a:rPr>
              <a:t>Q:</a:t>
            </a:r>
            <a:endParaRPr b="1">
              <a:solidFill>
                <a:srgbClr val="002B5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b="1">
              <a:solidFill>
                <a:srgbClr val="002B5B"/>
              </a:solidFill>
            </a:endParaRPr>
          </a:p>
          <a:p>
            <a:pPr indent="-419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B5B"/>
              </a:buClr>
              <a:buSzPts val="3000"/>
              <a:buChar char="●"/>
            </a:pPr>
            <a:r>
              <a:rPr b="1" lang="en">
                <a:solidFill>
                  <a:srgbClr val="002B5B"/>
                </a:solidFill>
              </a:rPr>
              <a:t>K:</a:t>
            </a:r>
            <a:endParaRPr b="1">
              <a:solidFill>
                <a:srgbClr val="002B5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b="1">
              <a:solidFill>
                <a:srgbClr val="002B5B"/>
              </a:solidFill>
            </a:endParaRPr>
          </a:p>
          <a:p>
            <a:pPr indent="-4191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2B5B"/>
              </a:buClr>
              <a:buSzPts val="3000"/>
              <a:buChar char="●"/>
            </a:pPr>
            <a:r>
              <a:rPr b="1" lang="en">
                <a:solidFill>
                  <a:srgbClr val="002B5B"/>
                </a:solidFill>
              </a:rPr>
              <a:t>V:</a:t>
            </a:r>
            <a:endParaRPr b="1">
              <a:solidFill>
                <a:srgbClr val="002B5B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bf116a135a_0_2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Attention Equation</a:t>
            </a:r>
            <a:endParaRPr/>
          </a:p>
        </p:txBody>
      </p:sp>
      <p:sp>
        <p:nvSpPr>
          <p:cNvPr id="241" name="Google Shape;241;g3bf116a135a_0_237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b="1" lang="en">
                <a:solidFill>
                  <a:srgbClr val="002B5B"/>
                </a:solidFill>
              </a:rPr>
              <a:t>Attention(Q, K, V) =</a:t>
            </a:r>
            <a:endParaRPr b="1">
              <a:solidFill>
                <a:srgbClr val="002B5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b="1">
              <a:solidFill>
                <a:srgbClr val="002B5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To continue with the </a:t>
            </a:r>
            <a:r>
              <a:rPr b="1" lang="en">
                <a:solidFill>
                  <a:srgbClr val="002B5B"/>
                </a:solidFill>
              </a:rPr>
              <a:t>dictionary lookup</a:t>
            </a:r>
            <a:r>
              <a:rPr lang="en"/>
              <a:t> analogy (which I find a bit confusing)</a:t>
            </a:r>
            <a:endParaRPr/>
          </a:p>
          <a:p>
            <a:pPr indent="-4191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CB439"/>
              </a:buClr>
              <a:buSzPts val="3000"/>
              <a:buChar char="●"/>
            </a:pPr>
            <a:r>
              <a:rPr b="1" lang="en">
                <a:solidFill>
                  <a:srgbClr val="DCB439"/>
                </a:solidFill>
              </a:rPr>
              <a:t>Q·K:</a:t>
            </a:r>
            <a:endParaRPr b="1">
              <a:solidFill>
                <a:srgbClr val="DCB439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-4191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DCB439"/>
              </a:buClr>
              <a:buSzPts val="3000"/>
              <a:buChar char="●"/>
            </a:pPr>
            <a:r>
              <a:rPr b="1" lang="en">
                <a:solidFill>
                  <a:srgbClr val="DCB439"/>
                </a:solidFill>
              </a:rPr>
              <a:t>Softmax:</a:t>
            </a:r>
            <a:endParaRPr b="1">
              <a:solidFill>
                <a:srgbClr val="DCB439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-4191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DCB439"/>
              </a:buClr>
              <a:buSzPts val="3000"/>
              <a:buChar char="●"/>
            </a:pPr>
            <a:r>
              <a:rPr b="1" lang="en">
                <a:solidFill>
                  <a:srgbClr val="DCB439"/>
                </a:solidFill>
              </a:rPr>
              <a:t>Value:</a:t>
            </a:r>
            <a:endParaRPr b="1">
              <a:solidFill>
                <a:srgbClr val="DCB439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g3bf116a135a_0_2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89881"/>
            <a:ext cx="9144003" cy="4478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g3bf116a135a_0_193"/>
          <p:cNvPicPr preferRelativeResize="0"/>
          <p:nvPr/>
        </p:nvPicPr>
        <p:blipFill rotWithShape="1">
          <a:blip r:embed="rId3">
            <a:alphaModFix/>
          </a:blip>
          <a:srcRect b="0" l="0" r="2075" t="0"/>
          <a:stretch/>
        </p:blipFill>
        <p:spPr>
          <a:xfrm>
            <a:off x="94838" y="917775"/>
            <a:ext cx="8954326" cy="5022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B Them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