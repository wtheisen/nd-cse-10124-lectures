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dtJBJrdoJFQtPs3AjyxLXqSKK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abf19d016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g3cabf19d01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f116a135a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bf116a135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0d3a08c46_0_2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c0d3a08c4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0d3a08c46_0_2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0d3a08c46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0d3a08c46_0_1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c0d3a08c4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Transformer Blocks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g3cabf19d016_0_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cabf19d016_0_122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cabf19d016_0_122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cabf19d016_0_122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g3cabf19d016_0_122"/>
          <p:cNvCxnSpPr>
            <a:stCxn id="42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g3cabf19d016_0_122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g3cabf19d016_0_122"/>
          <p:cNvCxnSpPr>
            <a:stCxn id="44" idx="0"/>
            <a:endCxn id="42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g3cabf19d016_0_122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47" name="Google Shape;47;g3cabf19d016_0_122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g3cabf19d016_0_122"/>
          <p:cNvCxnSpPr>
            <a:stCxn id="47" idx="0"/>
            <a:endCxn id="44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cabf19d016_0_122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cabf19d016_0_122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cabf19d016_0_122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g3cabf19d016_0_122"/>
          <p:cNvCxnSpPr>
            <a:endCxn id="51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g3cabf19d016_0_122"/>
          <p:cNvSpPr/>
          <p:nvPr/>
        </p:nvSpPr>
        <p:spPr>
          <a:xfrm>
            <a:off x="1137200" y="3419025"/>
            <a:ext cx="1213500" cy="51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cabf19d016_0_122"/>
          <p:cNvSpPr/>
          <p:nvPr/>
        </p:nvSpPr>
        <p:spPr>
          <a:xfrm>
            <a:off x="3232050" y="3567500"/>
            <a:ext cx="1639500" cy="34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cabf19d016_0_122"/>
          <p:cNvSpPr/>
          <p:nvPr/>
        </p:nvSpPr>
        <p:spPr>
          <a:xfrm>
            <a:off x="5444100" y="1879975"/>
            <a:ext cx="2067900" cy="3092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g3cabf19d016_0_122"/>
          <p:cNvCxnSpPr>
            <a:stCxn id="53" idx="3"/>
          </p:cNvCxnSpPr>
          <p:nvPr/>
        </p:nvCxnSpPr>
        <p:spPr>
          <a:xfrm flipH="1" rot="10800000">
            <a:off x="2350700" y="3569325"/>
            <a:ext cx="881400" cy="104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g3cabf19d016_0_122"/>
          <p:cNvCxnSpPr>
            <a:stCxn id="53" idx="3"/>
          </p:cNvCxnSpPr>
          <p:nvPr/>
        </p:nvCxnSpPr>
        <p:spPr>
          <a:xfrm>
            <a:off x="2350700" y="3674025"/>
            <a:ext cx="883800" cy="240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g3cabf19d016_0_122"/>
          <p:cNvCxnSpPr>
            <a:stCxn id="54" idx="3"/>
          </p:cNvCxnSpPr>
          <p:nvPr/>
        </p:nvCxnSpPr>
        <p:spPr>
          <a:xfrm flipH="1" rot="10800000">
            <a:off x="4871550" y="1891400"/>
            <a:ext cx="573600" cy="185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g3cabf19d016_0_122"/>
          <p:cNvCxnSpPr>
            <a:stCxn id="54" idx="3"/>
          </p:cNvCxnSpPr>
          <p:nvPr/>
        </p:nvCxnSpPr>
        <p:spPr>
          <a:xfrm>
            <a:off x="4871550" y="3742100"/>
            <a:ext cx="573600" cy="1229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g3cabf19d016_0_122"/>
          <p:cNvCxnSpPr>
            <a:stCxn id="46" idx="1"/>
            <a:endCxn id="53" idx="2"/>
          </p:cNvCxnSpPr>
          <p:nvPr/>
        </p:nvCxnSpPr>
        <p:spPr>
          <a:xfrm rot="10800000">
            <a:off x="1744100" y="3929000"/>
            <a:ext cx="2304300" cy="2242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f116a135a_0_1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Self-Attention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0d3a08c46_0_2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Multi-Head Attention</a:t>
            </a:r>
            <a:endParaRPr/>
          </a:p>
        </p:txBody>
      </p:sp>
      <p:pic>
        <p:nvPicPr>
          <p:cNvPr id="71" name="Google Shape;71;g3c0d3a08c46_0_271" title="Screenshot 2026-02-26 at 11.38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1250" y="1417638"/>
            <a:ext cx="4881480" cy="5135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0d3a08c46_0_2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Normalization</a:t>
            </a:r>
            <a:endParaRPr/>
          </a:p>
        </p:txBody>
      </p:sp>
      <p:sp>
        <p:nvSpPr>
          <p:cNvPr id="77" name="Google Shape;77;g3c0d3a08c46_0_26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one other piece we need for a full transformer block is called LayerNorm</a:t>
            </a:r>
            <a:endParaRPr/>
          </a:p>
        </p:txBody>
      </p:sp>
      <p:pic>
        <p:nvPicPr>
          <p:cNvPr id="78" name="Google Shape;78;g3c0d3a08c46_0_263"/>
          <p:cNvPicPr preferRelativeResize="0"/>
          <p:nvPr/>
        </p:nvPicPr>
        <p:blipFill rotWithShape="1">
          <a:blip r:embed="rId3">
            <a:alphaModFix/>
          </a:blip>
          <a:srcRect b="288" l="0" r="0" t="278"/>
          <a:stretch/>
        </p:blipFill>
        <p:spPr>
          <a:xfrm>
            <a:off x="706338" y="2890347"/>
            <a:ext cx="7731325" cy="23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c0d3a08c46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325" y="207088"/>
            <a:ext cx="6767796" cy="513556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c0d3a08c46_0_149"/>
          <p:cNvSpPr/>
          <p:nvPr/>
        </p:nvSpPr>
        <p:spPr>
          <a:xfrm>
            <a:off x="447725" y="4650825"/>
            <a:ext cx="2602200" cy="162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c0d3a08c46_0_149"/>
          <p:cNvSpPr/>
          <p:nvPr/>
        </p:nvSpPr>
        <p:spPr>
          <a:xfrm>
            <a:off x="1524125" y="4462125"/>
            <a:ext cx="449400" cy="18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c0d3a08c46_0_149"/>
          <p:cNvSpPr/>
          <p:nvPr/>
        </p:nvSpPr>
        <p:spPr>
          <a:xfrm>
            <a:off x="1255775" y="4769588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g3c0d3a08c46_0_149"/>
          <p:cNvCxnSpPr>
            <a:stCxn id="86" idx="0"/>
          </p:cNvCxnSpPr>
          <p:nvPr/>
        </p:nvCxnSpPr>
        <p:spPr>
          <a:xfrm flipH="1" rot="10800000">
            <a:off x="1750025" y="4259588"/>
            <a:ext cx="2700" cy="51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g3c0d3a08c46_0_149"/>
          <p:cNvSpPr/>
          <p:nvPr/>
        </p:nvSpPr>
        <p:spPr>
          <a:xfrm>
            <a:off x="1255775" y="5268200"/>
            <a:ext cx="988500" cy="3054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g3c0d3a08c46_0_149"/>
          <p:cNvCxnSpPr>
            <a:stCxn id="88" idx="0"/>
            <a:endCxn id="86" idx="2"/>
          </p:cNvCxnSpPr>
          <p:nvPr/>
        </p:nvCxnSpPr>
        <p:spPr>
          <a:xfrm rot="10800000">
            <a:off x="1750025" y="5075000"/>
            <a:ext cx="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g3c0d3a08c46_0_149"/>
          <p:cNvSpPr txBox="1"/>
          <p:nvPr>
            <p:ph type="title"/>
          </p:nvPr>
        </p:nvSpPr>
        <p:spPr>
          <a:xfrm>
            <a:off x="4048400" y="5766800"/>
            <a:ext cx="45783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/>
              <a:t>Where are we?</a:t>
            </a:r>
            <a:endParaRPr sz="4800"/>
          </a:p>
        </p:txBody>
      </p:sp>
      <p:sp>
        <p:nvSpPr>
          <p:cNvPr id="91" name="Google Shape;91;g3c0d3a08c46_0_149"/>
          <p:cNvSpPr/>
          <p:nvPr/>
        </p:nvSpPr>
        <p:spPr>
          <a:xfrm>
            <a:off x="559425" y="5766800"/>
            <a:ext cx="2379000" cy="3054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“Please help me with my homework!!”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c0d3a08c46_0_149"/>
          <p:cNvCxnSpPr>
            <a:stCxn id="91" idx="0"/>
            <a:endCxn id="88" idx="2"/>
          </p:cNvCxnSpPr>
          <p:nvPr/>
        </p:nvCxnSpPr>
        <p:spPr>
          <a:xfrm flipH="1" rot="10800000">
            <a:off x="1748925" y="5573600"/>
            <a:ext cx="1200" cy="19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g3c0d3a08c46_0_149"/>
          <p:cNvSpPr/>
          <p:nvPr/>
        </p:nvSpPr>
        <p:spPr>
          <a:xfrm>
            <a:off x="1475375" y="1022900"/>
            <a:ext cx="546900" cy="34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c0d3a08c46_0_149"/>
          <p:cNvSpPr/>
          <p:nvPr/>
        </p:nvSpPr>
        <p:spPr>
          <a:xfrm>
            <a:off x="202775" y="207100"/>
            <a:ext cx="3092100" cy="93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c0d3a08c46_0_149"/>
          <p:cNvSpPr/>
          <p:nvPr/>
        </p:nvSpPr>
        <p:spPr>
          <a:xfrm>
            <a:off x="447725" y="361750"/>
            <a:ext cx="2602200" cy="6252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Response: “Certainly, as a large language model I’d be happy to help you cheat on your homework assignment”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g3c0d3a08c46_0_149"/>
          <p:cNvCxnSpPr>
            <a:endCxn id="95" idx="2"/>
          </p:cNvCxnSpPr>
          <p:nvPr/>
        </p:nvCxnSpPr>
        <p:spPr>
          <a:xfrm rot="10800000">
            <a:off x="1748825" y="986950"/>
            <a:ext cx="480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g3c0d3a08c46_0_149"/>
          <p:cNvSpPr/>
          <p:nvPr/>
        </p:nvSpPr>
        <p:spPr>
          <a:xfrm>
            <a:off x="1137200" y="3419025"/>
            <a:ext cx="1213500" cy="510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c0d3a08c46_0_149"/>
          <p:cNvSpPr/>
          <p:nvPr/>
        </p:nvSpPr>
        <p:spPr>
          <a:xfrm>
            <a:off x="3134525" y="1372100"/>
            <a:ext cx="1916700" cy="322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g3c0d3a08c46_0_149"/>
          <p:cNvCxnSpPr>
            <a:stCxn id="97" idx="3"/>
          </p:cNvCxnSpPr>
          <p:nvPr/>
        </p:nvCxnSpPr>
        <p:spPr>
          <a:xfrm flipH="1" rot="10800000">
            <a:off x="2350700" y="1387125"/>
            <a:ext cx="786600" cy="2286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g3c0d3a08c46_0_149"/>
          <p:cNvCxnSpPr>
            <a:stCxn id="97" idx="3"/>
          </p:cNvCxnSpPr>
          <p:nvPr/>
        </p:nvCxnSpPr>
        <p:spPr>
          <a:xfrm>
            <a:off x="2350700" y="3674025"/>
            <a:ext cx="794100" cy="926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g3c0d3a08c46_0_149"/>
          <p:cNvCxnSpPr>
            <a:stCxn id="90" idx="1"/>
            <a:endCxn id="97" idx="2"/>
          </p:cNvCxnSpPr>
          <p:nvPr/>
        </p:nvCxnSpPr>
        <p:spPr>
          <a:xfrm rot="10800000">
            <a:off x="1744100" y="3929000"/>
            <a:ext cx="2304300" cy="2242200"/>
          </a:xfrm>
          <a:prstGeom prst="curvedConnector2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